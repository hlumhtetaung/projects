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2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03" r:id="rId45"/>
    <p:sldId id="298" r:id="rId46"/>
    <p:sldId id="299" r:id="rId47"/>
    <p:sldId id="300" r:id="rId48"/>
    <p:sldId id="301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79B3876-D05D-ED18-4E6D-D3F61C6EE32C}">
          <p14:sldIdLst>
            <p14:sldId id="256"/>
            <p14:sldId id="257"/>
            <p14:sldId id="258"/>
          </p14:sldIdLst>
        </p14:section>
        <p14:section name="Setup" id="{F54E6269-5F81-A110-BA63-929D26DAEE94}">
          <p14:sldIdLst>
            <p14:sldId id="259"/>
            <p14:sldId id="260"/>
            <p14:sldId id="261"/>
            <p14:sldId id="262"/>
          </p14:sldIdLst>
        </p14:section>
        <p14:section name="How Python runs" id="{5C674B2D-81F0-F9E4-5CF1-252EE3E815D2}">
          <p14:sldIdLst>
            <p14:sldId id="263"/>
            <p14:sldId id="264"/>
            <p14:sldId id="265"/>
            <p14:sldId id="266"/>
          </p14:sldIdLst>
        </p14:section>
        <p14:section name="Objects and types" id="{3072C63C-0ED3-1271-6EDC-C73AFD4C93C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ata structures" id="{2656808F-E976-FA82-28BE-B2E7B6684326}">
          <p14:sldIdLst>
            <p14:sldId id="273"/>
            <p14:sldId id="274"/>
            <p14:sldId id="275"/>
            <p14:sldId id="276"/>
          </p14:sldIdLst>
        </p14:section>
        <p14:section name="Functions" id="{69696BAA-A794-9189-1680-39E42ED7D923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302"/>
          </p14:sldIdLst>
        </p14:section>
        <p14:section name="Error handling" id="{1C43EF36-0438-6ED1-2981-C7A6BFF8F440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Logging &amp; config" id="{02143FFB-91EB-AACD-2216-0ED82DB7F7BA}">
          <p14:sldIdLst>
            <p14:sldId id="292"/>
            <p14:sldId id="293"/>
            <p14:sldId id="294"/>
            <p14:sldId id="295"/>
            <p14:sldId id="296"/>
            <p14:sldId id="297"/>
            <p14:sldId id="303"/>
            <p14:sldId id="298"/>
          </p14:sldIdLst>
        </p14:section>
        <p14:section name="Practice" id="{805DF1CC-4403-D80D-AD3D-DDAE4C1333E8}">
          <p14:sldIdLst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6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the Python foundations a data engineer needs, and the habits that turn a quick script into a pipeline script that runs without us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pace. Sections 2-4 are theory with short live demos; sections 5-7 build towards the lab. If time is short, give the practice quiz as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who runs a pipeline at 2 am? Nobody. So the script must explain itself through logs and exit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conflict story: two projects need different pandas versions. Global install can only hold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live. Show the (.venv) prefix appearing in the terminal after 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Pinning versions makes the pipeline reproducible: same code + same packages = same result. Run pip freeze inside the venv, not in conda (base).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is the output? Most students say A B C. Answer: A 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a pip package called python-pipeline had the same name as the project folder pipeline/, so Python loaded the wrong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pip install is only for libraries from the internet. Your own files are imported, never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two tags pointing at one list. This explains why pipeline code writes df = orders.copy().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Python type to the SQL type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are immutable: str.lower() returns a NEW string. That is why we write df[col] = df[col].str.lower().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count: works because 0 is False. In pandas use .isna(), never ==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typos: df.shape() and .value() instead of .value_counts().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pipeline example of each before showing the last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dict = mapping and config. set = fast membership checks and finding typos.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Comprehensions are fine for small Python lists. For DataFrame columns use vectorized pandas instead (Day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part: def, name, parameters, docstring, body, return. Run it live: the output is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the function use the parameter names. At the call, position matters unless you use name=value.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hands the result back; print only shows it. Code after return never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created inside a function exist only there. 'orders' from extract() is not visible outside unless returned (NameError).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 for one run of python etl.py, wrong when Airflow or a test calls transform() twice in the same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function has one job. If transform fails we know exactly where to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It means: run main() only when this file is run directly, not when it is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A, then B. Then try C: replace the last 2 lines of small_test.py with plain main() and run use_it.py again: extract and load also run. Put the guard back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rename the CSV and run. First without try/except (ugly traceback), then with it (clear log message).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ones they have already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 catches the class AND its children. KeyboardInterrupt is not an Exception, so except Exception lets Ctrl+C still stop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runs: r('5') and r('x').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Airflow and cron read the exit code. 0 = success, anything else = failure, so the task turns red and can retry or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context manager runs setup at the start and clean-up at the end, even when an error happens. We use engine.begin() on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disappears when the terminal closes. Logs are saved with time and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INFO for normal progress, WARNING for odd but okay, ERROR when a step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handlers: one writes to a file, one prints to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fixed by Python or the logging library, a typo gives an error. Green = your choice. Show VS Code autocomplete after typing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spec after the colon. Constants are a naming convention only; Python does not stop you changing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Constants = the settings at the top of the script. f-strings = text built while the script runs. Point out that the f-string lines READ the constants. Warn: never put data values into SQL with an f-string; use parameters (Day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Passwords live in a .env file next to the script. python-dotenv loads it. .gitignore keeps it off GitHub. Never put the real password in .env.example.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 minute per question, ask for answers in the Zoom chat, then reveal. Answers are in the Burmese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this with dummy data. No pandas logic yet; that is Day 2. Check: log file created, exit code 1 after the ValueError.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Day 2: Pandas fills extract/transform/load with real Olist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7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Week 1  ·  Data Engineering Fundamentals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1"/>
                </a:solidFill>
              </a:rPr>
              <a:t>WEEK 1  ·  DAY 1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Python Essentials for Data Engineers</a:t>
            </a:r>
            <a:endParaRPr 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Setup · how Python runs · objects · data structures · functions · errors · logging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Today's plan (2 hours)</a:t>
            </a:r>
            <a:endParaRPr lang="en-US" sz="3400" dirty="0"/>
          </a:p>
        </p:txBody>
      </p:sp>
      <p:sp>
        <p:nvSpPr>
          <p:cNvPr id="4" name="flow_1"/>
          <p:cNvSpPr txBox="1"/>
          <p:nvPr/>
        </p:nvSpPr>
        <p:spPr>
          <a:xfrm>
            <a:off x="548640" y="1737360"/>
            <a:ext cx="1847088" cy="155448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Setup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venv, requirements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~15 min</a:t>
            </a:r>
            <a:endParaRPr lang="en-US" sz="1800" dirty="0"/>
          </a:p>
        </p:txBody>
      </p:sp>
      <p:sp>
        <p:nvSpPr>
          <p:cNvPr id="5" name="arr_2"/>
          <p:cNvSpPr txBox="1"/>
          <p:nvPr/>
        </p:nvSpPr>
        <p:spPr>
          <a:xfrm>
            <a:off x="244144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flow_3"/>
          <p:cNvSpPr txBox="1"/>
          <p:nvPr/>
        </p:nvSpPr>
        <p:spPr>
          <a:xfrm>
            <a:off x="2852928" y="1737360"/>
            <a:ext cx="1847088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Python core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run, objects, data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~35 min</a:t>
            </a:r>
            <a:endParaRPr lang="en-US" sz="1800" dirty="0"/>
          </a:p>
        </p:txBody>
      </p:sp>
      <p:sp>
        <p:nvSpPr>
          <p:cNvPr id="7" name="arr_4"/>
          <p:cNvSpPr txBox="1"/>
          <p:nvPr/>
        </p:nvSpPr>
        <p:spPr>
          <a:xfrm>
            <a:off x="474573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flow_5"/>
          <p:cNvSpPr txBox="1"/>
          <p:nvPr/>
        </p:nvSpPr>
        <p:spPr>
          <a:xfrm>
            <a:off x="5157216" y="1737360"/>
            <a:ext cx="1847088" cy="155448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Functions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args, return, scope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~25 min</a:t>
            </a:r>
            <a:endParaRPr lang="en-US" sz="1800" dirty="0"/>
          </a:p>
        </p:txBody>
      </p:sp>
      <p:sp>
        <p:nvSpPr>
          <p:cNvPr id="9" name="arr_6"/>
          <p:cNvSpPr txBox="1"/>
          <p:nvPr/>
        </p:nvSpPr>
        <p:spPr>
          <a:xfrm>
            <a:off x="705002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flow_7"/>
          <p:cNvSpPr txBox="1"/>
          <p:nvPr/>
        </p:nvSpPr>
        <p:spPr>
          <a:xfrm>
            <a:off x="7461504" y="1737360"/>
            <a:ext cx="1847088" cy="1554480"/>
          </a:xfrm>
          <a:prstGeom prst="roundRect">
            <a:avLst>
              <a:gd name="adj" fmla="val 5882"/>
            </a:avLst>
          </a:prstGeom>
          <a:solidFill>
            <a:schemeClr val="accent3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Errors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try, raise, exit code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~20 min</a:t>
            </a:r>
            <a:endParaRPr lang="en-US" sz="1800" dirty="0"/>
          </a:p>
        </p:txBody>
      </p:sp>
      <p:sp>
        <p:nvSpPr>
          <p:cNvPr id="11" name="arr_8"/>
          <p:cNvSpPr txBox="1"/>
          <p:nvPr/>
        </p:nvSpPr>
        <p:spPr>
          <a:xfrm>
            <a:off x="935431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flow_9"/>
          <p:cNvSpPr txBox="1"/>
          <p:nvPr/>
        </p:nvSpPr>
        <p:spPr>
          <a:xfrm>
            <a:off x="9765792" y="1737360"/>
            <a:ext cx="1847088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Logging &amp; lab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log, .env, skeleton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~25 min</a:t>
            </a:r>
            <a:endParaRPr lang="en-US" sz="1800" dirty="0"/>
          </a:p>
        </p:txBody>
      </p:sp>
      <p:sp>
        <p:nvSpPr>
          <p:cNvPr id="13" name="call_10"/>
          <p:cNvSpPr txBox="1"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By the end of today you will understand the Python behind a pipeline and have an ETL skeleton that runs end to end, logs every step, and fails loudly.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Notebook script vs pipeline script</a:t>
            </a:r>
            <a:endParaRPr lang="en-US" sz="3400" dirty="0"/>
          </a:p>
        </p:txBody>
      </p:sp>
      <p:sp>
        <p:nvSpPr>
          <p:cNvPr id="4" name="card_11"/>
          <p:cNvSpPr/>
          <p:nvPr/>
        </p:nvSpPr>
        <p:spPr>
          <a:xfrm>
            <a:off x="548640" y="1371600"/>
            <a:ext cx="53492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ch_12"/>
          <p:cNvSpPr txBox="1"/>
          <p:nvPr/>
        </p:nvSpPr>
        <p:spPr>
          <a:xfrm>
            <a:off x="77724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Notebook / quick script</a:t>
            </a:r>
            <a:endParaRPr lang="en-US" sz="1800" dirty="0"/>
          </a:p>
        </p:txBody>
      </p:sp>
      <p:sp>
        <p:nvSpPr>
          <p:cNvPr id="6" name="cb_13"/>
          <p:cNvSpPr txBox="1"/>
          <p:nvPr/>
        </p:nvSpPr>
        <p:spPr>
          <a:xfrm>
            <a:off x="777240" y="22402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You run it by hand and watch it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Errors appear on your screen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print() to see what happened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Works on your laptop only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Code runs top to bottom, no structure</a:t>
            </a:r>
            <a:endParaRPr lang="en-US" sz="1900" dirty="0"/>
          </a:p>
        </p:txBody>
      </p:sp>
      <p:sp>
        <p:nvSpPr>
          <p:cNvPr id="7" name="card_14"/>
          <p:cNvSpPr/>
          <p:nvPr/>
        </p:nvSpPr>
        <p:spPr>
          <a:xfrm>
            <a:off x="6263640" y="1371600"/>
            <a:ext cx="53492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ch_15"/>
          <p:cNvSpPr txBox="1"/>
          <p:nvPr/>
        </p:nvSpPr>
        <p:spPr>
          <a:xfrm>
            <a:off x="649224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Pipeline script</a:t>
            </a:r>
            <a:endParaRPr lang="en-US" sz="1800" dirty="0"/>
          </a:p>
        </p:txBody>
      </p:sp>
      <p:sp>
        <p:nvSpPr>
          <p:cNvPr id="9" name="cb_16"/>
          <p:cNvSpPr txBox="1"/>
          <p:nvPr/>
        </p:nvSpPr>
        <p:spPr>
          <a:xfrm>
            <a:off x="6492240" y="22402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Runs on a schedule (Airflow, cron)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Nobody is watching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Logs record what happened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Same packages on every machine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Small functions, clear steps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Exit code tells the scheduler pass / fail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Setup: virtual environments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One project = one isolated set of packages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do we need a virtual environment?</a:t>
            </a:r>
            <a:endParaRPr lang="en-US" sz="3400" dirty="0"/>
          </a:p>
        </p:txBody>
      </p:sp>
      <p:sp>
        <p:nvSpPr>
          <p:cNvPr id="4" name="card_17"/>
          <p:cNvSpPr/>
          <p:nvPr/>
        </p:nvSpPr>
        <p:spPr>
          <a:xfrm>
            <a:off x="54864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badge_18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h_19"/>
          <p:cNvSpPr txBox="1"/>
          <p:nvPr/>
        </p:nvSpPr>
        <p:spPr>
          <a:xfrm>
            <a:off x="141732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A</a:t>
            </a:r>
            <a:endParaRPr lang="en-US" sz="1800" dirty="0"/>
          </a:p>
        </p:txBody>
      </p:sp>
      <p:sp>
        <p:nvSpPr>
          <p:cNvPr id="7" name="cb_20"/>
          <p:cNvSpPr txBox="1"/>
          <p:nvPr/>
        </p:nvSpPr>
        <p:spPr>
          <a:xfrm>
            <a:off x="77724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Needs pandas 1.5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(old report script)</a:t>
            </a:r>
            <a:endParaRPr lang="en-US" sz="1600" dirty="0"/>
          </a:p>
        </p:txBody>
      </p:sp>
      <p:sp>
        <p:nvSpPr>
          <p:cNvPr id="8" name="card_21"/>
          <p:cNvSpPr/>
          <p:nvPr/>
        </p:nvSpPr>
        <p:spPr>
          <a:xfrm>
            <a:off x="434340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22"/>
          <p:cNvSpPr txBox="1"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h_23"/>
          <p:cNvSpPr txBox="1"/>
          <p:nvPr/>
        </p:nvSpPr>
        <p:spPr>
          <a:xfrm>
            <a:off x="521208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B</a:t>
            </a:r>
            <a:endParaRPr lang="en-US" sz="1800" dirty="0"/>
          </a:p>
        </p:txBody>
      </p:sp>
      <p:sp>
        <p:nvSpPr>
          <p:cNvPr id="11" name="cb_24"/>
          <p:cNvSpPr txBox="1"/>
          <p:nvPr/>
        </p:nvSpPr>
        <p:spPr>
          <a:xfrm>
            <a:off x="457200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Needs pandas 2.2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(new Olist ETL)</a:t>
            </a:r>
            <a:endParaRPr lang="en-US" sz="1600" dirty="0"/>
          </a:p>
        </p:txBody>
      </p:sp>
      <p:sp>
        <p:nvSpPr>
          <p:cNvPr id="12" name="card_25"/>
          <p:cNvSpPr/>
          <p:nvPr/>
        </p:nvSpPr>
        <p:spPr>
          <a:xfrm>
            <a:off x="813816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badge_26"/>
          <p:cNvSpPr txBox="1"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4" name="ch_27"/>
          <p:cNvSpPr txBox="1"/>
          <p:nvPr/>
        </p:nvSpPr>
        <p:spPr>
          <a:xfrm>
            <a:off x="900684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global Python</a:t>
            </a:r>
            <a:endParaRPr lang="en-US" sz="1800" dirty="0"/>
          </a:p>
        </p:txBody>
      </p:sp>
      <p:sp>
        <p:nvSpPr>
          <p:cNvPr id="15" name="cb_28"/>
          <p:cNvSpPr txBox="1"/>
          <p:nvPr/>
        </p:nvSpPr>
        <p:spPr>
          <a:xfrm>
            <a:off x="836676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Can hold only ONE pandas version. Upgrading for B breaks A.</a:t>
            </a:r>
            <a:endParaRPr lang="en-US" sz="1600" dirty="0"/>
          </a:p>
        </p:txBody>
      </p:sp>
      <p:sp>
        <p:nvSpPr>
          <p:cNvPr id="16" name="call_29"/>
          <p:cNvSpPr txBox="1"/>
          <p:nvPr/>
        </p:nvSpPr>
        <p:spPr>
          <a:xfrm>
            <a:off x="548640" y="4114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A virtual environment (.venv) is a private folder of packages for one project. Each project gets its own versions, and nothing clashes.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Create, activate, install</a:t>
            </a:r>
            <a:endParaRPr lang="en-US" sz="3400" dirty="0"/>
          </a:p>
        </p:txBody>
      </p:sp>
      <p:sp>
        <p:nvSpPr>
          <p:cNvPr id="4" name="code_30"/>
          <p:cNvSpPr txBox="1"/>
          <p:nvPr/>
        </p:nvSpPr>
        <p:spPr>
          <a:xfrm>
            <a:off x="548640" y="1371600"/>
            <a:ext cx="6766560" cy="4663440"/>
          </a:xfrm>
          <a:prstGeom prst="roundRect">
            <a:avLst>
              <a:gd name="adj" fmla="val 1569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(run once, inside the project folder)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Activate (every new terminal)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          # Windows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       # Mac / Linux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Install packages into the venv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sqlalchemy psycopg2-binary python-dotenv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Leave the venv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</a:t>
            </a:r>
            <a:endParaRPr lang="en-US" sz="1500" dirty="0"/>
          </a:p>
        </p:txBody>
      </p:sp>
      <p:sp>
        <p:nvSpPr>
          <p:cNvPr id="5" name="lbl_31"/>
          <p:cNvSpPr txBox="1"/>
          <p:nvPr/>
        </p:nvSpPr>
        <p:spPr>
          <a:xfrm>
            <a:off x="55778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bul_32"/>
          <p:cNvSpPr txBox="1"/>
          <p:nvPr/>
        </p:nvSpPr>
        <p:spPr>
          <a:xfrm>
            <a:off x="7680960" y="146304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Check:</a:t>
            </a:r>
            <a:r>
              <a:rPr lang="en-US" sz="1500" dirty="0">
                <a:solidFill>
                  <a:schemeClr val="tx1"/>
                </a:solidFill>
              </a:rPr>
              <a:t> the prompt shows (.venv) when active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Check:</a:t>
            </a:r>
            <a:r>
              <a:rPr lang="en-US" sz="1500" dirty="0">
                <a:solidFill>
                  <a:schemeClr val="tx1"/>
                </a:solidFill>
              </a:rPr>
              <a:t> pip list shows only this project's packages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Upgrade pip:</a:t>
            </a:r>
            <a:r>
              <a:rPr lang="en-US" sz="1500" dirty="0">
                <a:solidFill>
                  <a:schemeClr val="tx1"/>
                </a:solidFill>
              </a:rPr>
              <a:t> python -m pip install --upgrade pip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Tip:</a:t>
            </a:r>
            <a:r>
              <a:rPr lang="en-US" sz="1500" dirty="0">
                <a:solidFill>
                  <a:schemeClr val="tx1"/>
                </a:solidFill>
              </a:rPr>
              <a:t> add .venv/ and .env to .gitignore, never commit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requirements.txt = the shopping list</a:t>
            </a:r>
            <a:endParaRPr lang="en-US" sz="3400" dirty="0"/>
          </a:p>
        </p:txBody>
      </p:sp>
      <p:sp>
        <p:nvSpPr>
          <p:cNvPr id="4" name="code_33"/>
          <p:cNvSpPr txBox="1"/>
          <p:nvPr/>
        </p:nvSpPr>
        <p:spPr>
          <a:xfrm>
            <a:off x="54864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pandas==2.2.3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SQLAlchemy==2.0.36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psycopg2-binary==2.9.10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python-dotenv==1.0.1</a:t>
            </a:r>
            <a:endParaRPr lang="en-US" sz="1600" dirty="0"/>
          </a:p>
        </p:txBody>
      </p:sp>
      <p:sp>
        <p:nvSpPr>
          <p:cNvPr id="5" name="lbl_34"/>
          <p:cNvSpPr txBox="1"/>
          <p:nvPr/>
        </p:nvSpPr>
        <p:spPr>
          <a:xfrm>
            <a:off x="39319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requirements.txt</a:t>
            </a:r>
            <a:endParaRPr lang="en-US" sz="1000" dirty="0"/>
          </a:p>
        </p:txBody>
      </p:sp>
      <p:sp>
        <p:nvSpPr>
          <p:cNvPr id="6" name="code_35"/>
          <p:cNvSpPr txBox="1"/>
          <p:nvPr/>
        </p:nvSpPr>
        <p:spPr>
          <a:xfrm>
            <a:off x="548640" y="3200400"/>
            <a:ext cx="512064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what is installed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Rebuild on another machine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7" name="lbl_36"/>
          <p:cNvSpPr txBox="1"/>
          <p:nvPr/>
        </p:nvSpPr>
        <p:spPr>
          <a:xfrm>
            <a:off x="3931920" y="3273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TERMINAL</a:t>
            </a:r>
            <a:endParaRPr lang="en-US" sz="1000" dirty="0"/>
          </a:p>
        </p:txBody>
      </p:sp>
      <p:sp>
        <p:nvSpPr>
          <p:cNvPr id="8" name="card_37"/>
          <p:cNvSpPr/>
          <p:nvPr/>
        </p:nvSpPr>
        <p:spPr>
          <a:xfrm>
            <a:off x="6126480" y="1371600"/>
            <a:ext cx="548640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ch_38"/>
          <p:cNvSpPr txBox="1"/>
          <p:nvPr/>
        </p:nvSpPr>
        <p:spPr>
          <a:xfrm>
            <a:off x="6355080" y="15727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pin versions (==)?</a:t>
            </a:r>
            <a:endParaRPr lang="en-US" sz="1800" dirty="0"/>
          </a:p>
        </p:txBody>
      </p:sp>
      <p:sp>
        <p:nvSpPr>
          <p:cNvPr id="10" name="cb_39"/>
          <p:cNvSpPr txBox="1"/>
          <p:nvPr/>
        </p:nvSpPr>
        <p:spPr>
          <a:xfrm>
            <a:off x="6355080" y="22402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• A new pandas release can change behaviour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• Your teammate, the server and Airflow all install exactly the same versions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• Bug reports become reproducible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Rule: every project folder has a .venv and a requirements.txt.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How Python runs a script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Top to bottom, one line at a time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Top to bottom: define vs call</a:t>
            </a:r>
            <a:endParaRPr lang="en-US" sz="3400" dirty="0"/>
          </a:p>
        </p:txBody>
      </p:sp>
      <p:sp>
        <p:nvSpPr>
          <p:cNvPr id="4" name="code_40"/>
          <p:cNvSpPr txBox="1"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print("A")          # 1. runs        -&gt; 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print("B")      # 2. skipped: only defined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print("C")          # 3. runs        -&gt; C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extract()           # 4. called now  -&gt; B</a:t>
            </a:r>
            <a:endParaRPr lang="en-US" sz="1600" dirty="0"/>
          </a:p>
        </p:txBody>
      </p:sp>
      <p:sp>
        <p:nvSpPr>
          <p:cNvPr id="5" name="lbl_41"/>
          <p:cNvSpPr txBox="1"/>
          <p:nvPr/>
        </p:nvSpPr>
        <p:spPr>
          <a:xfrm>
            <a:off x="55778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42"/>
          <p:cNvSpPr/>
          <p:nvPr/>
        </p:nvSpPr>
        <p:spPr>
          <a:xfrm>
            <a:off x="768096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43"/>
          <p:cNvSpPr txBox="1"/>
          <p:nvPr/>
        </p:nvSpPr>
        <p:spPr>
          <a:xfrm>
            <a:off x="7909560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Output</a:t>
            </a:r>
            <a:endParaRPr lang="en-US" sz="1800" dirty="0"/>
          </a:p>
        </p:txBody>
      </p:sp>
      <p:sp>
        <p:nvSpPr>
          <p:cNvPr id="8" name="cb_44"/>
          <p:cNvSpPr txBox="1"/>
          <p:nvPr/>
        </p:nvSpPr>
        <p:spPr>
          <a:xfrm>
            <a:off x="790956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B</a:t>
            </a:r>
            <a:endParaRPr lang="en-US" sz="2200" dirty="0"/>
          </a:p>
        </p:txBody>
      </p:sp>
      <p:sp>
        <p:nvSpPr>
          <p:cNvPr id="9" name="call_45"/>
          <p:cNvSpPr txBox="1"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def only creates the function. The code inside runs when the function is called with ( ). That is why main() must be called at the bottom.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import looks for code</a:t>
            </a:r>
            <a:endParaRPr lang="en-US" sz="3400" dirty="0"/>
          </a:p>
        </p:txBody>
      </p:sp>
      <p:sp>
        <p:nvSpPr>
          <p:cNvPr id="4" name="code_46"/>
          <p:cNvSpPr txBox="1"/>
          <p:nvPr/>
        </p:nvSpPr>
        <p:spPr>
          <a:xfrm>
            <a:off x="548640" y="1371600"/>
            <a:ext cx="676656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pipeline import extract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searches, in order: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1. the folder of the script you run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2. the standard library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3. .venv/.../site-packages  (pip installed)</a:t>
            </a:r>
            <a:endParaRPr lang="en-US" sz="1500" dirty="0"/>
          </a:p>
        </p:txBody>
      </p:sp>
      <p:sp>
        <p:nvSpPr>
          <p:cNvPr id="5" name="lbl_47"/>
          <p:cNvSpPr txBox="1"/>
          <p:nvPr/>
        </p:nvSpPr>
        <p:spPr>
          <a:xfrm>
            <a:off x="55778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48"/>
          <p:cNvSpPr/>
          <p:nvPr/>
        </p:nvSpPr>
        <p:spPr>
          <a:xfrm>
            <a:off x="7680960" y="1371600"/>
            <a:ext cx="393192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badge_49"/>
          <p:cNvSpPr txBox="1"/>
          <p:nvPr/>
        </p:nvSpPr>
        <p:spPr>
          <a:xfrm>
            <a:off x="790956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8" name="ch_50"/>
          <p:cNvSpPr txBox="1"/>
          <p:nvPr/>
        </p:nvSpPr>
        <p:spPr>
          <a:xfrm>
            <a:off x="8549640" y="1572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First match wins</a:t>
            </a:r>
            <a:endParaRPr lang="en-US" sz="1800" dirty="0"/>
          </a:p>
        </p:txBody>
      </p:sp>
      <p:sp>
        <p:nvSpPr>
          <p:cNvPr id="9" name="cb_51"/>
          <p:cNvSpPr txBox="1"/>
          <p:nvPr/>
        </p:nvSpPr>
        <p:spPr>
          <a:xfrm>
            <a:off x="7909560" y="2240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If a pip package has the same name as your folder, Python may load the wrong one.</a:t>
            </a:r>
            <a:endParaRPr lang="en-US" sz="1500" dirty="0"/>
          </a:p>
        </p:txBody>
      </p:sp>
      <p:graphicFrame>
        <p:nvGraphicFramePr>
          <p:cNvPr id="11" name="tbl_0n9q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Usual cause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ModuleNotFoundError: pandas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venv not active / not installed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activate, pip install -r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ModuleNotFoundError: pipeline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 from the wrong folder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 from project root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strange import inside a package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pip installed a same-name package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pip uninstall 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kinds of code you import</a:t>
            </a:r>
            <a:endParaRPr lang="en-US" sz="3400" dirty="0"/>
          </a:p>
        </p:txBody>
      </p:sp>
      <p:sp>
        <p:nvSpPr>
          <p:cNvPr id="4" name="card_52"/>
          <p:cNvSpPr/>
          <p:nvPr/>
        </p:nvSpPr>
        <p:spPr>
          <a:xfrm>
            <a:off x="548640" y="1371600"/>
            <a:ext cx="3520440" cy="36576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badge_53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h_54"/>
          <p:cNvSpPr txBox="1"/>
          <p:nvPr/>
        </p:nvSpPr>
        <p:spPr>
          <a:xfrm>
            <a:off x="141732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Built-in</a:t>
            </a:r>
            <a:endParaRPr lang="en-US" sz="1800" dirty="0"/>
          </a:p>
        </p:txBody>
      </p:sp>
      <p:sp>
        <p:nvSpPr>
          <p:cNvPr id="7" name="cb_55"/>
          <p:cNvSpPr txBox="1"/>
          <p:nvPr/>
        </p:nvSpPr>
        <p:spPr>
          <a:xfrm>
            <a:off x="777240" y="2240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Always there, no import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print, len, int, str, type, sum</a:t>
            </a:r>
            <a:endParaRPr lang="en-US" sz="1600" dirty="0"/>
          </a:p>
        </p:txBody>
      </p:sp>
      <p:sp>
        <p:nvSpPr>
          <p:cNvPr id="8" name="card_56"/>
          <p:cNvSpPr/>
          <p:nvPr/>
        </p:nvSpPr>
        <p:spPr>
          <a:xfrm>
            <a:off x="4343400" y="1371600"/>
            <a:ext cx="3520440" cy="36576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57"/>
          <p:cNvSpPr txBox="1"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h_58"/>
          <p:cNvSpPr txBox="1"/>
          <p:nvPr/>
        </p:nvSpPr>
        <p:spPr>
          <a:xfrm>
            <a:off x="521208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 library</a:t>
            </a:r>
            <a:endParaRPr lang="en-US" sz="1800" dirty="0"/>
          </a:p>
        </p:txBody>
      </p:sp>
      <p:sp>
        <p:nvSpPr>
          <p:cNvPr id="11" name="cb_59"/>
          <p:cNvSpPr txBox="1"/>
          <p:nvPr/>
        </p:nvSpPr>
        <p:spPr>
          <a:xfrm>
            <a:off x="4572000" y="2240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Comes with Python, needs import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os, sys, pathlib, datetime, logging</a:t>
            </a:r>
            <a:endParaRPr lang="en-US" sz="1600" dirty="0"/>
          </a:p>
        </p:txBody>
      </p:sp>
      <p:sp>
        <p:nvSpPr>
          <p:cNvPr id="12" name="card_60"/>
          <p:cNvSpPr/>
          <p:nvPr/>
        </p:nvSpPr>
        <p:spPr>
          <a:xfrm>
            <a:off x="8138160" y="1371600"/>
            <a:ext cx="3474720" cy="36576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badge_61"/>
          <p:cNvSpPr txBox="1"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h_62"/>
          <p:cNvSpPr txBox="1"/>
          <p:nvPr/>
        </p:nvSpPr>
        <p:spPr>
          <a:xfrm>
            <a:off x="9006840" y="15727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Third-party</a:t>
            </a:r>
            <a:endParaRPr lang="en-US" sz="1800" dirty="0"/>
          </a:p>
        </p:txBody>
      </p:sp>
      <p:sp>
        <p:nvSpPr>
          <p:cNvPr id="15" name="cb_63"/>
          <p:cNvSpPr txBox="1"/>
          <p:nvPr/>
        </p:nvSpPr>
        <p:spPr>
          <a:xfrm>
            <a:off x="8366760" y="22402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pip install, then import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pandas, sqlalchemy, psycopg2, python-dotenv</a:t>
            </a:r>
            <a:endParaRPr lang="en-US" sz="1600" dirty="0"/>
          </a:p>
        </p:txBody>
      </p:sp>
      <p:sp>
        <p:nvSpPr>
          <p:cNvPr id="16" name="call_64"/>
          <p:cNvSpPr txBox="1"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Your own files (pipeline/, etl.py) are a 4th kind: imported from your project folder.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Objects and types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 variable is a name tag, not a box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Everything is an object; variables are name tags</a:t>
            </a:r>
            <a:endParaRPr lang="en-US" sz="3400" dirty="0"/>
          </a:p>
        </p:txBody>
      </p:sp>
      <p:sp>
        <p:nvSpPr>
          <p:cNvPr id="4" name="code_65"/>
          <p:cNvSpPr txBox="1"/>
          <p:nvPr/>
        </p:nvSpPr>
        <p:spPr>
          <a:xfrm>
            <a:off x="548640" y="1371600"/>
            <a:ext cx="6035040" cy="384048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  # same object, two names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# [1, 2, 3]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  # a new object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c.append(4)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# [1, 2, 3]  unchanged</a:t>
            </a:r>
            <a:endParaRPr lang="en-US" sz="1600" dirty="0"/>
          </a:p>
        </p:txBody>
      </p:sp>
      <p:sp>
        <p:nvSpPr>
          <p:cNvPr id="5" name="lbl_66"/>
          <p:cNvSpPr txBox="1"/>
          <p:nvPr/>
        </p:nvSpPr>
        <p:spPr>
          <a:xfrm>
            <a:off x="48463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67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68"/>
          <p:cNvSpPr txBox="1"/>
          <p:nvPr/>
        </p:nvSpPr>
        <p:spPr>
          <a:xfrm>
            <a:off x="7086600" y="15727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pipeline code</a:t>
            </a:r>
            <a:endParaRPr lang="en-US" sz="1800" dirty="0"/>
          </a:p>
        </p:txBody>
      </p:sp>
      <p:sp>
        <p:nvSpPr>
          <p:cNvPr id="8" name="cb_69"/>
          <p:cNvSpPr txBox="1"/>
          <p:nvPr/>
        </p:nvSpPr>
        <p:spPr>
          <a:xfrm>
            <a:off x="7086600" y="2240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df = orders.copy()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 cleaning df never changes the raw orders</a:t>
            </a:r>
            <a:endParaRPr lang="en-US" sz="1500" dirty="0"/>
          </a:p>
        </p:txBody>
      </p:sp>
      <p:sp>
        <p:nvSpPr>
          <p:cNvPr id="9" name="card_70"/>
          <p:cNvSpPr/>
          <p:nvPr/>
        </p:nvSpPr>
        <p:spPr>
          <a:xfrm>
            <a:off x="6858000" y="3657600"/>
            <a:ext cx="4754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ch_71"/>
          <p:cNvSpPr txBox="1"/>
          <p:nvPr/>
        </p:nvSpPr>
        <p:spPr>
          <a:xfrm>
            <a:off x="7086600" y="38587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type(x)</a:t>
            </a:r>
            <a:endParaRPr lang="en-US" sz="1800" dirty="0"/>
          </a:p>
        </p:txBody>
      </p:sp>
      <p:sp>
        <p:nvSpPr>
          <p:cNvPr id="11" name="cb_72"/>
          <p:cNvSpPr txBox="1"/>
          <p:nvPr/>
        </p:nvSpPr>
        <p:spPr>
          <a:xfrm>
            <a:off x="708660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tells you what an object is: int, str, list, DataFrame ...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Basic types</a:t>
            </a:r>
            <a:endParaRPr lang="en-US" sz="3400" dirty="0"/>
          </a:p>
        </p:txBody>
      </p:sp>
      <p:graphicFrame>
        <p:nvGraphicFramePr>
          <p:cNvPr id="15" name="tbl_s9p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Python type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SQL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 a pipeline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99441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 counts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reject threshold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"delivered"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order_status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if count: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os.getenv default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ll_73"/>
          <p:cNvSpPr txBox="1"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Python decides the type when the value is created (dynamic typing). os.getenv always returns str, so convert with int() or float().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Mutable vs immutable</a:t>
            </a:r>
            <a:endParaRPr lang="en-US" sz="3400" dirty="0"/>
          </a:p>
        </p:txBody>
      </p:sp>
      <p:sp>
        <p:nvSpPr>
          <p:cNvPr id="4" name="card_74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badge_75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</a:t>
            </a:r>
            <a:endParaRPr lang="en-US" sz="1600" dirty="0"/>
          </a:p>
        </p:txBody>
      </p:sp>
      <p:sp>
        <p:nvSpPr>
          <p:cNvPr id="6" name="ch_76"/>
          <p:cNvSpPr txBox="1"/>
          <p:nvPr/>
        </p:nvSpPr>
        <p:spPr>
          <a:xfrm>
            <a:off x="1417320" y="1572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Mutable: can change</a:t>
            </a:r>
            <a:endParaRPr lang="en-US" sz="1800" dirty="0"/>
          </a:p>
        </p:txBody>
      </p:sp>
      <p:sp>
        <p:nvSpPr>
          <p:cNvPr id="7" name="cb_77"/>
          <p:cNvSpPr txBox="1"/>
          <p:nvPr/>
        </p:nvSpPr>
        <p:spPr>
          <a:xfrm>
            <a:off x="77724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list, dict, set, DataFrame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 = a then b.append() also changes a</a:t>
            </a:r>
            <a:endParaRPr lang="en-US" sz="1500" dirty="0"/>
          </a:p>
        </p:txBody>
      </p:sp>
      <p:sp>
        <p:nvSpPr>
          <p:cNvPr id="8" name="card_78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79"/>
          <p:cNvSpPr txBox="1"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10" name="ch_80"/>
          <p:cNvSpPr txBox="1"/>
          <p:nvPr/>
        </p:nvSpPr>
        <p:spPr>
          <a:xfrm>
            <a:off x="7132320" y="1572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Immutable: cannot change</a:t>
            </a:r>
            <a:endParaRPr lang="en-US" sz="1800" dirty="0"/>
          </a:p>
        </p:txBody>
      </p:sp>
      <p:sp>
        <p:nvSpPr>
          <p:cNvPr id="11" name="cb_81"/>
          <p:cNvSpPr txBox="1"/>
          <p:nvPr/>
        </p:nvSpPr>
        <p:spPr>
          <a:xfrm>
            <a:off x="649224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int, float, str, tuple, None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methods return a new object</a:t>
            </a:r>
            <a:endParaRPr lang="en-US" sz="1500" dirty="0"/>
          </a:p>
        </p:txBody>
      </p:sp>
      <p:sp>
        <p:nvSpPr>
          <p:cNvPr id="12" name="code_82"/>
          <p:cNvSpPr txBox="1"/>
          <p:nvPr/>
        </p:nvSpPr>
        <p:spPr>
          <a:xfrm>
            <a:off x="548640" y="384048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"Delivered"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s.lower()          # returns "delivered" ... and it is lost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s.lower()      # keep it: assign the result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(1, 2)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t[0] = 9           # TypeError: tuple does not support item assignment</a:t>
            </a:r>
            <a:endParaRPr lang="en-US" sz="1500" dirty="0"/>
          </a:p>
        </p:txBody>
      </p:sp>
      <p:sp>
        <p:nvSpPr>
          <p:cNvPr id="13" name="lbl_83"/>
          <p:cNvSpPr txBox="1"/>
          <p:nvPr/>
        </p:nvSpPr>
        <p:spPr>
          <a:xfrm>
            <a:off x="9875520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== vs is, None and truthiness</a:t>
            </a:r>
            <a:endParaRPr lang="en-US" sz="3400" dirty="0"/>
          </a:p>
        </p:txBody>
      </p:sp>
      <p:sp>
        <p:nvSpPr>
          <p:cNvPr id="4" name="code_84"/>
          <p:cNvSpPr txBox="1"/>
          <p:nvPr/>
        </p:nvSpPr>
        <p:spPr>
          <a:xfrm>
            <a:off x="548640" y="1371600"/>
            <a:ext cx="603504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[1, 2]; y = [1, 2]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y        # True   same value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is y        # False  different objects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None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value is None:      # the standard way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= 0.05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print(value)           # 0.05</a:t>
            </a:r>
            <a:endParaRPr lang="en-US" sz="1500" dirty="0"/>
          </a:p>
        </p:txBody>
      </p:sp>
      <p:sp>
        <p:nvSpPr>
          <p:cNvPr id="5" name="lbl_85"/>
          <p:cNvSpPr txBox="1"/>
          <p:nvPr/>
        </p:nvSpPr>
        <p:spPr>
          <a:xfrm>
            <a:off x="48463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graphicFrame>
        <p:nvGraphicFramePr>
          <p:cNvPr id="17" name="tbl_rdul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63440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bool()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0, 0.0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"" (empty)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[], {}, set()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"0", [0]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ll_86"/>
          <p:cNvSpPr txBox="1"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if count:  means  if count != 0.   if not data:  means  if data is empty.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Attributes vs methods</a:t>
            </a:r>
            <a:endParaRPr lang="en-US" sz="3400" dirty="0"/>
          </a:p>
        </p:txBody>
      </p:sp>
      <p:graphicFrame>
        <p:nvGraphicFramePr>
          <p:cNvPr id="18" name="tbl_xdib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Attribute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Brackets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( 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 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reads a stored value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does or calculates something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df.shape, df.columns, .dt.days, e.filename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df.head(), .str.lower(), .isna(), .sum()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Wrong use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df.shape()  -&gt; not callable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df.head  -&gt; &lt;bound method ...&gt;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ll_87"/>
          <p:cNvSpPr txBox="1"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Not sure? Type the dot in VS Code and read the autocomplete list.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structures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Choose the right container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containers</a:t>
            </a:r>
            <a:endParaRPr lang="en-US" sz="3400" dirty="0"/>
          </a:p>
        </p:txBody>
      </p:sp>
      <p:graphicFrame>
        <p:nvGraphicFramePr>
          <p:cNvPr id="20" name="tbl_lge8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834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Syntax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Ordered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Changeable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Duplicates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Pipeline use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["a", "b"]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DATE_COLUMNS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tuple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("a", "b")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df.shape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{"a", "b"}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VALID_STATUSES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dict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{"k": "v"}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keys no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RENAME_MAP, CASTS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ll_88"/>
          <p:cNvSpPr txBox="1"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Several items in order or to loop: list.  Look up by name: dict.  'Is it allowed?': set.  Fixed group of values: tuple.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dict and set in practice</a:t>
            </a:r>
            <a:endParaRPr lang="en-US" sz="3400" dirty="0"/>
          </a:p>
        </p:txBody>
      </p:sp>
      <p:sp>
        <p:nvSpPr>
          <p:cNvPr id="4" name="code_89"/>
          <p:cNvSpPr txBox="1"/>
          <p:nvPr/>
        </p:nvSpPr>
        <p:spPr>
          <a:xfrm>
            <a:off x="548640" y="1371600"/>
            <a:ext cx="11064240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RENAME_MAP = {"order_purchase_timestamp": "purchased_at"}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df.rename(columns=RENAME_MAP)        # dict: old -&gt; new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CASTS = {"delivery_days": "INTEGER"}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CASTS["delivery_days"]                    # "INTEGER"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CASTS.get("order_id", None)               # None, no KeyError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= {"delivered", "shipped"}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"delivered" in VALID                      # True, very fast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{"delivered", "deliverd"} - VALID         # {'deliverd'}</a:t>
            </a:r>
            <a:endParaRPr lang="en-US" sz="1500" dirty="0"/>
          </a:p>
        </p:txBody>
      </p:sp>
      <p:sp>
        <p:nvSpPr>
          <p:cNvPr id="5" name="lbl_90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ll_91"/>
          <p:cNvSpPr txBox="1"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d[key] raises KeyError when missing; d.get(key, default) does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Comprehensions and unpacking</a:t>
            </a:r>
            <a:endParaRPr lang="en-US" sz="3400" dirty="0"/>
          </a:p>
        </p:txBody>
      </p:sp>
      <p:sp>
        <p:nvSpPr>
          <p:cNvPr id="4" name="code_92"/>
          <p:cNvSpPr txBox="1"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= [7, 12, 25, 3]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= [d for d in days if d &gt; 10]          # [12, 25]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{c: c.lower() for c in ["A", "B"]}  # {'A': 'a', 'B': 'b'}</a:t>
            </a:r>
            <a:endParaRPr lang="en-US" sz="1500" dirty="0"/>
          </a:p>
        </p:txBody>
      </p:sp>
      <p:sp>
        <p:nvSpPr>
          <p:cNvPr id="5" name="lbl_93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COMPREHENSIONS</a:t>
            </a:r>
            <a:endParaRPr lang="en-US" sz="1000" dirty="0"/>
          </a:p>
        </p:txBody>
      </p:sp>
      <p:sp>
        <p:nvSpPr>
          <p:cNvPr id="6" name="code_94"/>
          <p:cNvSpPr txBox="1"/>
          <p:nvPr/>
        </p:nvSpPr>
        <p:spPr>
          <a:xfrm>
            <a:off x="548640" y="3383280"/>
            <a:ext cx="1106424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orders, customers        # really returns ONE tuple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orders, customers = extract()       # unpack into two names</a:t>
            </a:r>
            <a:endParaRPr lang="en-US" sz="1500" dirty="0"/>
          </a:p>
        </p:txBody>
      </p:sp>
      <p:sp>
        <p:nvSpPr>
          <p:cNvPr id="7" name="lbl_95"/>
          <p:cNvSpPr txBox="1"/>
          <p:nvPr/>
        </p:nvSpPr>
        <p:spPr>
          <a:xfrm>
            <a:off x="9875520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TUPLE UNPACKING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Functions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Inputs in, result out, nothing hidden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 function</a:t>
            </a:r>
            <a:endParaRPr lang="en-US" sz="3400" dirty="0"/>
          </a:p>
        </p:txBody>
      </p:sp>
      <p:sp>
        <p:nvSpPr>
          <p:cNvPr id="4" name="code_96"/>
          <p:cNvSpPr txBox="1"/>
          <p:nvPr/>
        </p:nvSpPr>
        <p:spPr>
          <a:xfrm>
            <a:off x="548640" y="1371600"/>
            <a:ext cx="6949440" cy="4663440"/>
          </a:xfrm>
          <a:prstGeom prst="roundRect">
            <a:avLst>
              <a:gd name="adj" fmla="val 1569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calc_delivery_days(purchase, delivered):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days between purchase and delivery."""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days = (delivered - purchase).days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days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datetime(2018, 1, 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datetime(2018, 1, 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calc_delivery_days(start, end)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# 7</a:t>
            </a:r>
            <a:endParaRPr lang="en-US" sz="1400" dirty="0"/>
          </a:p>
        </p:txBody>
      </p:sp>
      <p:sp>
        <p:nvSpPr>
          <p:cNvPr id="5" name="lbl_97"/>
          <p:cNvSpPr txBox="1"/>
          <p:nvPr/>
        </p:nvSpPr>
        <p:spPr>
          <a:xfrm>
            <a:off x="57607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bul_98"/>
          <p:cNvSpPr txBox="1"/>
          <p:nvPr/>
        </p:nvSpPr>
        <p:spPr>
          <a:xfrm>
            <a:off x="7772400" y="146304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def</a:t>
            </a:r>
            <a:r>
              <a:rPr lang="en-US" sz="1700" dirty="0">
                <a:solidFill>
                  <a:schemeClr val="tx1"/>
                </a:solidFill>
              </a:rPr>
              <a:t> starts the function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Name</a:t>
            </a:r>
            <a:r>
              <a:rPr lang="en-US" sz="1700" dirty="0">
                <a:solidFill>
                  <a:schemeClr val="tx1"/>
                </a:solidFill>
              </a:rPr>
              <a:t> a verb that says what it does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Parameters</a:t>
            </a:r>
            <a:r>
              <a:rPr lang="en-US" sz="1700" dirty="0">
                <a:solidFill>
                  <a:schemeClr val="tx1"/>
                </a:solidFill>
              </a:rPr>
              <a:t> inputs inside ( 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Docstring</a:t>
            </a:r>
            <a:r>
              <a:rPr lang="en-US" sz="1700" dirty="0">
                <a:solidFill>
                  <a:schemeClr val="tx1"/>
                </a:solidFill>
              </a:rPr>
              <a:t> one line explaining the job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return</a:t>
            </a:r>
            <a:r>
              <a:rPr lang="en-US" sz="1700" dirty="0">
                <a:solidFill>
                  <a:schemeClr val="tx1"/>
                </a:solidFill>
              </a:rPr>
              <a:t> sends the result back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Parameters: positional, keyword, default</a:t>
            </a:r>
            <a:endParaRPr lang="en-US" sz="3400" dirty="0"/>
          </a:p>
        </p:txBody>
      </p:sp>
      <p:sp>
        <p:nvSpPr>
          <p:cNvPr id="4" name="code_99"/>
          <p:cNvSpPr txBox="1"/>
          <p:nvPr/>
        </p:nvSpPr>
        <p:spPr>
          <a:xfrm>
            <a:off x="548640" y="1371600"/>
            <a:ext cx="1106424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greeting="Hello"):        # greeting = default value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f"{greeting}, {name}!"</a:t>
            </a:r>
          </a:p>
          <a:p>
            <a:endParaRPr lang="en-US" sz="1500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print(greet("Hnin"))                       # Hello, Hnin!      (positional)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print(greet("Hnin", greeting="Hi"))        # Hi, Hnin!         (keyword)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print(greet(greeting="</a:t>
            </a:r>
            <a:r>
              <a:rPr lang="en-US" sz="15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Mingalaba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name="Aung"))   # </a:t>
            </a:r>
            <a:r>
              <a:rPr lang="en-US" sz="15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Mingalaba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Aung!  (keyword, </a:t>
            </a:r>
            <a:r>
              <a:rPr lang="my-MM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အစဉ်မလိုက်)</a:t>
            </a:r>
            <a:endParaRPr lang="en-US" sz="1500" dirty="0"/>
          </a:p>
        </p:txBody>
      </p:sp>
      <p:sp>
        <p:nvSpPr>
          <p:cNvPr id="5" name="lbl_100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01"/>
          <p:cNvSpPr/>
          <p:nvPr/>
        </p:nvSpPr>
        <p:spPr>
          <a:xfrm>
            <a:off x="548640" y="4389120"/>
            <a:ext cx="5349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102"/>
          <p:cNvSpPr txBox="1"/>
          <p:nvPr/>
        </p:nvSpPr>
        <p:spPr>
          <a:xfrm>
            <a:off x="777240" y="45902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idea in pandas</a:t>
            </a:r>
            <a:endParaRPr lang="en-US" sz="1800" dirty="0"/>
          </a:p>
        </p:txBody>
      </p:sp>
      <p:sp>
        <p:nvSpPr>
          <p:cNvPr id="8" name="cb_103"/>
          <p:cNvSpPr txBox="1"/>
          <p:nvPr/>
        </p:nvSpPr>
        <p:spPr>
          <a:xfrm>
            <a:off x="77724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to_sql(name, con, schema="staging", if_exists="append", index=False)</a:t>
            </a:r>
            <a:endParaRPr lang="en-US" sz="1400" dirty="0"/>
          </a:p>
        </p:txBody>
      </p:sp>
      <p:sp>
        <p:nvSpPr>
          <p:cNvPr id="9" name="card_104"/>
          <p:cNvSpPr/>
          <p:nvPr/>
        </p:nvSpPr>
        <p:spPr>
          <a:xfrm>
            <a:off x="6263640" y="4389120"/>
            <a:ext cx="5349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ch_105"/>
          <p:cNvSpPr txBox="1"/>
          <p:nvPr/>
        </p:nvSpPr>
        <p:spPr>
          <a:xfrm>
            <a:off x="6492240" y="45902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Call-site names can differ</a:t>
            </a:r>
            <a:endParaRPr lang="en-US" sz="1800" dirty="0"/>
          </a:p>
        </p:txBody>
      </p:sp>
      <p:sp>
        <p:nvSpPr>
          <p:cNvPr id="11" name="cb_106"/>
          <p:cNvSpPr txBox="1"/>
          <p:nvPr/>
        </p:nvSpPr>
        <p:spPr>
          <a:xfrm>
            <a:off x="649224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load(orders, ...) fills the parameter 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return vs print</a:t>
            </a:r>
            <a:endParaRPr lang="en-US" sz="3400" dirty="0"/>
          </a:p>
        </p:txBody>
      </p:sp>
      <p:sp>
        <p:nvSpPr>
          <p:cNvPr id="4" name="code_107"/>
          <p:cNvSpPr txBox="1"/>
          <p:nvPr/>
        </p:nvSpPr>
        <p:spPr>
          <a:xfrm>
            <a:off x="548640" y="1371600"/>
            <a:ext cx="731520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 = pd.read_csv(ORDERS_FILE, dtype=str)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orders          # hand back to the caller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print("done")          # never runs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extract()         # catch the returned value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print(extract)             # &lt;function ...&gt;: no ( )</a:t>
            </a:r>
            <a:endParaRPr lang="en-US" sz="1500" dirty="0"/>
          </a:p>
        </p:txBody>
      </p:sp>
      <p:sp>
        <p:nvSpPr>
          <p:cNvPr id="5" name="lbl_108"/>
          <p:cNvSpPr txBox="1"/>
          <p:nvPr/>
        </p:nvSpPr>
        <p:spPr>
          <a:xfrm>
            <a:off x="612648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09"/>
          <p:cNvSpPr/>
          <p:nvPr/>
        </p:nvSpPr>
        <p:spPr>
          <a:xfrm>
            <a:off x="8138160" y="137160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110"/>
          <p:cNvSpPr txBox="1"/>
          <p:nvPr/>
        </p:nvSpPr>
        <p:spPr>
          <a:xfrm>
            <a:off x="8366760" y="1572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return?</a:t>
            </a:r>
            <a:endParaRPr lang="en-US" sz="1800" dirty="0"/>
          </a:p>
        </p:txBody>
      </p:sp>
      <p:sp>
        <p:nvSpPr>
          <p:cNvPr id="8" name="cb_111"/>
          <p:cNvSpPr txBox="1"/>
          <p:nvPr/>
        </p:nvSpPr>
        <p:spPr>
          <a:xfrm>
            <a:off x="8366760" y="2240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function returns None.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x = print("hi")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x is None  -&gt; True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Scope: local vs global</a:t>
            </a:r>
            <a:endParaRPr lang="en-US" sz="3400" dirty="0"/>
          </a:p>
        </p:txBody>
      </p:sp>
      <p:sp>
        <p:nvSpPr>
          <p:cNvPr id="4" name="code_112"/>
          <p:cNvSpPr txBox="1"/>
          <p:nvPr/>
        </p:nvSpPr>
        <p:spPr>
          <a:xfrm>
            <a:off x="548640" y="1371600"/>
            <a:ext cx="6766560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10              # global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1           # local: a different variable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 * 2    # reads the global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f(), count, g()         # (1, 10, 20)</a:t>
            </a:r>
            <a:endParaRPr lang="en-US" sz="1500" dirty="0"/>
          </a:p>
        </p:txBody>
      </p:sp>
      <p:sp>
        <p:nvSpPr>
          <p:cNvPr id="5" name="lbl_113"/>
          <p:cNvSpPr txBox="1"/>
          <p:nvPr/>
        </p:nvSpPr>
        <p:spPr>
          <a:xfrm>
            <a:off x="55778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14"/>
          <p:cNvSpPr/>
          <p:nvPr/>
        </p:nvSpPr>
        <p:spPr>
          <a:xfrm>
            <a:off x="7680960" y="1371600"/>
            <a:ext cx="393192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115"/>
          <p:cNvSpPr txBox="1"/>
          <p:nvPr/>
        </p:nvSpPr>
        <p:spPr>
          <a:xfrm>
            <a:off x="7909560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Rule</a:t>
            </a:r>
            <a:endParaRPr lang="en-US" sz="1800" dirty="0"/>
          </a:p>
        </p:txBody>
      </p:sp>
      <p:sp>
        <p:nvSpPr>
          <p:cNvPr id="8" name="cb_116"/>
          <p:cNvSpPr txBox="1"/>
          <p:nvPr/>
        </p:nvSpPr>
        <p:spPr>
          <a:xfrm>
            <a:off x="7909560" y="22402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Read constants (UPPER_CASE) from anywhere.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Pass data in as arguments, get it back with return.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Avoid changing globals inside functions.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Hidden state: a classic pipeline bug</a:t>
            </a:r>
            <a:endParaRPr lang="en-US" sz="3400" dirty="0"/>
          </a:p>
        </p:txBody>
      </p:sp>
      <p:sp>
        <p:nvSpPr>
          <p:cNvPr id="4" name="code_117"/>
          <p:cNvSpPr txBox="1"/>
          <p:nvPr/>
        </p:nvSpPr>
        <p:spPr>
          <a:xfrm>
            <a:off x="548640" y="137160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= []            # module-level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transform(run):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rejected.append(run)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len(rejected)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transform("run1")        #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transform("run2")        # 2  run1 still there!</a:t>
            </a:r>
            <a:endParaRPr lang="en-US" sz="1400" dirty="0"/>
          </a:p>
        </p:txBody>
      </p:sp>
      <p:sp>
        <p:nvSpPr>
          <p:cNvPr id="5" name="lbl_118"/>
          <p:cNvSpPr txBox="1"/>
          <p:nvPr/>
        </p:nvSpPr>
        <p:spPr>
          <a:xfrm>
            <a:off x="429768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BUG</a:t>
            </a:r>
            <a:endParaRPr lang="en-US" sz="1000" dirty="0"/>
          </a:p>
        </p:txBody>
      </p:sp>
      <p:sp>
        <p:nvSpPr>
          <p:cNvPr id="6" name="code_119"/>
          <p:cNvSpPr txBox="1"/>
          <p:nvPr/>
        </p:nvSpPr>
        <p:spPr>
          <a:xfrm>
            <a:off x="6217920" y="137160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split_bad(df, mask, reason):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= df[mask].assign(reject_reason=reason)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good = df[~mask].copy()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good, bad          # no hidden state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good, bad = split_bad(df, m, "missing id")</a:t>
            </a:r>
            <a:endParaRPr lang="en-US" sz="1300" dirty="0"/>
          </a:p>
        </p:txBody>
      </p:sp>
      <p:sp>
        <p:nvSpPr>
          <p:cNvPr id="7" name="lbl_120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FIX</a:t>
            </a:r>
            <a:endParaRPr lang="en-US" sz="1000" dirty="0"/>
          </a:p>
        </p:txBody>
      </p:sp>
      <p:sp>
        <p:nvSpPr>
          <p:cNvPr id="8" name="call_121"/>
          <p:cNvSpPr txBox="1"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Same trap: def add(item, items=[]). The default list is created once and shared by every call. Use items=None, then items = [] inside.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pipeline = three functions</a:t>
            </a:r>
            <a:endParaRPr lang="en-US" sz="3400" dirty="0"/>
          </a:p>
        </p:txBody>
      </p:sp>
      <p:sp>
        <p:nvSpPr>
          <p:cNvPr id="4" name="flow_122"/>
          <p:cNvSpPr txBox="1"/>
          <p:nvPr/>
        </p:nvSpPr>
        <p:spPr>
          <a:xfrm>
            <a:off x="548640" y="1371600"/>
            <a:ext cx="3383280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extract()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read CSV files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return DataFrames</a:t>
            </a:r>
            <a:endParaRPr lang="en-US" sz="1800" dirty="0"/>
          </a:p>
        </p:txBody>
      </p:sp>
      <p:sp>
        <p:nvSpPr>
          <p:cNvPr id="5" name="arr_123"/>
          <p:cNvSpPr txBox="1"/>
          <p:nvPr/>
        </p:nvSpPr>
        <p:spPr>
          <a:xfrm>
            <a:off x="3977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flow_124"/>
          <p:cNvSpPr txBox="1"/>
          <p:nvPr/>
        </p:nvSpPr>
        <p:spPr>
          <a:xfrm>
            <a:off x="4389120" y="1371600"/>
            <a:ext cx="338328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transform()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clean, filter, join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return one DataFrame</a:t>
            </a:r>
            <a:endParaRPr lang="en-US" sz="1800" dirty="0"/>
          </a:p>
        </p:txBody>
      </p:sp>
      <p:sp>
        <p:nvSpPr>
          <p:cNvPr id="7" name="arr_125"/>
          <p:cNvSpPr txBox="1"/>
          <p:nvPr/>
        </p:nvSpPr>
        <p:spPr>
          <a:xfrm>
            <a:off x="78181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flow_126"/>
          <p:cNvSpPr txBox="1"/>
          <p:nvPr/>
        </p:nvSpPr>
        <p:spPr>
          <a:xfrm>
            <a:off x="8229600" y="1371600"/>
            <a:ext cx="338328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load()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write to Postgres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staging schema</a:t>
            </a:r>
            <a:endParaRPr lang="en-US" sz="1800" dirty="0"/>
          </a:p>
        </p:txBody>
      </p:sp>
      <p:sp>
        <p:nvSpPr>
          <p:cNvPr id="9" name="code_127"/>
          <p:cNvSpPr txBox="1"/>
          <p:nvPr/>
        </p:nvSpPr>
        <p:spPr>
          <a:xfrm>
            <a:off x="548640" y="3200400"/>
            <a:ext cx="731520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orders, customers = extract()          # return 2 values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transform(orders, customers)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load(result)</a:t>
            </a:r>
            <a:endParaRPr lang="en-US" sz="1500" dirty="0"/>
          </a:p>
        </p:txBody>
      </p:sp>
      <p:sp>
        <p:nvSpPr>
          <p:cNvPr id="10" name="lbl_128"/>
          <p:cNvSpPr txBox="1"/>
          <p:nvPr/>
        </p:nvSpPr>
        <p:spPr>
          <a:xfrm>
            <a:off x="6126480" y="3273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11" name="card_129"/>
          <p:cNvSpPr/>
          <p:nvPr/>
        </p:nvSpPr>
        <p:spPr>
          <a:xfrm>
            <a:off x="8229600" y="3200400"/>
            <a:ext cx="338328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ch_130"/>
          <p:cNvSpPr txBox="1"/>
          <p:nvPr/>
        </p:nvSpPr>
        <p:spPr>
          <a:xfrm>
            <a:off x="8458200" y="34015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split?</a:t>
            </a:r>
            <a:endParaRPr lang="en-US" sz="1800" dirty="0"/>
          </a:p>
        </p:txBody>
      </p:sp>
      <p:sp>
        <p:nvSpPr>
          <p:cNvPr id="13" name="cb_131"/>
          <p:cNvSpPr txBox="1"/>
          <p:nvPr/>
        </p:nvSpPr>
        <p:spPr>
          <a:xfrm>
            <a:off x="8458200" y="4069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• Easy to test each step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• Easy to find bugs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• Airflow can run each step as its own task later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if __name__ == "__main__"?</a:t>
            </a:r>
            <a:endParaRPr lang="en-US" sz="3400" dirty="0"/>
          </a:p>
        </p:txBody>
      </p:sp>
      <p:sp>
        <p:nvSpPr>
          <p:cNvPr id="4" name="code_132"/>
          <p:cNvSpPr txBox="1"/>
          <p:nvPr/>
        </p:nvSpPr>
        <p:spPr>
          <a:xfrm>
            <a:off x="54864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600" dirty="0"/>
          </a:p>
        </p:txBody>
      </p:sp>
      <p:sp>
        <p:nvSpPr>
          <p:cNvPr id="5" name="lbl_133"/>
          <p:cNvSpPr txBox="1"/>
          <p:nvPr/>
        </p:nvSpPr>
        <p:spPr>
          <a:xfrm>
            <a:off x="39319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34"/>
          <p:cNvSpPr/>
          <p:nvPr/>
        </p:nvSpPr>
        <p:spPr>
          <a:xfrm>
            <a:off x="612648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badge_135"/>
          <p:cNvSpPr txBox="1"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ch_136"/>
          <p:cNvSpPr txBox="1"/>
          <p:nvPr/>
        </p:nvSpPr>
        <p:spPr>
          <a:xfrm>
            <a:off x="6995160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etl.py</a:t>
            </a:r>
            <a:endParaRPr lang="en-US" sz="1800" dirty="0"/>
          </a:p>
        </p:txBody>
      </p:sp>
      <p:sp>
        <p:nvSpPr>
          <p:cNvPr id="9" name="cb_137"/>
          <p:cNvSpPr txBox="1"/>
          <p:nvPr/>
        </p:nvSpPr>
        <p:spPr>
          <a:xfrm>
            <a:off x="6355080" y="2240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__name__ is "__main__"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→ main() runs</a:t>
            </a:r>
            <a:endParaRPr lang="en-US" sz="1600" dirty="0"/>
          </a:p>
        </p:txBody>
      </p:sp>
      <p:sp>
        <p:nvSpPr>
          <p:cNvPr id="10" name="card_138"/>
          <p:cNvSpPr/>
          <p:nvPr/>
        </p:nvSpPr>
        <p:spPr>
          <a:xfrm>
            <a:off x="896112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badge_139"/>
          <p:cNvSpPr txBox="1"/>
          <p:nvPr/>
        </p:nvSpPr>
        <p:spPr>
          <a:xfrm>
            <a:off x="918972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h_140"/>
          <p:cNvSpPr txBox="1"/>
          <p:nvPr/>
        </p:nvSpPr>
        <p:spPr>
          <a:xfrm>
            <a:off x="9829800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import etl</a:t>
            </a:r>
            <a:endParaRPr lang="en-US" sz="1800" dirty="0"/>
          </a:p>
        </p:txBody>
      </p:sp>
      <p:sp>
        <p:nvSpPr>
          <p:cNvPr id="13" name="cb_141"/>
          <p:cNvSpPr txBox="1"/>
          <p:nvPr/>
        </p:nvSpPr>
        <p:spPr>
          <a:xfrm>
            <a:off x="9189720" y="2240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__name__ is "etl"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→ main() does NOT run</a:t>
            </a:r>
            <a:endParaRPr lang="en-US" sz="1600" dirty="0"/>
          </a:p>
        </p:txBody>
      </p:sp>
      <p:sp>
        <p:nvSpPr>
          <p:cNvPr id="14" name="call_142"/>
          <p:cNvSpPr txBox="1"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This lets other files (tests, Airflow DAGs) import your functions without running the whole pipeline.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demo: run it vs import it</a:t>
            </a:r>
            <a:endParaRPr lang="en-US" sz="3400" dirty="0"/>
          </a:p>
        </p:txBody>
      </p:sp>
      <p:sp>
        <p:nvSpPr>
          <p:cNvPr id="4" name="code_1"/>
          <p:cNvSpPr txBox="1"/>
          <p:nvPr/>
        </p:nvSpPr>
        <p:spPr>
          <a:xfrm>
            <a:off x="548640" y="1280160"/>
            <a:ext cx="667512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print("__name__ =", __name__)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extract():    log.info("extract"); return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transform(d): log.info("transform"); return [x * 10 for x in d]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load(d):      log.info(f"load {len(d)} rows")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load(transform(extract()))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log.exception("ETL failed")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sys.exit(1)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200" dirty="0"/>
          </a:p>
        </p:txBody>
      </p:sp>
      <p:sp>
        <p:nvSpPr>
          <p:cNvPr id="5" name="lbl_2"/>
          <p:cNvSpPr txBox="1"/>
          <p:nvPr/>
        </p:nvSpPr>
        <p:spPr>
          <a:xfrm>
            <a:off x="5486400" y="1353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small_test.py</a:t>
            </a:r>
            <a:endParaRPr lang="en-US" sz="1000" dirty="0"/>
          </a:p>
        </p:txBody>
      </p:sp>
      <p:sp>
        <p:nvSpPr>
          <p:cNvPr id="6" name="code_3"/>
          <p:cNvSpPr txBox="1"/>
          <p:nvPr/>
        </p:nvSpPr>
        <p:spPr>
          <a:xfrm>
            <a:off x="7498080" y="1280160"/>
            <a:ext cx="41148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small_test import transform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print(transform([1, 2]))</a:t>
            </a:r>
            <a:endParaRPr lang="en-US" sz="1200" dirty="0"/>
          </a:p>
        </p:txBody>
      </p:sp>
      <p:sp>
        <p:nvSpPr>
          <p:cNvPr id="7" name="lbl_4"/>
          <p:cNvSpPr txBox="1"/>
          <p:nvPr/>
        </p:nvSpPr>
        <p:spPr>
          <a:xfrm>
            <a:off x="9875520" y="1353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use_it.py</a:t>
            </a:r>
            <a:endParaRPr lang="en-US" sz="1000" dirty="0"/>
          </a:p>
        </p:txBody>
      </p:sp>
      <p:sp>
        <p:nvSpPr>
          <p:cNvPr id="8" name="tag0"/>
          <p:cNvSpPr txBox="1"/>
          <p:nvPr/>
        </p:nvSpPr>
        <p:spPr>
          <a:xfrm>
            <a:off x="7498080" y="2834640"/>
            <a:ext cx="502920" cy="749808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row0"/>
          <p:cNvSpPr txBox="1"/>
          <p:nvPr/>
        </p:nvSpPr>
        <p:spPr>
          <a:xfrm>
            <a:off x="8092440" y="2834640"/>
            <a:ext cx="3520440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  <p:txBody>
          <a:bodyPr wrap="square" lIns="25400" tIns="101600" rIns="1016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small_test.py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__name__ = __main__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extract, transform, load</a:t>
            </a:r>
            <a:endParaRPr lang="en-US" sz="1200" dirty="0"/>
          </a:p>
        </p:txBody>
      </p:sp>
      <p:sp>
        <p:nvSpPr>
          <p:cNvPr id="10" name="tag1"/>
          <p:cNvSpPr txBox="1"/>
          <p:nvPr/>
        </p:nvSpPr>
        <p:spPr>
          <a:xfrm>
            <a:off x="7498080" y="3730752"/>
            <a:ext cx="502920" cy="749808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row1"/>
          <p:cNvSpPr txBox="1"/>
          <p:nvPr/>
        </p:nvSpPr>
        <p:spPr>
          <a:xfrm>
            <a:off x="8092440" y="3730752"/>
            <a:ext cx="3520440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  <p:txBody>
          <a:bodyPr wrap="square" lIns="25400" tIns="101600" rIns="1016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use_it.py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__name__ = small_test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transform only  [10, 20]</a:t>
            </a:r>
            <a:endParaRPr lang="en-US" sz="1200" dirty="0"/>
          </a:p>
        </p:txBody>
      </p:sp>
      <p:sp>
        <p:nvSpPr>
          <p:cNvPr id="12" name="tag2"/>
          <p:cNvSpPr txBox="1"/>
          <p:nvPr/>
        </p:nvSpPr>
        <p:spPr>
          <a:xfrm>
            <a:off x="7498080" y="4626864"/>
            <a:ext cx="502920" cy="749808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row2"/>
          <p:cNvSpPr txBox="1"/>
          <p:nvPr/>
        </p:nvSpPr>
        <p:spPr>
          <a:xfrm>
            <a:off x="8092440" y="4626864"/>
            <a:ext cx="3520440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  <p:txBody>
          <a:bodyPr wrap="square" lIns="25400" tIns="101600" rIns="1016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guard, use_it.py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everything runs on import</a:t>
            </a:r>
            <a:endParaRPr lang="en-US" sz="1200" dirty="0"/>
          </a:p>
        </p:txBody>
      </p:sp>
      <p:sp>
        <p:nvSpPr>
          <p:cNvPr id="14" name="call_5"/>
          <p:cNvSpPr txBox="1"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Run the file: __name__ is "__main__" and main() runs.  Import the file: __name__ is the file name and main() does NOT 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Error handling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Fail loudly, clearly and on purpose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try / except</a:t>
            </a:r>
            <a:endParaRPr lang="en-US" sz="3400" dirty="0"/>
          </a:p>
        </p:txBody>
      </p:sp>
      <p:sp>
        <p:nvSpPr>
          <p:cNvPr id="4" name="code_143"/>
          <p:cNvSpPr txBox="1"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 = pd.read_csv("data/orders.csv")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 as 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log.error(f"File not found: {e.filename}")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       # re-raise: stop the pipeline</a:t>
            </a:r>
            <a:endParaRPr lang="en-US" sz="1500" dirty="0"/>
          </a:p>
        </p:txBody>
      </p:sp>
      <p:sp>
        <p:nvSpPr>
          <p:cNvPr id="5" name="lbl_144"/>
          <p:cNvSpPr txBox="1"/>
          <p:nvPr/>
        </p:nvSpPr>
        <p:spPr>
          <a:xfrm>
            <a:off x="57607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flow_145"/>
          <p:cNvSpPr txBox="1"/>
          <p:nvPr/>
        </p:nvSpPr>
        <p:spPr>
          <a:xfrm>
            <a:off x="548640" y="411480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try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run risky code</a:t>
            </a:r>
            <a:endParaRPr lang="en-US" sz="1800" dirty="0"/>
          </a:p>
        </p:txBody>
      </p:sp>
      <p:sp>
        <p:nvSpPr>
          <p:cNvPr id="7" name="arr_146"/>
          <p:cNvSpPr txBox="1"/>
          <p:nvPr/>
        </p:nvSpPr>
        <p:spPr>
          <a:xfrm>
            <a:off x="26060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flow_147"/>
          <p:cNvSpPr txBox="1"/>
          <p:nvPr/>
        </p:nvSpPr>
        <p:spPr>
          <a:xfrm>
            <a:off x="3017520" y="411480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except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error? handle it</a:t>
            </a:r>
            <a:endParaRPr lang="en-US" sz="1800" dirty="0"/>
          </a:p>
        </p:txBody>
      </p:sp>
      <p:sp>
        <p:nvSpPr>
          <p:cNvPr id="9" name="arr_148"/>
          <p:cNvSpPr txBox="1"/>
          <p:nvPr/>
        </p:nvSpPr>
        <p:spPr>
          <a:xfrm>
            <a:off x="50749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flow_149"/>
          <p:cNvSpPr txBox="1"/>
          <p:nvPr/>
        </p:nvSpPr>
        <p:spPr>
          <a:xfrm>
            <a:off x="5486400" y="411480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raise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stop and report</a:t>
            </a:r>
            <a:endParaRPr lang="en-US" sz="1800" dirty="0"/>
          </a:p>
        </p:txBody>
      </p:sp>
      <p:sp>
        <p:nvSpPr>
          <p:cNvPr id="11" name="bul_150"/>
          <p:cNvSpPr txBox="1"/>
          <p:nvPr/>
        </p:nvSpPr>
        <p:spPr>
          <a:xfrm>
            <a:off x="7863840" y="146304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Catch specific errors</a:t>
            </a:r>
            <a:r>
              <a:rPr lang="en-US" sz="1600" dirty="0">
                <a:solidFill>
                  <a:schemeClr val="tx1"/>
                </a:solidFill>
              </a:rPr>
              <a:t> (FileNotFoundError), not everything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Log a clear message</a:t>
            </a:r>
            <a:r>
              <a:rPr lang="en-US" sz="1600" dirty="0">
                <a:solidFill>
                  <a:schemeClr val="tx1"/>
                </a:solidFill>
              </a:rPr>
              <a:t> that a human understands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Re-raise</a:t>
            </a:r>
            <a:r>
              <a:rPr lang="en-US" sz="1600" dirty="0">
                <a:solidFill>
                  <a:schemeClr val="tx1"/>
                </a:solidFill>
              </a:rPr>
              <a:t> if the pipeline cannot continue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Never</a:t>
            </a:r>
            <a:r>
              <a:rPr lang="en-US" sz="1600" dirty="0">
                <a:solidFill>
                  <a:schemeClr val="tx1"/>
                </a:solidFill>
              </a:rPr>
              <a:t> use a bare except: pass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Errors you will meet in data pipelines</a:t>
            </a:r>
            <a:endParaRPr lang="en-US" sz="3400" dirty="0"/>
          </a:p>
        </p:txBody>
      </p:sp>
      <p:sp>
        <p:nvSpPr>
          <p:cNvPr id="4" name="card_151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badge_152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h_153"/>
          <p:cNvSpPr txBox="1"/>
          <p:nvPr/>
        </p:nvSpPr>
        <p:spPr>
          <a:xfrm>
            <a:off x="1417320" y="1572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FileNotFoundError</a:t>
            </a:r>
            <a:endParaRPr lang="en-US" sz="1800" dirty="0"/>
          </a:p>
        </p:txBody>
      </p:sp>
      <p:sp>
        <p:nvSpPr>
          <p:cNvPr id="7" name="cb_154"/>
          <p:cNvSpPr txBox="1"/>
          <p:nvPr/>
        </p:nvSpPr>
        <p:spPr>
          <a:xfrm>
            <a:off x="77724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CSV is missing or the path is wrong</a:t>
            </a:r>
            <a:endParaRPr lang="en-US" sz="1600" dirty="0"/>
          </a:p>
        </p:txBody>
      </p:sp>
      <p:sp>
        <p:nvSpPr>
          <p:cNvPr id="8" name="card_155"/>
          <p:cNvSpPr/>
          <p:nvPr/>
        </p:nvSpPr>
        <p:spPr>
          <a:xfrm>
            <a:off x="6263640" y="1371600"/>
            <a:ext cx="5349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156"/>
          <p:cNvSpPr txBox="1"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h_157"/>
          <p:cNvSpPr txBox="1"/>
          <p:nvPr/>
        </p:nvSpPr>
        <p:spPr>
          <a:xfrm>
            <a:off x="7132320" y="1572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KeyError</a:t>
            </a:r>
            <a:endParaRPr lang="en-US" sz="1800" dirty="0"/>
          </a:p>
        </p:txBody>
      </p:sp>
      <p:sp>
        <p:nvSpPr>
          <p:cNvPr id="11" name="cb_158"/>
          <p:cNvSpPr txBox="1"/>
          <p:nvPr/>
        </p:nvSpPr>
        <p:spPr>
          <a:xfrm>
            <a:off x="649224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column name does not exist (typo, or source changed)</a:t>
            </a:r>
            <a:endParaRPr lang="en-US" sz="1600" dirty="0"/>
          </a:p>
        </p:txBody>
      </p:sp>
      <p:sp>
        <p:nvSpPr>
          <p:cNvPr id="12" name="card_159"/>
          <p:cNvSpPr/>
          <p:nvPr/>
        </p:nvSpPr>
        <p:spPr>
          <a:xfrm>
            <a:off x="548640" y="3749040"/>
            <a:ext cx="5349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badge_160"/>
          <p:cNvSpPr txBox="1"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h_161"/>
          <p:cNvSpPr txBox="1"/>
          <p:nvPr/>
        </p:nvSpPr>
        <p:spPr>
          <a:xfrm>
            <a:off x="1417320" y="3950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ValueError</a:t>
            </a:r>
            <a:endParaRPr lang="en-US" sz="1800" dirty="0"/>
          </a:p>
        </p:txBody>
      </p:sp>
      <p:sp>
        <p:nvSpPr>
          <p:cNvPr id="15" name="cb_162"/>
          <p:cNvSpPr txBox="1"/>
          <p:nvPr/>
        </p:nvSpPr>
        <p:spPr>
          <a:xfrm>
            <a:off x="77724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Bad data, e.g. text that cannot become a date or a number</a:t>
            </a:r>
            <a:endParaRPr lang="en-US" sz="1600" dirty="0"/>
          </a:p>
        </p:txBody>
      </p:sp>
      <p:sp>
        <p:nvSpPr>
          <p:cNvPr id="16" name="card_163"/>
          <p:cNvSpPr/>
          <p:nvPr/>
        </p:nvSpPr>
        <p:spPr>
          <a:xfrm>
            <a:off x="6263640" y="3749040"/>
            <a:ext cx="5349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badge_164"/>
          <p:cNvSpPr txBox="1"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ch_165"/>
          <p:cNvSpPr txBox="1"/>
          <p:nvPr/>
        </p:nvSpPr>
        <p:spPr>
          <a:xfrm>
            <a:off x="7132320" y="3950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OperationalError</a:t>
            </a:r>
            <a:endParaRPr lang="en-US" sz="1800" dirty="0"/>
          </a:p>
        </p:txBody>
      </p:sp>
      <p:sp>
        <p:nvSpPr>
          <p:cNvPr id="19" name="cb_166"/>
          <p:cNvSpPr txBox="1"/>
          <p:nvPr/>
        </p:nvSpPr>
        <p:spPr>
          <a:xfrm>
            <a:off x="649224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Cannot connect to the database (wrong host, password, DB down)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Exceptions are a family tree</a:t>
            </a:r>
            <a:endParaRPr lang="en-US" sz="3400" dirty="0"/>
          </a:p>
        </p:txBody>
      </p:sp>
      <p:sp>
        <p:nvSpPr>
          <p:cNvPr id="4" name="tree0"/>
          <p:cNvSpPr txBox="1"/>
          <p:nvPr/>
        </p:nvSpPr>
        <p:spPr>
          <a:xfrm>
            <a:off x="548640" y="1371600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BaseException</a:t>
            </a:r>
            <a:endParaRPr lang="en-US" sz="1400" dirty="0"/>
          </a:p>
        </p:txBody>
      </p:sp>
      <p:sp>
        <p:nvSpPr>
          <p:cNvPr id="5" name="tree1"/>
          <p:cNvSpPr txBox="1"/>
          <p:nvPr/>
        </p:nvSpPr>
        <p:spPr>
          <a:xfrm>
            <a:off x="1051560" y="1883664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KeyboardInterrupt  (Ctrl+C)</a:t>
            </a:r>
            <a:endParaRPr lang="en-US" sz="1400" dirty="0"/>
          </a:p>
        </p:txBody>
      </p:sp>
      <p:sp>
        <p:nvSpPr>
          <p:cNvPr id="6" name="tree2"/>
          <p:cNvSpPr txBox="1"/>
          <p:nvPr/>
        </p:nvSpPr>
        <p:spPr>
          <a:xfrm>
            <a:off x="1051560" y="2395728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4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" name="tree3"/>
          <p:cNvSpPr txBox="1"/>
          <p:nvPr/>
        </p:nvSpPr>
        <p:spPr>
          <a:xfrm>
            <a:off x="1554480" y="2907792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OSError</a:t>
            </a:r>
            <a:endParaRPr lang="en-US" sz="1400" dirty="0"/>
          </a:p>
        </p:txBody>
      </p:sp>
      <p:sp>
        <p:nvSpPr>
          <p:cNvPr id="8" name="tree4"/>
          <p:cNvSpPr txBox="1"/>
          <p:nvPr/>
        </p:nvSpPr>
        <p:spPr>
          <a:xfrm>
            <a:off x="2057400" y="3419856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endParaRPr lang="en-US" sz="1400" dirty="0"/>
          </a:p>
        </p:txBody>
      </p:sp>
      <p:sp>
        <p:nvSpPr>
          <p:cNvPr id="9" name="tree5"/>
          <p:cNvSpPr txBox="1"/>
          <p:nvPr/>
        </p:nvSpPr>
        <p:spPr>
          <a:xfrm>
            <a:off x="1554480" y="3931920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LookupError</a:t>
            </a:r>
            <a:endParaRPr lang="en-US" sz="1400" dirty="0"/>
          </a:p>
        </p:txBody>
      </p:sp>
      <p:sp>
        <p:nvSpPr>
          <p:cNvPr id="10" name="tree6"/>
          <p:cNvSpPr txBox="1"/>
          <p:nvPr/>
        </p:nvSpPr>
        <p:spPr>
          <a:xfrm>
            <a:off x="2057400" y="4443984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endParaRPr lang="en-US" sz="1400" dirty="0"/>
          </a:p>
        </p:txBody>
      </p:sp>
      <p:sp>
        <p:nvSpPr>
          <p:cNvPr id="11" name="tree7"/>
          <p:cNvSpPr txBox="1"/>
          <p:nvPr/>
        </p:nvSpPr>
        <p:spPr>
          <a:xfrm>
            <a:off x="1554480" y="4956048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400" dirty="0"/>
          </a:p>
        </p:txBody>
      </p:sp>
      <p:sp>
        <p:nvSpPr>
          <p:cNvPr id="12" name="tree8"/>
          <p:cNvSpPr txBox="1"/>
          <p:nvPr/>
        </p:nvSpPr>
        <p:spPr>
          <a:xfrm>
            <a:off x="1554480" y="5468112"/>
            <a:ext cx="3840480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13" name="code_167"/>
          <p:cNvSpPr txBox="1"/>
          <p:nvPr/>
        </p:nvSpPr>
        <p:spPr>
          <a:xfrm>
            <a:off x="6583680" y="1371600"/>
            <a:ext cx="502920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   # only this 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OSError             # + its children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          # almost everything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                    # EVERYTHING, avoid</a:t>
            </a:r>
            <a:endParaRPr lang="en-US" sz="1300" dirty="0"/>
          </a:p>
        </p:txBody>
      </p:sp>
      <p:sp>
        <p:nvSpPr>
          <p:cNvPr id="14" name="lbl_168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CATCHES</a:t>
            </a:r>
            <a:endParaRPr lang="en-US" sz="1000" dirty="0"/>
          </a:p>
        </p:txBody>
      </p:sp>
      <p:sp>
        <p:nvSpPr>
          <p:cNvPr id="15" name="card_169"/>
          <p:cNvSpPr/>
          <p:nvPr/>
        </p:nvSpPr>
        <p:spPr>
          <a:xfrm>
            <a:off x="6583680" y="3840480"/>
            <a:ext cx="50292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ch_170"/>
          <p:cNvSpPr txBox="1"/>
          <p:nvPr/>
        </p:nvSpPr>
        <p:spPr>
          <a:xfrm>
            <a:off x="6812280" y="40416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 matters</a:t>
            </a:r>
            <a:endParaRPr lang="en-US" sz="1800" dirty="0"/>
          </a:p>
        </p:txBody>
      </p:sp>
      <p:sp>
        <p:nvSpPr>
          <p:cNvPr id="17" name="cb_171"/>
          <p:cNvSpPr txBox="1"/>
          <p:nvPr/>
        </p:nvSpPr>
        <p:spPr>
          <a:xfrm>
            <a:off x="6812280" y="4709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Put specific except blocks first, general ones last. Python uses the first match.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try / except / else / finally</a:t>
            </a:r>
            <a:endParaRPr lang="en-US" sz="3400" dirty="0"/>
          </a:p>
        </p:txBody>
      </p:sp>
      <p:sp>
        <p:nvSpPr>
          <p:cNvPr id="4" name="code_172"/>
          <p:cNvSpPr txBox="1"/>
          <p:nvPr/>
        </p:nvSpPr>
        <p:spPr>
          <a:xfrm>
            <a:off x="548640" y="1371600"/>
            <a:ext cx="6400800" cy="475488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r(x):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int(x)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"bad"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f"ok {v}"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print("finally", x)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r("5")   # prints: finally 5   returns: ok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r("x")   # prints: finally x   returns: bad</a:t>
            </a:r>
            <a:endParaRPr lang="en-US" sz="1400" dirty="0"/>
          </a:p>
        </p:txBody>
      </p:sp>
      <p:sp>
        <p:nvSpPr>
          <p:cNvPr id="5" name="lbl_173"/>
          <p:cNvSpPr txBox="1"/>
          <p:nvPr/>
        </p:nvSpPr>
        <p:spPr>
          <a:xfrm>
            <a:off x="521208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graphicFrame>
        <p:nvGraphicFramePr>
          <p:cNvPr id="35" name="tbl_qnmm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71600"/>
          <a:ext cx="438912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Runs when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always first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except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 error matched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else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error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finally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ALWAYS, even after return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rd_174"/>
          <p:cNvSpPr/>
          <p:nvPr/>
        </p:nvSpPr>
        <p:spPr>
          <a:xfrm>
            <a:off x="7223760" y="4206240"/>
            <a:ext cx="43891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ch_175"/>
          <p:cNvSpPr txBox="1"/>
          <p:nvPr/>
        </p:nvSpPr>
        <p:spPr>
          <a:xfrm>
            <a:off x="7452360" y="44074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finally for</a:t>
            </a:r>
            <a:endParaRPr lang="en-US" sz="1800" dirty="0"/>
          </a:p>
        </p:txBody>
      </p:sp>
      <p:sp>
        <p:nvSpPr>
          <p:cNvPr id="9" name="cb_176"/>
          <p:cNvSpPr txBox="1"/>
          <p:nvPr/>
        </p:nvSpPr>
        <p:spPr>
          <a:xfrm>
            <a:off x="7452360" y="5074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closing files and connections, deleting temp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raise, custom exceptions, exit codes</a:t>
            </a:r>
            <a:endParaRPr lang="en-US" sz="3400" dirty="0"/>
          </a:p>
        </p:txBody>
      </p:sp>
      <p:sp>
        <p:nvSpPr>
          <p:cNvPr id="4" name="code_177"/>
          <p:cNvSpPr txBox="1"/>
          <p:nvPr/>
        </p:nvSpPr>
        <p:spPr>
          <a:xfrm>
            <a:off x="548640" y="1371600"/>
            <a:ext cx="7132320" cy="475488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DataQualityError(Exception):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"""Raised when a file is too broken to load."""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orders, customers = extract()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len(orders) ==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DataQualityError("orders file is empty")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load(transform(orders, customers))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log.exception("ETL failed")   # full traceback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sys.exit(1)                   # scheduler sees FAILED</a:t>
            </a:r>
            <a:endParaRPr lang="en-US" sz="1300" dirty="0"/>
          </a:p>
        </p:txBody>
      </p:sp>
      <p:sp>
        <p:nvSpPr>
          <p:cNvPr id="5" name="lbl_178"/>
          <p:cNvSpPr txBox="1"/>
          <p:nvPr/>
        </p:nvSpPr>
        <p:spPr>
          <a:xfrm>
            <a:off x="594360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79"/>
          <p:cNvSpPr/>
          <p:nvPr/>
        </p:nvSpPr>
        <p:spPr>
          <a:xfrm>
            <a:off x="7955280" y="1371600"/>
            <a:ext cx="365760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badge_180"/>
          <p:cNvSpPr txBox="1"/>
          <p:nvPr/>
        </p:nvSpPr>
        <p:spPr>
          <a:xfrm>
            <a:off x="818388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ch_181"/>
          <p:cNvSpPr txBox="1"/>
          <p:nvPr/>
        </p:nvSpPr>
        <p:spPr>
          <a:xfrm>
            <a:off x="8823960" y="15727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exit code 0</a:t>
            </a:r>
            <a:endParaRPr lang="en-US" sz="1800" dirty="0"/>
          </a:p>
        </p:txBody>
      </p:sp>
      <p:sp>
        <p:nvSpPr>
          <p:cNvPr id="9" name="cb_182"/>
          <p:cNvSpPr txBox="1"/>
          <p:nvPr/>
        </p:nvSpPr>
        <p:spPr>
          <a:xfrm>
            <a:off x="8183880" y="2240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Success. Airflow task turns green.</a:t>
            </a:r>
            <a:endParaRPr lang="en-US" sz="1500" dirty="0"/>
          </a:p>
        </p:txBody>
      </p:sp>
      <p:sp>
        <p:nvSpPr>
          <p:cNvPr id="10" name="card_183"/>
          <p:cNvSpPr/>
          <p:nvPr/>
        </p:nvSpPr>
        <p:spPr>
          <a:xfrm>
            <a:off x="7955280" y="3840480"/>
            <a:ext cx="3657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badge_184"/>
          <p:cNvSpPr txBox="1"/>
          <p:nvPr/>
        </p:nvSpPr>
        <p:spPr>
          <a:xfrm>
            <a:off x="8183880" y="4069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ch_185"/>
          <p:cNvSpPr txBox="1"/>
          <p:nvPr/>
        </p:nvSpPr>
        <p:spPr>
          <a:xfrm>
            <a:off x="8823960" y="40416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exit code 1</a:t>
            </a:r>
            <a:endParaRPr lang="en-US" sz="1800" dirty="0"/>
          </a:p>
        </p:txBody>
      </p:sp>
      <p:sp>
        <p:nvSpPr>
          <p:cNvPr id="13" name="cb_186"/>
          <p:cNvSpPr txBox="1"/>
          <p:nvPr/>
        </p:nvSpPr>
        <p:spPr>
          <a:xfrm>
            <a:off x="818388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Failure. Task turns red, can retry and alert.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with: automatic clean-up</a:t>
            </a:r>
            <a:endParaRPr lang="en-US" sz="3400" dirty="0"/>
          </a:p>
        </p:txBody>
      </p:sp>
      <p:sp>
        <p:nvSpPr>
          <p:cNvPr id="4" name="code_187"/>
          <p:cNvSpPr txBox="1"/>
          <p:nvPr/>
        </p:nvSpPr>
        <p:spPr>
          <a:xfrm>
            <a:off x="548640" y="137160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open("output.txt", "w") as f:      # file closed automatically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f.write("order_id\n")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engine.begin() as conn:            # COMMIT on success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conn.execute(text(UPSERT_SQL))      # ROLLBACK on any error</a:t>
            </a:r>
            <a:endParaRPr lang="en-US" sz="1500" dirty="0"/>
          </a:p>
        </p:txBody>
      </p:sp>
      <p:sp>
        <p:nvSpPr>
          <p:cNvPr id="5" name="lbl_188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card_189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badge_190"/>
          <p:cNvSpPr txBox="1"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✕</a:t>
            </a:r>
            <a:endParaRPr lang="en-US" sz="1600" dirty="0"/>
          </a:p>
        </p:txBody>
      </p:sp>
      <p:sp>
        <p:nvSpPr>
          <p:cNvPr id="8" name="ch_191"/>
          <p:cNvSpPr txBox="1"/>
          <p:nvPr/>
        </p:nvSpPr>
        <p:spPr>
          <a:xfrm>
            <a:off x="1417320" y="4224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Without with</a:t>
            </a:r>
            <a:endParaRPr lang="en-US" sz="1800" dirty="0"/>
          </a:p>
        </p:txBody>
      </p:sp>
      <p:sp>
        <p:nvSpPr>
          <p:cNvPr id="9" name="cb_192"/>
          <p:cNvSpPr txBox="1"/>
          <p:nvPr/>
        </p:nvSpPr>
        <p:spPr>
          <a:xfrm>
            <a:off x="77724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 must remember to close / commit / rollback yourself, also on errors</a:t>
            </a:r>
            <a:endParaRPr lang="en-US" sz="1500" dirty="0"/>
          </a:p>
        </p:txBody>
      </p:sp>
      <p:sp>
        <p:nvSpPr>
          <p:cNvPr id="10" name="card_193"/>
          <p:cNvSpPr/>
          <p:nvPr/>
        </p:nvSpPr>
        <p:spPr>
          <a:xfrm>
            <a:off x="626364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badge_194"/>
          <p:cNvSpPr txBox="1"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ch_195"/>
          <p:cNvSpPr txBox="1"/>
          <p:nvPr/>
        </p:nvSpPr>
        <p:spPr>
          <a:xfrm>
            <a:off x="7132320" y="4224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With with</a:t>
            </a:r>
            <a:endParaRPr lang="en-US" sz="1800" dirty="0"/>
          </a:p>
        </p:txBody>
      </p:sp>
      <p:sp>
        <p:nvSpPr>
          <p:cNvPr id="13" name="cb_196"/>
          <p:cNvSpPr txBox="1"/>
          <p:nvPr/>
        </p:nvSpPr>
        <p:spPr>
          <a:xfrm>
            <a:off x="649224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clean-up is guaranteed: try/finally done for you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07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Logging &amp; configuration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Leave a trail you can read the next morning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logging instead of print()?</a:t>
            </a:r>
            <a:endParaRPr lang="en-US" sz="3400" dirty="0"/>
          </a:p>
        </p:txBody>
      </p:sp>
      <p:sp>
        <p:nvSpPr>
          <p:cNvPr id="4" name="card_197"/>
          <p:cNvSpPr/>
          <p:nvPr/>
        </p:nvSpPr>
        <p:spPr>
          <a:xfrm>
            <a:off x="548640" y="1371600"/>
            <a:ext cx="534924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ch_198"/>
          <p:cNvSpPr txBox="1"/>
          <p:nvPr/>
        </p:nvSpPr>
        <p:spPr>
          <a:xfrm>
            <a:off x="77724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print()</a:t>
            </a:r>
            <a:endParaRPr lang="en-US" sz="1800" dirty="0"/>
          </a:p>
        </p:txBody>
      </p:sp>
      <p:sp>
        <p:nvSpPr>
          <p:cNvPr id="6" name="cb_199"/>
          <p:cNvSpPr txBox="1"/>
          <p:nvPr/>
        </p:nvSpPr>
        <p:spPr>
          <a:xfrm>
            <a:off x="777240" y="22402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No time stamp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No level (info or error?)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Lost when the window closes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Hard to turn off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print("done")</a:t>
            </a:r>
            <a:endParaRPr lang="en-US" sz="1900" dirty="0"/>
          </a:p>
        </p:txBody>
      </p:sp>
      <p:sp>
        <p:nvSpPr>
          <p:cNvPr id="7" name="card_200"/>
          <p:cNvSpPr/>
          <p:nvPr/>
        </p:nvSpPr>
        <p:spPr>
          <a:xfrm>
            <a:off x="6263640" y="1371600"/>
            <a:ext cx="534924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ch_201"/>
          <p:cNvSpPr txBox="1"/>
          <p:nvPr/>
        </p:nvSpPr>
        <p:spPr>
          <a:xfrm>
            <a:off x="649224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logging</a:t>
            </a:r>
            <a:endParaRPr lang="en-US" sz="1800" dirty="0"/>
          </a:p>
        </p:txBody>
      </p:sp>
      <p:sp>
        <p:nvSpPr>
          <p:cNvPr id="9" name="cb_202"/>
          <p:cNvSpPr txBox="1"/>
          <p:nvPr/>
        </p:nvSpPr>
        <p:spPr>
          <a:xfrm>
            <a:off x="6492240" y="22402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Time stamp on every line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Levels: INFO, WARNING, ERROR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Saved to a file (etl.log)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• Change level without editing code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2026-10-27 09:00:01 | INFO | Loaded 96,470 rows</a:t>
            </a:r>
            <a:endParaRPr lang="en-US" sz="1900" dirty="0"/>
          </a:p>
        </p:txBody>
      </p:sp>
      <p:sp>
        <p:nvSpPr>
          <p:cNvPr id="10" name="call_203"/>
          <p:cNvSpPr txBox="1"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Rule for pipeline code: use log.info(), log.warning() and log.error() instead of print().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Log levels</a:t>
            </a:r>
            <a:endParaRPr lang="en-US" sz="3400" dirty="0"/>
          </a:p>
        </p:txBody>
      </p:sp>
      <p:sp>
        <p:nvSpPr>
          <p:cNvPr id="4" name="lvl0"/>
          <p:cNvSpPr txBox="1"/>
          <p:nvPr/>
        </p:nvSpPr>
        <p:spPr>
          <a:xfrm>
            <a:off x="548640" y="13716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DEBUG</a:t>
            </a:r>
            <a:endParaRPr lang="en-US" sz="1800" dirty="0"/>
          </a:p>
        </p:txBody>
      </p:sp>
      <p:sp>
        <p:nvSpPr>
          <p:cNvPr id="5" name="lvlt0"/>
          <p:cNvSpPr txBox="1"/>
          <p:nvPr/>
        </p:nvSpPr>
        <p:spPr>
          <a:xfrm>
            <a:off x="3017520" y="13716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Detailed values while developing</a:t>
            </a:r>
            <a:endParaRPr lang="en-US" sz="1700" dirty="0"/>
          </a:p>
        </p:txBody>
      </p:sp>
      <p:sp>
        <p:nvSpPr>
          <p:cNvPr id="6" name="lvl1"/>
          <p:cNvSpPr txBox="1"/>
          <p:nvPr/>
        </p:nvSpPr>
        <p:spPr>
          <a:xfrm>
            <a:off x="548640" y="22860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INFO</a:t>
            </a:r>
            <a:endParaRPr lang="en-US" sz="1800" dirty="0"/>
          </a:p>
        </p:txBody>
      </p:sp>
      <p:sp>
        <p:nvSpPr>
          <p:cNvPr id="7" name="lvlt1"/>
          <p:cNvSpPr txBox="1"/>
          <p:nvPr/>
        </p:nvSpPr>
        <p:spPr>
          <a:xfrm>
            <a:off x="3017520" y="22860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Normal progress: 'Read 99,441 orders'</a:t>
            </a:r>
            <a:endParaRPr lang="en-US" sz="1700" dirty="0"/>
          </a:p>
        </p:txBody>
      </p:sp>
      <p:sp>
        <p:nvSpPr>
          <p:cNvPr id="8" name="lvl2"/>
          <p:cNvSpPr txBox="1"/>
          <p:nvPr/>
        </p:nvSpPr>
        <p:spPr>
          <a:xfrm>
            <a:off x="548640" y="32004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WARNING</a:t>
            </a:r>
            <a:endParaRPr lang="en-US" sz="1800" dirty="0"/>
          </a:p>
        </p:txBody>
      </p:sp>
      <p:sp>
        <p:nvSpPr>
          <p:cNvPr id="9" name="lvlt2"/>
          <p:cNvSpPr txBox="1"/>
          <p:nvPr/>
        </p:nvSpPr>
        <p:spPr>
          <a:xfrm>
            <a:off x="3017520" y="3200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Odd but OK: 'Dropped 8 rows with no date'</a:t>
            </a:r>
            <a:endParaRPr lang="en-US" sz="1700" dirty="0"/>
          </a:p>
        </p:txBody>
      </p:sp>
      <p:sp>
        <p:nvSpPr>
          <p:cNvPr id="10" name="lvl3"/>
          <p:cNvSpPr txBox="1"/>
          <p:nvPr/>
        </p:nvSpPr>
        <p:spPr>
          <a:xfrm>
            <a:off x="548640" y="41148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ERROR</a:t>
            </a:r>
            <a:endParaRPr lang="en-US" sz="1800" dirty="0"/>
          </a:p>
        </p:txBody>
      </p:sp>
      <p:sp>
        <p:nvSpPr>
          <p:cNvPr id="11" name="lvlt3"/>
          <p:cNvSpPr txBox="1"/>
          <p:nvPr/>
        </p:nvSpPr>
        <p:spPr>
          <a:xfrm>
            <a:off x="3017520" y="41148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step failed: 'File not found'</a:t>
            </a:r>
            <a:endParaRPr lang="en-US" sz="1700" dirty="0"/>
          </a:p>
        </p:txBody>
      </p:sp>
      <p:sp>
        <p:nvSpPr>
          <p:cNvPr id="12" name="lvl4"/>
          <p:cNvSpPr txBox="1"/>
          <p:nvPr/>
        </p:nvSpPr>
        <p:spPr>
          <a:xfrm>
            <a:off x="548640" y="50292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CRITICAL</a:t>
            </a:r>
            <a:endParaRPr lang="en-US" sz="1800" dirty="0"/>
          </a:p>
        </p:txBody>
      </p:sp>
      <p:sp>
        <p:nvSpPr>
          <p:cNvPr id="13" name="lvlt4"/>
          <p:cNvSpPr txBox="1"/>
          <p:nvPr/>
        </p:nvSpPr>
        <p:spPr>
          <a:xfrm>
            <a:off x="3017520" y="50292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Whole system down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Set up logging once, at the top</a:t>
            </a:r>
            <a:endParaRPr lang="en-US" sz="3400" dirty="0"/>
          </a:p>
        </p:txBody>
      </p:sp>
      <p:sp>
        <p:nvSpPr>
          <p:cNvPr id="4" name="code_204"/>
          <p:cNvSpPr txBox="1"/>
          <p:nvPr/>
        </p:nvSpPr>
        <p:spPr>
          <a:xfrm>
            <a:off x="548640" y="1371600"/>
            <a:ext cx="7589520" cy="475488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format="%(asctime)s | %(levelname)s | %(message)s",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handlers=[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logging.FileHandler("etl.log"),   # to a file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logging.StreamHandler(),          # to the screen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logging.getLogger(__name__)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log.info("Extract: reading CSV files")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log.warning("Dropped 8 rows with no delivery date")</a:t>
            </a:r>
            <a:endParaRPr lang="en-US" sz="1400" dirty="0"/>
          </a:p>
        </p:txBody>
      </p:sp>
      <p:sp>
        <p:nvSpPr>
          <p:cNvPr id="5" name="lbl_205"/>
          <p:cNvSpPr txBox="1"/>
          <p:nvPr/>
        </p:nvSpPr>
        <p:spPr>
          <a:xfrm>
            <a:off x="640080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6" name="bul_206"/>
          <p:cNvSpPr txBox="1"/>
          <p:nvPr/>
        </p:nvSpPr>
        <p:spPr>
          <a:xfrm>
            <a:off x="8412480" y="146304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level=</a:t>
            </a:r>
            <a:r>
              <a:rPr lang="en-US" sz="1500" dirty="0">
                <a:solidFill>
                  <a:schemeClr val="tx1"/>
                </a:solidFill>
              </a:rPr>
              <a:t> lowest level that is recorded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format=</a:t>
            </a:r>
            <a:r>
              <a:rPr lang="en-US" sz="1500" dirty="0">
                <a:solidFill>
                  <a:schemeClr val="tx1"/>
                </a:solidFill>
              </a:rPr>
              <a:t> time | level | message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FileHandler</a:t>
            </a:r>
            <a:r>
              <a:rPr lang="en-US" sz="1500" dirty="0">
                <a:solidFill>
                  <a:schemeClr val="tx1"/>
                </a:solidFill>
              </a:rPr>
              <a:t> keeps history in etl.log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StreamHandler</a:t>
            </a:r>
            <a:r>
              <a:rPr lang="en-US" sz="1500" dirty="0">
                <a:solidFill>
                  <a:schemeClr val="tx1"/>
                </a:solidFill>
              </a:rPr>
              <a:t> shows it live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Logging: what Python fixes vs what you choose</a:t>
            </a:r>
            <a:endParaRPr lang="en-US" sz="3400" dirty="0"/>
          </a:p>
        </p:txBody>
      </p:sp>
      <p:sp>
        <p:nvSpPr>
          <p:cNvPr id="4" name="colored_code"/>
          <p:cNvSpPr txBox="1"/>
          <p:nvPr/>
        </p:nvSpPr>
        <p:spPr>
          <a:xfrm>
            <a:off x="548640" y="1371600"/>
            <a:ext cx="713232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%(asctime)s</a:t>
            </a: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%(levelname)s</a:t>
            </a: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%(message)s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handlers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logging.FileHandler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"etl.log"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logging.StreamHandler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logging.getLogger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"Extract: reading CSV files"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8AB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"Dropped 8 rows"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5" name="legend"/>
          <p:cNvSpPr txBox="1"/>
          <p:nvPr/>
        </p:nvSpPr>
        <p:spPr>
          <a:xfrm>
            <a:off x="777240" y="5715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B134"/>
                </a:solidFill>
              </a:rPr>
              <a:t>■ </a:t>
            </a:r>
            <a:r>
              <a:rPr lang="en-US" sz="1300" dirty="0">
                <a:solidFill>
                  <a:srgbClr val="FFFFFF"/>
                </a:solidFill>
              </a:rPr>
              <a:t>fixed by Python     </a:t>
            </a:r>
            <a:r>
              <a:rPr lang="en-US" sz="1300" dirty="0">
                <a:solidFill>
                  <a:srgbClr val="8AB17D"/>
                </a:solidFill>
              </a:rPr>
              <a:t>■ </a:t>
            </a:r>
            <a:r>
              <a:rPr lang="en-US" sz="1300" dirty="0">
                <a:solidFill>
                  <a:srgbClr val="FFFFFF"/>
                </a:solidFill>
              </a:rPr>
              <a:t>your choice</a:t>
            </a:r>
            <a:endParaRPr lang="en-US" sz="1300" dirty="0"/>
          </a:p>
        </p:txBody>
      </p:sp>
      <p:sp>
        <p:nvSpPr>
          <p:cNvPr id="6" name="card_207"/>
          <p:cNvSpPr/>
          <p:nvPr/>
        </p:nvSpPr>
        <p:spPr>
          <a:xfrm>
            <a:off x="7955280" y="1371600"/>
            <a:ext cx="365760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badge_208"/>
          <p:cNvSpPr txBox="1"/>
          <p:nvPr/>
        </p:nvSpPr>
        <p:spPr>
          <a:xfrm>
            <a:off x="8183880" y="160020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✕</a:t>
            </a:r>
            <a:endParaRPr lang="en-US" sz="1600" dirty="0"/>
          </a:p>
        </p:txBody>
      </p:sp>
      <p:sp>
        <p:nvSpPr>
          <p:cNvPr id="8" name="ch_209"/>
          <p:cNvSpPr txBox="1"/>
          <p:nvPr/>
        </p:nvSpPr>
        <p:spPr>
          <a:xfrm>
            <a:off x="8823960" y="15727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Fixed by Python</a:t>
            </a:r>
            <a:endParaRPr lang="en-US" sz="1800" dirty="0"/>
          </a:p>
        </p:txBody>
      </p:sp>
      <p:sp>
        <p:nvSpPr>
          <p:cNvPr id="9" name="cb_210"/>
          <p:cNvSpPr txBox="1"/>
          <p:nvPr/>
        </p:nvSpPr>
        <p:spPr>
          <a:xfrm>
            <a:off x="8183880" y="22402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import, module, function, parameter and method names, INFO / WARNING, %(...)s placeholders, __name__</a:t>
            </a:r>
            <a:endParaRPr lang="en-US" sz="1400" dirty="0"/>
          </a:p>
        </p:txBody>
      </p:sp>
      <p:sp>
        <p:nvSpPr>
          <p:cNvPr id="10" name="card_211"/>
          <p:cNvSpPr/>
          <p:nvPr/>
        </p:nvSpPr>
        <p:spPr>
          <a:xfrm>
            <a:off x="7955280" y="3749040"/>
            <a:ext cx="365760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badge_212"/>
          <p:cNvSpPr txBox="1"/>
          <p:nvPr/>
        </p:nvSpPr>
        <p:spPr>
          <a:xfrm>
            <a:off x="8183880" y="3977640"/>
            <a:ext cx="502920" cy="502920"/>
          </a:xfrm>
          <a:prstGeom prst="ellipse">
            <a:avLst/>
          </a:prstGeom>
          <a:solidFill>
            <a:srgbClr val="8AB17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ch_213"/>
          <p:cNvSpPr txBox="1"/>
          <p:nvPr/>
        </p:nvSpPr>
        <p:spPr>
          <a:xfrm>
            <a:off x="8823960" y="39502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choice</a:t>
            </a:r>
            <a:endParaRPr lang="en-US" sz="1800" dirty="0"/>
          </a:p>
        </p:txBody>
      </p:sp>
      <p:sp>
        <p:nvSpPr>
          <p:cNvPr id="13" name="cb_214"/>
          <p:cNvSpPr txBox="1"/>
          <p:nvPr/>
        </p:nvSpPr>
        <p:spPr>
          <a:xfrm>
            <a:off x="818388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 name (log), log file name, separators, message text, which level</a:t>
            </a:r>
            <a:endParaRPr lang="en-US" sz="1400" dirty="0"/>
          </a:p>
        </p:txBody>
      </p:sp>
      <p:sp>
        <p:nvSpPr>
          <p:cNvPr id="14" name="rule"/>
          <p:cNvSpPr txBox="1"/>
          <p:nvPr/>
        </p:nvSpPr>
        <p:spPr>
          <a:xfrm>
            <a:off x="7955280" y="55321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DF3DC"/>
          </a:solidFill>
          <a:ln/>
        </p:spPr>
        <p:txBody>
          <a:bodyPr wrap="square" lIns="50800" tIns="1270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Rule  </a:t>
            </a:r>
            <a:r>
              <a:rPr lang="en-US" sz="1200" dirty="0">
                <a:solidFill>
                  <a:schemeClr val="tx1"/>
                </a:solidFill>
              </a:rPr>
              <a:t>Names after a dot come from the library. Text in quotes is yours (except %(...)s).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f-strings and constants</a:t>
            </a:r>
            <a:endParaRPr lang="en-US" sz="3400" dirty="0"/>
          </a:p>
        </p:txBody>
      </p:sp>
      <p:sp>
        <p:nvSpPr>
          <p:cNvPr id="4" name="code_215"/>
          <p:cNvSpPr txBox="1"/>
          <p:nvPr/>
        </p:nvSpPr>
        <p:spPr>
          <a:xfrm>
            <a:off x="548640" y="1371600"/>
            <a:ext cx="5852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99441; rate = 0.6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f"{n:,}"            # 99,441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f"{rate:.1%}"       # 60.0%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f"{13.789:.1f}"     # 13.8</a:t>
            </a:r>
            <a:endParaRPr lang="en-US" sz="1400" dirty="0"/>
          </a:p>
        </p:txBody>
      </p:sp>
      <p:sp>
        <p:nvSpPr>
          <p:cNvPr id="5" name="lbl_216"/>
          <p:cNvSpPr txBox="1"/>
          <p:nvPr/>
        </p:nvSpPr>
        <p:spPr>
          <a:xfrm>
            <a:off x="46634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FORMAT SPEC</a:t>
            </a:r>
            <a:endParaRPr lang="en-US" sz="1000" dirty="0"/>
          </a:p>
        </p:txBody>
      </p:sp>
      <p:sp>
        <p:nvSpPr>
          <p:cNvPr id="6" name="code_217"/>
          <p:cNvSpPr txBox="1"/>
          <p:nvPr/>
        </p:nvSpPr>
        <p:spPr>
          <a:xfrm>
            <a:off x="6675120" y="1371600"/>
            <a:ext cx="49377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 = datetime.now().strftime(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"%Y%m%d_%H%M%S")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DATE_FORMAT = "%Y-%m-%d %H:%M:%S"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REJECT_THRESHOLD = 0.05</a:t>
            </a:r>
            <a:endParaRPr lang="en-US" sz="1400" dirty="0"/>
          </a:p>
        </p:txBody>
      </p:sp>
      <p:sp>
        <p:nvSpPr>
          <p:cNvPr id="7" name="lbl_218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CONSTANTS</a:t>
            </a:r>
            <a:endParaRPr lang="en-US" sz="1000" dirty="0"/>
          </a:p>
        </p:txBody>
      </p:sp>
      <p:sp>
        <p:nvSpPr>
          <p:cNvPr id="8" name="call_219"/>
          <p:cNvSpPr txBox="1"/>
          <p:nvPr/>
        </p:nvSpPr>
        <p:spPr>
          <a:xfrm>
            <a:off x="548640" y="4114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UPPER_CASE = set once at the top, read everywhere. lower_case = changes while the script runs.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we use f-strings and constants</a:t>
            </a:r>
            <a:endParaRPr lang="en-US" sz="3400" dirty="0"/>
          </a:p>
        </p:txBody>
      </p:sp>
      <p:sp>
        <p:nvSpPr>
          <p:cNvPr id="4" name="code_1"/>
          <p:cNvSpPr txBox="1"/>
          <p:nvPr/>
        </p:nvSpPr>
        <p:spPr>
          <a:xfrm>
            <a:off x="548640" y="1280160"/>
            <a:ext cx="5486400" cy="3749040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paths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BASE_DIR = Path(__file__).resolve().parent.parent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DATA_DIR = BASE_DIR / "data/raw"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SOURCE_FILE = "olist_orders_dataset.csv"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DATE_COLUMNS = ["order_purchase_timestamp"]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DATE_FORMAT = "%Y-%m-%d %H:%M:%S"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REJECT_THRESHOLD = 0.05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and run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"staging"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 = os.getenv("DB_HOST", "localhost")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 = datetime.now().strftime("%Y%m%d_%H%M%S")</a:t>
            </a:r>
            <a:endParaRPr lang="en-US" sz="1200" dirty="0"/>
          </a:p>
        </p:txBody>
      </p:sp>
      <p:sp>
        <p:nvSpPr>
          <p:cNvPr id="5" name="lbl_2"/>
          <p:cNvSpPr txBox="1"/>
          <p:nvPr/>
        </p:nvSpPr>
        <p:spPr>
          <a:xfrm>
            <a:off x="4297680" y="1353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CONSTANTS  ·  top of file</a:t>
            </a:r>
            <a:endParaRPr lang="en-US" sz="1000" dirty="0"/>
          </a:p>
        </p:txBody>
      </p:sp>
      <p:sp>
        <p:nvSpPr>
          <p:cNvPr id="6" name="code_3"/>
          <p:cNvSpPr txBox="1"/>
          <p:nvPr/>
        </p:nvSpPr>
        <p:spPr>
          <a:xfrm>
            <a:off x="6263640" y="1280160"/>
            <a:ext cx="5349240" cy="3749040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log messages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log.info(f"Read {len(df):,} rows from {SOURCE_FILE}")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log.warning(f"Reject rate {rate:.1%}")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file names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out_file = f"rejected_{RUN_ID}.csv"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connection string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f"postgresql://{DB_USER}@{DB_HOST}/{DB_NAME}"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table names in SQL (names only)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= f"SELECT COUNT(*) FROM {SCHEMA}.stg_orders"</a:t>
            </a:r>
            <a:endParaRPr lang="en-US" sz="1200" dirty="0"/>
          </a:p>
        </p:txBody>
      </p:sp>
      <p:sp>
        <p:nvSpPr>
          <p:cNvPr id="7" name="lbl_4"/>
          <p:cNvSpPr txBox="1"/>
          <p:nvPr/>
        </p:nvSpPr>
        <p:spPr>
          <a:xfrm>
            <a:off x="9875520" y="1353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F-STRINGS  ·  inside functions</a:t>
            </a:r>
            <a:endParaRPr lang="en-US" sz="1000" dirty="0"/>
          </a:p>
        </p:txBody>
      </p:sp>
      <p:sp>
        <p:nvSpPr>
          <p:cNvPr id="8" name="call_5"/>
          <p:cNvSpPr txBox="1"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Constant = set once at the top, UPPER_CASE, read everywhere.  f-string = f"...{value}..." builds text at run time.  Never build SQL with DATA values in an f-string.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Keep secrets out of code: the .env file</a:t>
            </a:r>
            <a:endParaRPr lang="en-US" sz="3400" dirty="0"/>
          </a:p>
        </p:txBody>
      </p:sp>
      <p:sp>
        <p:nvSpPr>
          <p:cNvPr id="4" name="code_220"/>
          <p:cNvSpPr txBox="1"/>
          <p:nvPr/>
        </p:nvSpPr>
        <p:spPr>
          <a:xfrm>
            <a:off x="548640" y="1371600"/>
            <a:ext cx="42062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DB_USER=postgres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DB_PASSWORD=change_me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DB_HOST=localhost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DB_PORT=5432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DB_NAME=olist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DATA_DIR=data/raw</a:t>
            </a:r>
            <a:endParaRPr lang="en-US" sz="1400" dirty="0"/>
          </a:p>
        </p:txBody>
      </p:sp>
      <p:sp>
        <p:nvSpPr>
          <p:cNvPr id="5" name="lbl_221"/>
          <p:cNvSpPr txBox="1"/>
          <p:nvPr/>
        </p:nvSpPr>
        <p:spPr>
          <a:xfrm>
            <a:off x="3017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.env</a:t>
            </a:r>
            <a:endParaRPr lang="en-US" sz="1000" dirty="0"/>
          </a:p>
        </p:txBody>
      </p:sp>
      <p:sp>
        <p:nvSpPr>
          <p:cNvPr id="6" name="code_222"/>
          <p:cNvSpPr txBox="1"/>
          <p:nvPr/>
        </p:nvSpPr>
        <p:spPr>
          <a:xfrm>
            <a:off x="5029200" y="1371600"/>
            <a:ext cx="658368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        # read .env into environment variables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 = os.getenv("DB_USER", "postgres")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 = os.getenv("DB_PASSWORD")   # None if missing</a:t>
            </a:r>
            <a:endParaRPr lang="en-US" sz="1300" dirty="0"/>
          </a:p>
        </p:txBody>
      </p:sp>
      <p:sp>
        <p:nvSpPr>
          <p:cNvPr id="7" name="lbl_223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card_224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225"/>
          <p:cNvSpPr txBox="1"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ch_226"/>
          <p:cNvSpPr txBox="1"/>
          <p:nvPr/>
        </p:nvSpPr>
        <p:spPr>
          <a:xfrm>
            <a:off x="1417320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.gitignore</a:t>
            </a:r>
            <a:endParaRPr lang="en-US" sz="1800" dirty="0"/>
          </a:p>
        </p:txBody>
      </p:sp>
      <p:sp>
        <p:nvSpPr>
          <p:cNvPr id="11" name="cb_227"/>
          <p:cNvSpPr txBox="1"/>
          <p:nvPr/>
        </p:nvSpPr>
        <p:spPr>
          <a:xfrm>
            <a:off x="77724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the line .env so the password is never committed to GitHub.</a:t>
            </a:r>
            <a:endParaRPr lang="en-US" sz="1500" dirty="0"/>
          </a:p>
        </p:txBody>
      </p:sp>
      <p:sp>
        <p:nvSpPr>
          <p:cNvPr id="12" name="card_228"/>
          <p:cNvSpPr/>
          <p:nvPr/>
        </p:nvSpPr>
        <p:spPr>
          <a:xfrm>
            <a:off x="4343400" y="402336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badge_229"/>
          <p:cNvSpPr txBox="1"/>
          <p:nvPr/>
        </p:nvSpPr>
        <p:spPr>
          <a:xfrm>
            <a:off x="457200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ch_230"/>
          <p:cNvSpPr txBox="1"/>
          <p:nvPr/>
        </p:nvSpPr>
        <p:spPr>
          <a:xfrm>
            <a:off x="5212080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.env.example</a:t>
            </a:r>
            <a:endParaRPr lang="en-US" sz="1800" dirty="0"/>
          </a:p>
        </p:txBody>
      </p:sp>
      <p:sp>
        <p:nvSpPr>
          <p:cNvPr id="15" name="cb_231"/>
          <p:cNvSpPr txBox="1"/>
          <p:nvPr/>
        </p:nvSpPr>
        <p:spPr>
          <a:xfrm>
            <a:off x="457200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Same keys with fake values. Commit this one so others know what to fill in.</a:t>
            </a:r>
            <a:endParaRPr lang="en-US" sz="1500" dirty="0"/>
          </a:p>
        </p:txBody>
      </p:sp>
      <p:sp>
        <p:nvSpPr>
          <p:cNvPr id="16" name="card_232"/>
          <p:cNvSpPr/>
          <p:nvPr/>
        </p:nvSpPr>
        <p:spPr>
          <a:xfrm>
            <a:off x="8138160" y="40233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badge_233"/>
          <p:cNvSpPr txBox="1"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ch_234"/>
          <p:cNvSpPr txBox="1"/>
          <p:nvPr/>
        </p:nvSpPr>
        <p:spPr>
          <a:xfrm>
            <a:off x="900684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code, any server</a:t>
            </a:r>
            <a:endParaRPr lang="en-US" sz="1800" dirty="0"/>
          </a:p>
        </p:txBody>
      </p:sp>
      <p:sp>
        <p:nvSpPr>
          <p:cNvPr id="19" name="cb_235"/>
          <p:cNvSpPr txBox="1"/>
          <p:nvPr/>
        </p:nvSpPr>
        <p:spPr>
          <a:xfrm>
            <a:off x="836676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Dev, test and production each have their own .env file.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Predict the output</a:t>
            </a:r>
            <a:endParaRPr lang="en-US" sz="3400" dirty="0"/>
          </a:p>
        </p:txBody>
      </p:sp>
      <p:sp>
        <p:nvSpPr>
          <p:cNvPr id="4" name="code_236"/>
          <p:cNvSpPr txBox="1"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[1]; b = a; b.append(2); print(a)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 Delivered "; s.strip(); print(s)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 print("x")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print(bool("0"), bool(0), bool([]))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int("abc")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 print("bad")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 print("end")</a:t>
            </a:r>
            <a:endParaRPr lang="en-US" sz="1400" dirty="0"/>
          </a:p>
        </p:txBody>
      </p:sp>
      <p:sp>
        <p:nvSpPr>
          <p:cNvPr id="5" name="lbl_237"/>
          <p:cNvSpPr txBox="1"/>
          <p:nvPr/>
        </p:nvSpPr>
        <p:spPr>
          <a:xfrm>
            <a:off x="987552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QUIZ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Lab: build the pipeline skeleton</a:t>
            </a:r>
            <a:endParaRPr lang="en-US" sz="3400" dirty="0"/>
          </a:p>
        </p:txBody>
      </p:sp>
      <p:sp>
        <p:nvSpPr>
          <p:cNvPr id="4" name="code_238"/>
          <p:cNvSpPr txBox="1"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  <p:txBody>
          <a:bodyPr wrap="square" lIns="152400" tIns="177800" rIns="177800" bIns="152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logging, sys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logging.basicConfig(level=logging.INFO,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format="%(asctime)s | %(levelname)s | %(message)s",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handlers=[logging.FileHandler("etl.log"), logging.StreamHandler()])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logging.getLogger(__name__)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extract():   log.info("extract"); return [1, 2, 3]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transform(d): log.info("transform"); return [x * 10 for x in d]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load(d):     log.info(f"load {len(d)} rows")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load(transform(extract()))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log.exception("ETL failed"); sys.exit(1)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300" dirty="0"/>
          </a:p>
        </p:txBody>
      </p:sp>
      <p:sp>
        <p:nvSpPr>
          <p:cNvPr id="5" name="lbl_239"/>
          <p:cNvSpPr txBox="1"/>
          <p:nvPr/>
        </p:nvSpPr>
        <p:spPr>
          <a:xfrm>
            <a:off x="603504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skeleton.py</a:t>
            </a:r>
            <a:endParaRPr lang="en-US" sz="1000" dirty="0"/>
          </a:p>
        </p:txBody>
      </p:sp>
      <p:sp>
        <p:nvSpPr>
          <p:cNvPr id="6" name="card_240"/>
          <p:cNvSpPr/>
          <p:nvPr/>
        </p:nvSpPr>
        <p:spPr>
          <a:xfrm>
            <a:off x="8138160" y="1371600"/>
            <a:ext cx="3474720" cy="48463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ch_241"/>
          <p:cNvSpPr txBox="1"/>
          <p:nvPr/>
        </p:nvSpPr>
        <p:spPr>
          <a:xfrm>
            <a:off x="8366760" y="1572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tasks</a:t>
            </a:r>
            <a:endParaRPr lang="en-US" sz="1800" dirty="0"/>
          </a:p>
        </p:txBody>
      </p:sp>
      <p:sp>
        <p:nvSpPr>
          <p:cNvPr id="8" name="cb_242"/>
          <p:cNvSpPr txBox="1"/>
          <p:nvPr/>
        </p:nvSpPr>
        <p:spPr>
          <a:xfrm>
            <a:off x="8366760" y="22402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1. Create .venv and activate it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2. pip install pandas, then pip freeze &gt; requirements.txt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3. Run skeleton.py and open etl.log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4. Add raise ValueError("test") in transform. What is the exit code?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Recap and what's next</a:t>
            </a:r>
            <a:endParaRPr lang="en-US" sz="3400" dirty="0"/>
          </a:p>
        </p:txBody>
      </p:sp>
      <p:sp>
        <p:nvSpPr>
          <p:cNvPr id="4" name="card_243"/>
          <p:cNvSpPr/>
          <p:nvPr/>
        </p:nvSpPr>
        <p:spPr>
          <a:xfrm>
            <a:off x="54864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badge_244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h_245"/>
          <p:cNvSpPr txBox="1"/>
          <p:nvPr/>
        </p:nvSpPr>
        <p:spPr>
          <a:xfrm>
            <a:off x="1417320" y="1572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Setup</a:t>
            </a:r>
            <a:endParaRPr lang="en-US" sz="1800" dirty="0"/>
          </a:p>
        </p:txBody>
      </p:sp>
      <p:sp>
        <p:nvSpPr>
          <p:cNvPr id="7" name="cb_246"/>
          <p:cNvSpPr txBox="1"/>
          <p:nvPr/>
        </p:nvSpPr>
        <p:spPr>
          <a:xfrm>
            <a:off x="777240" y="2240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venv + requirements.txt: same packages everywhere</a:t>
            </a:r>
            <a:endParaRPr lang="en-US" sz="1500" dirty="0"/>
          </a:p>
        </p:txBody>
      </p:sp>
      <p:sp>
        <p:nvSpPr>
          <p:cNvPr id="8" name="card_247"/>
          <p:cNvSpPr/>
          <p:nvPr/>
        </p:nvSpPr>
        <p:spPr>
          <a:xfrm>
            <a:off x="338328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badge_248"/>
          <p:cNvSpPr txBox="1"/>
          <p:nvPr/>
        </p:nvSpPr>
        <p:spPr>
          <a:xfrm>
            <a:off x="361188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h_249"/>
          <p:cNvSpPr txBox="1"/>
          <p:nvPr/>
        </p:nvSpPr>
        <p:spPr>
          <a:xfrm>
            <a:off x="4251960" y="1572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core</a:t>
            </a:r>
            <a:endParaRPr lang="en-US" sz="1800" dirty="0"/>
          </a:p>
        </p:txBody>
      </p:sp>
      <p:sp>
        <p:nvSpPr>
          <p:cNvPr id="11" name="cb_250"/>
          <p:cNvSpPr txBox="1"/>
          <p:nvPr/>
        </p:nvSpPr>
        <p:spPr>
          <a:xfrm>
            <a:off x="3611880" y="2240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def vs call; name tags; list / dict / set / tuple</a:t>
            </a:r>
            <a:endParaRPr lang="en-US" sz="1500" dirty="0"/>
          </a:p>
        </p:txBody>
      </p:sp>
      <p:sp>
        <p:nvSpPr>
          <p:cNvPr id="12" name="card_251"/>
          <p:cNvSpPr/>
          <p:nvPr/>
        </p:nvSpPr>
        <p:spPr>
          <a:xfrm>
            <a:off x="621792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badge_252"/>
          <p:cNvSpPr txBox="1"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h_253"/>
          <p:cNvSpPr txBox="1"/>
          <p:nvPr/>
        </p:nvSpPr>
        <p:spPr>
          <a:xfrm>
            <a:off x="7086600" y="1572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Functions &amp; errors</a:t>
            </a:r>
            <a:endParaRPr lang="en-US" sz="1800" dirty="0"/>
          </a:p>
        </p:txBody>
      </p:sp>
      <p:sp>
        <p:nvSpPr>
          <p:cNvPr id="15" name="cb_254"/>
          <p:cNvSpPr txBox="1"/>
          <p:nvPr/>
        </p:nvSpPr>
        <p:spPr>
          <a:xfrm>
            <a:off x="6446520" y="2240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args in, return out; catch specific, raise, exit 1</a:t>
            </a:r>
            <a:endParaRPr lang="en-US" sz="1500" dirty="0"/>
          </a:p>
        </p:txBody>
      </p:sp>
      <p:sp>
        <p:nvSpPr>
          <p:cNvPr id="16" name="card_255"/>
          <p:cNvSpPr/>
          <p:nvPr/>
        </p:nvSpPr>
        <p:spPr>
          <a:xfrm>
            <a:off x="905256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badge_256"/>
          <p:cNvSpPr txBox="1"/>
          <p:nvPr/>
        </p:nvSpPr>
        <p:spPr>
          <a:xfrm>
            <a:off x="928116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ch_257"/>
          <p:cNvSpPr txBox="1"/>
          <p:nvPr/>
        </p:nvSpPr>
        <p:spPr>
          <a:xfrm>
            <a:off x="9921240" y="1572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Logging</a:t>
            </a:r>
            <a:endParaRPr lang="en-US" sz="1800" dirty="0"/>
          </a:p>
        </p:txBody>
      </p:sp>
      <p:sp>
        <p:nvSpPr>
          <p:cNvPr id="19" name="cb_258"/>
          <p:cNvSpPr txBox="1"/>
          <p:nvPr/>
        </p:nvSpPr>
        <p:spPr>
          <a:xfrm>
            <a:off x="9281160" y="2240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log file + .env: a trail, no secrets in code</a:t>
            </a:r>
            <a:endParaRPr lang="en-US" sz="1500" dirty="0"/>
          </a:p>
        </p:txBody>
      </p:sp>
      <p:sp>
        <p:nvSpPr>
          <p:cNvPr id="20" name="call_259"/>
          <p:cNvSpPr txBox="1"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3DC"/>
          </a:solidFill>
          <a:ln/>
        </p:spPr>
        <p:txBody>
          <a:bodyPr wrap="square" lIns="101600" tIns="177800" rIns="1778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Key idea  </a:t>
            </a:r>
            <a:r>
              <a:rPr lang="en-US" sz="1500" dirty="0">
                <a:solidFill>
                  <a:schemeClr val="tx1"/>
                </a:solidFill>
              </a:rPr>
              <a:t>Day 2: Pandas. We read the Olist CSVs, clean, join and group them, and load the result into Postgres, using today's skeleton.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5 Pipelines">
  <a:themeElements>
    <a:clrScheme name="Week5 Pipelines">
      <a:dk1>
        <a:srgbClr val="1B2430"/>
      </a:dk1>
      <a:lt1>
        <a:srgbClr val="FFFFFF"/>
      </a:lt1>
      <a:dk2>
        <a:srgbClr val="1F2D3A"/>
      </a:dk2>
      <a:lt2>
        <a:srgbClr val="F2F4F6"/>
      </a:lt2>
      <a:accent1>
        <a:srgbClr val="F2B134"/>
      </a:accent1>
      <a:accent2>
        <a:srgbClr val="2A9D8F"/>
      </a:accent2>
      <a:accent3>
        <a:srgbClr val="E76F51"/>
      </a:accent3>
      <a:accent4>
        <a:srgbClr val="264653"/>
      </a:accent4>
      <a:accent5>
        <a:srgbClr val="8AB17D"/>
      </a:accent5>
      <a:accent6>
        <a:srgbClr val="6C757D"/>
      </a:accent6>
      <a:hlink>
        <a:srgbClr val="2A9D8F"/>
      </a:hlink>
      <a:folHlink>
        <a:srgbClr val="264653"/>
      </a:folHlink>
    </a:clrScheme>
    <a:fontScheme name="Week5 Pipelin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5497</Words>
  <Application>Microsoft Macintosh PowerPoint</Application>
  <PresentationFormat>Widescreen</PresentationFormat>
  <Paragraphs>901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Courier New</vt:lpstr>
      <vt:lpstr>Week5 Pipelines</vt:lpstr>
      <vt:lpstr>Python Essentials for Data Engineers</vt:lpstr>
      <vt:lpstr>Today's plan (2 hours)</vt:lpstr>
      <vt:lpstr>Notebook script vs pipeline script</vt:lpstr>
      <vt:lpstr>Setup: virtual environments</vt:lpstr>
      <vt:lpstr>Why do we need a virtual environment?</vt:lpstr>
      <vt:lpstr>Create, activate, install</vt:lpstr>
      <vt:lpstr>requirements.txt = the shopping list</vt:lpstr>
      <vt:lpstr>How Python runs a script</vt:lpstr>
      <vt:lpstr>Top to bottom: define vs call</vt:lpstr>
      <vt:lpstr>Where import looks for code</vt:lpstr>
      <vt:lpstr>Three kinds of code you import</vt:lpstr>
      <vt:lpstr>Objects and types</vt:lpstr>
      <vt:lpstr>Everything is an object; variables are name tags</vt:lpstr>
      <vt:lpstr>Basic types</vt:lpstr>
      <vt:lpstr>Mutable vs immutable</vt:lpstr>
      <vt:lpstr>== vs is, None and truthiness</vt:lpstr>
      <vt:lpstr>Attributes vs methods</vt:lpstr>
      <vt:lpstr>Data structures</vt:lpstr>
      <vt:lpstr>Four containers</vt:lpstr>
      <vt:lpstr>dict and set in practice</vt:lpstr>
      <vt:lpstr>Comprehensions and unpacking</vt:lpstr>
      <vt:lpstr>Functions</vt:lpstr>
      <vt:lpstr>Anatomy of a function</vt:lpstr>
      <vt:lpstr>Parameters: positional, keyword, default</vt:lpstr>
      <vt:lpstr>return vs print</vt:lpstr>
      <vt:lpstr>Scope: local vs global</vt:lpstr>
      <vt:lpstr>Hidden state: a classic pipeline bug</vt:lpstr>
      <vt:lpstr>A pipeline = three functions</vt:lpstr>
      <vt:lpstr>What is if __name__ == "__main__"?</vt:lpstr>
      <vt:lpstr>Live demo: run it vs import it</vt:lpstr>
      <vt:lpstr>Error handling</vt:lpstr>
      <vt:lpstr>try / except</vt:lpstr>
      <vt:lpstr>Errors you will meet in data pipelines</vt:lpstr>
      <vt:lpstr>Exceptions are a family tree</vt:lpstr>
      <vt:lpstr>try / except / else / finally</vt:lpstr>
      <vt:lpstr>raise, custom exceptions, exit codes</vt:lpstr>
      <vt:lpstr>with: automatic clean-up</vt:lpstr>
      <vt:lpstr>Logging &amp; configuration</vt:lpstr>
      <vt:lpstr>Why logging instead of print()?</vt:lpstr>
      <vt:lpstr>Log levels</vt:lpstr>
      <vt:lpstr>Set up logging once, at the top</vt:lpstr>
      <vt:lpstr>Logging: what Python fixes vs what you choose</vt:lpstr>
      <vt:lpstr>f-strings and constants</vt:lpstr>
      <vt:lpstr>Where we use f-strings and constants</vt:lpstr>
      <vt:lpstr>Keep secrets out of code: the .env file</vt:lpstr>
      <vt:lpstr>Predict the output</vt:lpstr>
      <vt:lpstr>Lab: build the pipeline skeleton</vt:lpstr>
      <vt:lpstr>Recap and what's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Day 1 - Python Essentials for Data Engineers</dc:title>
  <dc:subject>PptxGenJS Presentation</dc:subject>
  <dc:creator>Data Engineering Fundamentals</dc:creator>
  <cp:lastModifiedBy>Mee Mee Maung</cp:lastModifiedBy>
  <cp:revision>5</cp:revision>
  <dcterms:created xsi:type="dcterms:W3CDTF">2026-10-28T03:11:32Z</dcterms:created>
  <dcterms:modified xsi:type="dcterms:W3CDTF">2026-10-28T05:49:35Z</dcterms:modified>
</cp:coreProperties>
</file>