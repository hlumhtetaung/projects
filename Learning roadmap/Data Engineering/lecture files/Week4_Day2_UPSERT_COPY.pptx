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76" r:id="rId6"/>
    <p:sldId id="260" r:id="rId7"/>
    <p:sldId id="261" r:id="rId8"/>
    <p:sldId id="262" r:id="rId9"/>
    <p:sldId id="263" r:id="rId10"/>
    <p:sldId id="278" r:id="rId11"/>
    <p:sldId id="279" r:id="rId12"/>
    <p:sldId id="280" r:id="rId13"/>
    <p:sldId id="264" r:id="rId14"/>
    <p:sldId id="265" r:id="rId15"/>
    <p:sldId id="266" r:id="rId16"/>
    <p:sldId id="281" r:id="rId17"/>
    <p:sldId id="270" r:id="rId18"/>
    <p:sldId id="271" r:id="rId19"/>
    <p:sldId id="272" r:id="rId20"/>
    <p:sldId id="283" r:id="rId21"/>
    <p:sldId id="284" r:id="rId22"/>
    <p:sldId id="285" r:id="rId23"/>
    <p:sldId id="286" r:id="rId24"/>
    <p:sldId id="287" r:id="rId25"/>
    <p:sldId id="288" r:id="rId26"/>
    <p:sldId id="289" r:id="rId27"/>
    <p:sldId id="290" r:id="rId28"/>
    <p:sldId id="291" r:id="rId29"/>
    <p:sldId id="275"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8" d="100"/>
          <a:sy n="158" d="100"/>
        </p:scale>
        <p:origin x="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143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today: the write side of SQL (COPY and UPSERT — the core of every load step) and a workshop to finish the 8–10 deliverable queries.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before the workshop. Protect the workshop time — the deliverable is the module's assessment.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\copy: make sure everyone reaches the olist_dw=# prompt. Use -U postgres: without it psql logs in with the computer’s username and the password fails. Homebrew psql 17 with server 18 prints a version warning; it is safe to ignore. If pgAdmin’s PSQL Tool stays blank after setting the binary path, quit pgAdmin completely (Cmd+Q) and reopen it, or simply use Terminal / SQL Shell. Common mistake: typing SQL at the shell prompt (zsh: command not found: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server opens the file. On a laptop the server runs as a separate user (postgres on Mac, NetworkService on Windows), so it cannot read Downloads or Documents: Permission denied. Put the file in /Users/Shared (Mac) or C:/Users/Public (Windows), and make sure it is readable by others (chmod 644). \copy: psql opens the file as you, so any folder works. Live demo: COPY from ~/Downloads fails, \copy from ~/Downloads works, COPY from /Users/Shared works. /var/lib/postgresql is a Linux server path; it does not exist on a Mac.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line' rule: psql meta-commands end at the newline. The examples are wrapped for the slide; type each \copy on one line. raw is already loaded from Week 2: if students try these lines, they must TRUNCATE the table first, or every row is loaded twice. Real-world Olist issue: review comments contain commas and line breaks inside quotes — FORMAT csv handles that correctly.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demo: load sellers with COPY and time it with \timing on in psql, then compare to a script of single-row inserts.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CONFLICT ဘာလို့ သုံးလဲ: Plain INSERT ကို ၂ ခါ run ရင် PRIMARY KEY ရှိတဲ့ table မှာ duplicate key error တက်ပြီး load တစ်ခုလုံး ရပ်သွားတယ်။ PK မရှိရင်တော့ error မတက်ဘဲ row တွေ နှစ်ဆ ဖြစ်သွားတယ် (3,095 → 6,190)။ ON CONFLICT ထည့်ရင် key ရှိပြီးသားဆို error မပြဘဲ DO NOTHING (ကျော်) ဒါမှမဟုတ် DO UPDATE (ပြင်) လုပ်တယ်။ အကြောင်းရင်း ၃ ခု: (1) Pipeline တွေ fail ဖြစ်ပြီး retry လုပ်ရတယ်၊ ဘယ်နှခါ run လည်း ရလဒ် တူရမယ် (idempotent)။ (2) Data ပြောင်းတယ်၊ ဥပမာ seller မြို့ပြောင်းရင် row အသစ် မထည့်ဘဲ update လုပ်ရမယ်။ (3) နေ့တိုင်း row အသစ်တွေ ဝင်လာတယ်၊ အသစ်ကို insert နဲ့ ရှိပြီးသားကို update ကို statement တစ်ခုတည်းနဲ့ လုပ်နိုင်တယ်။ Demo: slide ၁၂ ရဲ့ script ကို ၂ ခါ run ပြီး INSERT 0 3095 နဲ့ INSERT 0 0 ကို ပြပါ။</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ကို ပြင်ရမလား: လက်တွေ့ pipeline မှာ data ပြောင်းတာ၊ row အသစ်ဝင်တာက ဖိုင်အသစ်နဲ့ raw ထဲ ရောက်လာတာပါ။ ဒါကြောင့် demo မှာ raw ကို UPDATE / INSERT လုပ်ပြီး 'ဖိုင်အသစ် ရောက်လာတယ်' လို့ ဟန်ဆောင်ပါတယ်။ ဒါပေမဲ့ BEGIN; နဲ့ စပြီး ROLLBACK; နဲ့ ပိတ်တာကြောင့် demo ပြီးရင် raw ရော staging ပါ မူလအတိုင်း ပြန်ဖြစ်သွားပါတယ်။ (1) Re-run: raw မပြင်ဘဲ UPSERT script ကို ထပ် run → INSERT 0 0။ (2) Data changes: raw မှာ seller တစ်ယောက်ရဲ့ city ကို ပြောင်း → UPSERT → INSERT 0 1 (update)။ (3) New rows: raw ထဲ seller အသစ် တစ်ယောက် ထည့် → UPSERT → INSERT 0 1 (insert)၊ staging.sellers count 3096။ ပြီးရင် ROLLBACK; ပြီး SELECT COUNT(*) FROM raw.sellers; → 3095 ပြန်ဖြစ်ကြောင်း ပြပါ။ raw.sellers ရဲ့ column 4 ခု: seller_id, seller_zip_code_prefix, seller_city, seller_state။ zip code column က text ဖြစ်ရင် 1001 အစား '01001' ရေးပါ။</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UPSERT က INSERT 0 n ဆိုပြီး row ဘယ်နှခု ထိသွားလဲပဲ ပြောပါတယ်။ ဘယ် row လဲ၊ value မှန်လား ဆိုတာ staging ကို စစ်မှ သိရပါတယ်။ အပေါ်က query တစ်ခုတည်းက test ၃ ခုလုံးအတွက် သုံးလို့ရပါတယ်: raw နဲ့ staging ကို seller_id နဲ့ join ပြီး city/state မတူတာ ရှိလား စစ်တာပါ။ LEFT JOIN ဖြစ်လို့ staging ထဲ မရောက်လာတဲ့ seller လည်း ပါပါတယ် (s.city က NULL ဖြစ်ပြီး IS DISTINCT FROM က ကွာတယ်လို့ ရေတွက်တယ်)။ ရလဒ် 0 ဆိုရင် staging က raw နဲ့ အတိအကျ တူပါတယ်။ Test 1 ပြီးရင် total 3095၊ duplicate 0။ Test 2 ပြီးရင် ပြောင်းထားတဲ့ seller ရဲ့ city က curitiba ဖြစ်ပြီး updated_at က အသစ် ဖြစ်နေရမယ်။ (BEGIN ထဲမှာ now() က transaction စတဲ့ အချိန်ကို ပြပါတယ်။) Test 3 ပြီးရင် demo_seller_01 row ၁ ခု ရှိပြီး total 3096။ နောက်ဆုံး ROLLBACK; လုပ်ပြီး count တွေ 3095 ပြန်ဖြစ်ကြောင်း ပြပါ။</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Idempotency is a word learners must be able to explain in an interview. It returns in the ETL module (Week 8–9) and in Airflow retries (Week 11).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lives in the staging schema for now: staging.sellers keeps its rows between runs. The real dw tables (dimensions and facts) are designed in the modeling session and loaded with this same pattern. Without a unique constraint, Postgres raises 'there is no unique or exclusion constraint matching the ON CONFLICT specification'. An existing table can get one with ALTER TABLE staging.sellers ADD CONSTRAINT sellers_pkey PRIMARY KEY (seller_id);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is raw.sellers: no extra load table, so students focus only on ON CONFLICT, EXCLUDED and IS DISTINCT FROM. Show the output count on the first run (3095) and the second run (0). That number is the simplest proof the load is idempotent. To show the UPDATE side without touching raw, change the target instead: UPDATE staging.sellers SET city = 'old city' WHERE seller_id = (SELECT MIN(seller_id) FROM staging.sellers); then re-run this UPSERT: INSERT 0 1, because raw's value overwrites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အဆင့် ၁ · INSERT INTO staging.sellers: ဘယ် table ထဲ ထည့်မလဲ (target)။ updated_at ကို မထည့်ထားလို့ insert ဖြစ်ရင် DEFAULT now() ဝင်တယ်။ အဆင့် ၂ · SELECT … FROM raw.sellers: data ကို raw ကနေ ယူတယ်။ column နာမည် မတူပေမဲ့ အစဉ်အတိုင်း ချိတ်တယ် (seller_city → city)။ အဆင့် ၃ · ON CONFLICT (seller_id): row တစ်ခုချင်းစီအတွက် seller_id က staging ထဲ ရှိပြီးသားလား စစ်တယ် (PRIMARY KEY ကြောင့် စစ်နိုင်တယ်)။ မရှိရင် INSERT၊ ရှိရင် error မပြဘဲ update ဘက် သွားတယ်။ အဆင့် ၄ · DO UPDATE SET: EXCLUDED ဆိုတာ raw ကလာတဲ့ row အသစ်။ city, state ကို တန်ဖိုးအသစ်နဲ့ အစားထိုးပြီး updated_at ကို now() နဲ့ မှတ်တယ်။ အဆင့် ၅ · WHERE … IS DISTINCT FROM: အဟောင်းနဲ့ အသစ် တကယ်မတူမှ update လုပ်တယ်။ &lt;&gt; အစား IS DISTINCT FROM သုံးတာက NULL ကို မှန်မှန် နှိုင်းယှဉ်ဖို့ (Week 3)။ ဥပမာ: s1 မပြောင်းလို့ ကျော်၊ s2 city ပြောင်းလို့ UPDATE၊ s3 မရှိသေးလို့ INSERT → INSERT 0 2။ ထပ် run ရင် INSERT 0 0 (idempotent)။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who have 01–08 should spend the workshop on 09–10 and polishing. Learners who are behind should prioritise reaching 8 working files over perfection.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pairs to swap repos and run each other's queries — a five-minute peer review catches most problems.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 raw.sellers မှာ row 3095၊ distinct seller 3095 ဖြစ်ရမယ်။ ပိုများနေရင် raw ကို နှစ်ခါ load လုပ်ထားလို့ပါ။ TRUNCATE raw.sellers; ပြီး \copy ပြန်လုပ်ပါ။ Task 1: ON CONFLICT အလုပ်လုပ်ဖို့ PRIMARY KEY မဖြစ်မနေ လိုပါတယ်။ updated_at ကို DEFAULT now() ထားလို့ insert လုပ်တိုင်း အချိန် အလိုအလျောက် ဝင်ပါတယ်။ \d staging.sellers နဲ့ PK ပါမပါ စစ်ပါ။</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ပထမအကြိမ် run မှာ staging ထဲ ဘာမှ မရှိသေးလို့ seller ၃၀၉၅ ယောက်လုံး INSERT ဖြစ်ပါတယ်။ EXCLUDED ဆိုတာ raw ကလာတဲ့ row အသစ်ပါ။ WHERE … IS DISTINCT FROM က ပြောင်းသွားတဲ့ row ကိုပဲ update လုပ်ဖို့ပါ။</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ထပ် run ရင် key အားလုံး ရှိပြီး value မပြောင်းလို့ ဘာမှ မထိပါ: INSERT 0 0။ ဒါကို idempotent လို့ ခေါ်ပါတယ်။ ဆွေးနွေးရန် ၁: WHERE မပါရင် ဒုတိယအကြိမ်မှာ INSERT 0 3095 ရတယ် (row အားလုံး ပြန်ရေး)၊ table ကတော့ တူတူပဲ၊ updated_at တွေ ပြောင်းသွားတယ်။ ဆွေးနွေးရန် ၂: DO NOTHING က INSERT 0 0 ရပေမဲ့ raw မှာ ပြောင်းလဲမှုရှိရင်တောင် update မလုပ်ပါ။</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လက်တွေ့ pipeline မှာ ဖိုင်အသစ်နဲ့ data ပြောင်းလဲမှု raw ထဲ ရောက်လာပါတယ်။ ဒီမှာ BEGIN; နဲ့ transaction ထဲမှာ raw ကို ပြင်ပြီး ဟန်ဆောင်ပါတယ်၊ နောက်မှ ROLLBACK; နဲ့ ပြန်ဖျက်မယ်။ seller တစ်ယောက်ရဲ့ city ကို curitiba ပြောင်းပြီး UPSERT run ရင် INSERT 0 1 (update ၁ ခု)။ staging ထဲ စစ်ရင် city = curitiba ဖြစ်ပြီး updated_at က BEGIN ရိုက်တဲ့အချိန် (transaction ထဲမှာ now() က transaction စတဲ့အချိန်)။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seller အသစ် demo_seller_01 ကို raw ထဲ ထည့်ပြီး UPSERT run ရင် INSERT 0 1 (insert ၁ ခု)၊ staging count 3096။ rows_differ query က raw နဲ့ staging ကို seller_id နဲ့ ချိတ်ပြီး city/state မတူတာ ရေတွက်တာ၊ 0 ဆိုရင် staging က raw နဲ့ အတိအကျ တူပါတယ်။ ROLLBACK; လုပ်ရင် raw ရော staging ပါ မူလအတိုင်း 3095 | 3095 ပြန်ဖြစ်ပါတယ်။ zip column က INTEGER ဆိုရင် '01001' အစား 1001 ရေးပါ။</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ကို line တစ်ကြောင်းတည်း ရိုက်ရပါမယ်၊ အဆုံးမှာ ; မထည့်ပါ။ Slide မှာ နေရာမဆံ့လို့ ခွဲပြထားတာပါ။ ဖိုင်က psql စဖွင့်ခဲ့တဲ့ folder (ဥပမာ Downloads) ထဲ ရောက်ပါတယ်။ SP seller ၁၈၄၉ ယောက် ရပြီး CSV ထဲမှာ header ၁ ကြောင်း + row ၁၈၄၉ ကြောင်း ပါပါတယ်။ Excel / Numbers နဲ့ ဖွင့်ကြည့်ခိုင်းပါ။</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reviews table ကို review_id တစ်ခုချင်း row ၁ ခု ဖြစ်အောင် load လုပ်မယ်။ E1 က ရည်ရွယ်ချက်ရှိရှိ fail ဖြစ်တာပါ: raw.order_reviews ထဲမှာ review_id တချို့ ၂ ခါ ပါလို့ statement တစ်ခုထဲမှာ key တူကို ၂ ခါ update လုပ်လို့ မရပါ (cannot affect row a second time)။ E2 နဲ့ total_rows နဲ့ distinct_reviews ကို နှိုင်းယှဉ်ပါ။ စမ်းထားတဲ့ data မှာ 100000 နဲ့ 99173 ပါ၊ သင့် data မှာ နည်းနည်း ကွာနိုင်ပါတယ်။</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ROW_NUMBER() နဲ့ review_id တစ်ခုချင်းစီမှာ နောက်ဆုံး ဖြေထားတဲ့ row (review_answer_timestamp DESC) ကိုပဲ ယူပါတယ်။ order_id က tie-breaker ပါ။ ပြီးမှ UPSERT လုပ်ရင် အလုပ်ဖြစ်ပြီး INSERT 0 &lt;E2 ရဲ့ distinct_reviews&gt; ရပါတယ် (စမ်းထားတဲ့ data မှာ 99173)။ ထပ် run ရင် INSERT 0 0။ ဒါက Day 1 ရဲ့ window function နဲ့ ဒီနေ့ရဲ့ UPSERT ကို ပေါင်းသုံးတာပါ။</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အမှားများနဲ့ ဖြေရှင်းနည်း: (1) zsh မှာ SQL ရိုက်မိရင် command not found၊ psql အရင်ဖွင့်ပါ။ (2) ONCONFLICT ကို space ခြားပြီး ON CONFLICT ရေးပါ။ (3) target မှာ PRIMARY KEY မရှိရင် ON CONFLICT အလုပ်မလုပ်ပါ။ (4) source မှာ key တူ row ၂ ခု ရှိရင် cannot affect row a second time၊ ROW_NUMBER နဲ့ dedupe လုပ်ပါ။ (5) \copy ကို line ခွဲရေးရင် parse error။ (6) -U postgres မထည့်ရင် Mac username နဲ့ login ဝင်လို့ password fail ဖြစ်ပါတယ်။</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E"/>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8229600" cy="274320"/>
          </a:xfrm>
          <a:prstGeom prst="rect">
            <a:avLst/>
          </a:prstGeom>
          <a:noFill/>
          <a:ln/>
        </p:spPr>
        <p:txBody>
          <a:bodyPr wrap="square" lIns="0" tIns="0" rIns="0" bIns="0" rtlCol="0" anchor="t"/>
          <a:lstStyle/>
          <a:p>
            <a:pPr marL="0" indent="0">
              <a:buNone/>
            </a:pPr>
            <a:r>
              <a:rPr lang="en-US" sz="1300" b="1" kern="0" spc="300" dirty="0">
                <a:solidFill>
                  <a:srgbClr val="F4A259"/>
                </a:solidFill>
                <a:latin typeface="Calibri" pitchFamily="34" charset="0"/>
                <a:ea typeface="Calibri" pitchFamily="34" charset="-122"/>
                <a:cs typeface="Calibri" pitchFamily="34" charset="-120"/>
              </a:rPr>
              <a:t>DATA ENGINEERING FUNDAMENTALS</a:t>
            </a:r>
            <a:endParaRPr lang="en-US" sz="1300" dirty="0"/>
          </a:p>
        </p:txBody>
      </p:sp>
      <p:sp>
        <p:nvSpPr>
          <p:cNvPr id="3" name="Text 1"/>
          <p:cNvSpPr txBox="1"/>
          <p:nvPr/>
        </p:nvSpPr>
        <p:spPr>
          <a:xfrm>
            <a:off x="457200" y="123444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UPSERT, COPY &amp; Deliverable</a:t>
            </a:r>
            <a:endParaRPr lang="en-US" sz="4000" dirty="0"/>
          </a:p>
        </p:txBody>
      </p:sp>
      <p:sp>
        <p:nvSpPr>
          <p:cNvPr id="4" name="Text 2"/>
          <p:cNvSpPr txBox="1"/>
          <p:nvPr/>
        </p:nvSpPr>
        <p:spPr>
          <a:xfrm>
            <a:off x="457200" y="2103120"/>
            <a:ext cx="8229600" cy="457200"/>
          </a:xfrm>
          <a:prstGeom prst="rect">
            <a:avLst/>
          </a:prstGeom>
          <a:noFill/>
          <a:ln/>
        </p:spPr>
        <p:txBody>
          <a:bodyPr wrap="square" lIns="0" tIns="0" rIns="0" bIns="0" rtlCol="0" anchor="t"/>
          <a:lstStyle/>
          <a:p>
            <a:pPr marL="0" indent="0">
              <a:buNone/>
            </a:pPr>
            <a:r>
              <a:rPr lang="en-US" sz="2200" dirty="0">
                <a:solidFill>
                  <a:srgbClr val="B8C7D1"/>
                </a:solidFill>
                <a:latin typeface="Calibri" pitchFamily="34" charset="0"/>
                <a:ea typeface="Calibri" pitchFamily="34" charset="-122"/>
                <a:cs typeface="Calibri" pitchFamily="34" charset="-120"/>
              </a:rPr>
              <a:t>Week 4  ·  Day 2</a:t>
            </a:r>
            <a:endParaRPr lang="en-US" sz="2200" dirty="0"/>
          </a:p>
        </p:txBody>
      </p:sp>
      <p:sp>
        <p:nvSpPr>
          <p:cNvPr id="5" name="Text 3"/>
          <p:cNvSpPr txBox="1"/>
          <p:nvPr/>
        </p:nvSpPr>
        <p:spPr>
          <a:xfrm>
            <a:off x="457200" y="3017520"/>
            <a:ext cx="5943600" cy="640080"/>
          </a:xfrm>
          <a:prstGeom prst="rect">
            <a:avLst/>
          </a:prstGeom>
          <a:noFill/>
          <a:ln/>
        </p:spPr>
        <p:txBody>
          <a:bodyPr wrap="square" lIns="0" tIns="0" rIns="0" bIns="0" rtlCol="0" anchor="t"/>
          <a:lstStyle/>
          <a:p>
            <a:pPr marL="0" indent="0">
              <a:buNone/>
            </a:pPr>
            <a:r>
              <a:rPr lang="en-US" sz="1500" dirty="0">
                <a:solidFill>
                  <a:srgbClr val="B8C7D1"/>
                </a:solidFill>
                <a:latin typeface="Calibri" pitchFamily="34" charset="0"/>
                <a:ea typeface="Calibri" pitchFamily="34" charset="-122"/>
                <a:cs typeface="Calibri" pitchFamily="34" charset="-120"/>
              </a:rPr>
              <a:t>Load data in bulk, make loads safe to re-run, and finish the Module 2 deliverable</a:t>
            </a:r>
            <a:endParaRPr lang="en-US" sz="1500" dirty="0"/>
          </a:p>
        </p:txBody>
      </p:sp>
      <p:sp>
        <p:nvSpPr>
          <p:cNvPr id="6" name="Shape 4"/>
          <p:cNvSpPr/>
          <p:nvPr/>
        </p:nvSpPr>
        <p:spPr>
          <a:xfrm>
            <a:off x="7223760" y="2926080"/>
            <a:ext cx="1188720" cy="1188720"/>
          </a:xfrm>
          <a:prstGeom prst="ellipse">
            <a:avLst/>
          </a:prstGeom>
          <a:solidFill>
            <a:srgbClr val="0E7C7B"/>
          </a:solidFill>
          <a:ln w="12700">
            <a:solidFill>
              <a:srgbClr val="0E7C7B"/>
            </a:solidFill>
            <a:prstDash val="solid"/>
          </a:ln>
        </p:spPr>
        <p:txBody>
          <a:bodyPr/>
          <a:lstStyle/>
          <a:p>
            <a:endParaRPr lang="en-TH"/>
          </a:p>
        </p:txBody>
      </p:sp>
      <p:pic>
        <p:nvPicPr>
          <p:cNvPr id="7" name="Image 0" descr="preencoded.png"/>
          <p:cNvPicPr>
            <a:picLocks noChangeAspect="1"/>
          </p:cNvPicPr>
          <p:nvPr/>
        </p:nvPicPr>
        <p:blipFill>
          <a:blip r:embed="rId3"/>
          <a:stretch>
            <a:fillRect/>
          </a:stretch>
        </p:blipFill>
        <p:spPr>
          <a:xfrm>
            <a:off x="7520940" y="3223260"/>
            <a:ext cx="594360" cy="594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TODAY · ABOUT 2 HOURS</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Agenda</a:t>
            </a:r>
            <a:endParaRPr lang="en-US" sz="2800" dirty="0"/>
          </a:p>
        </p:txBody>
      </p:sp>
      <p:sp>
        <p:nvSpPr>
          <p:cNvPr id="6" name="Shape 4"/>
          <p:cNvSpPr/>
          <p:nvPr/>
        </p:nvSpPr>
        <p:spPr>
          <a:xfrm>
            <a:off x="457200" y="1280160"/>
            <a:ext cx="8229600" cy="548640"/>
          </a:xfrm>
          <a:prstGeom prst="roundRect">
            <a:avLst>
              <a:gd name="adj" fmla="val 13333"/>
            </a:avLst>
          </a:prstGeom>
          <a:solidFill>
            <a:srgbClr val="F1F5F7"/>
          </a:solidFill>
          <a:ln w="12700">
            <a:solidFill>
              <a:srgbClr val="F1F5F7"/>
            </a:solidFill>
            <a:prstDash val="solid"/>
          </a:ln>
        </p:spPr>
        <p:txBody>
          <a:bodyPr/>
          <a:lstStyle/>
          <a:p>
            <a:endParaRPr lang="en-TH"/>
          </a:p>
        </p:txBody>
      </p:sp>
      <p:sp>
        <p:nvSpPr>
          <p:cNvPr id="7" name="Text 5"/>
          <p:cNvSpPr txBox="1"/>
          <p:nvPr/>
        </p:nvSpPr>
        <p:spPr>
          <a:xfrm>
            <a:off x="640080" y="1417320"/>
            <a:ext cx="1005840" cy="274320"/>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20 min</a:t>
            </a:r>
            <a:endParaRPr lang="en-US" sz="1400" dirty="0"/>
          </a:p>
        </p:txBody>
      </p:sp>
      <p:sp>
        <p:nvSpPr>
          <p:cNvPr id="8" name="Text 6"/>
          <p:cNvSpPr txBox="1"/>
          <p:nvPr/>
        </p:nvSpPr>
        <p:spPr>
          <a:xfrm>
            <a:off x="1737360" y="1417320"/>
            <a:ext cx="3474720" cy="274320"/>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Bulk loading with COPY</a:t>
            </a:r>
            <a:endParaRPr lang="en-US" sz="1600" dirty="0"/>
          </a:p>
        </p:txBody>
      </p:sp>
      <p:sp>
        <p:nvSpPr>
          <p:cNvPr id="9" name="Text 7"/>
          <p:cNvSpPr txBox="1"/>
          <p:nvPr/>
        </p:nvSpPr>
        <p:spPr>
          <a:xfrm>
            <a:off x="5303520" y="1417320"/>
            <a:ext cx="3200400" cy="274320"/>
          </a:xfrm>
          <a:prstGeom prst="rect">
            <a:avLst/>
          </a:prstGeom>
          <a:noFill/>
          <a:ln/>
        </p:spPr>
        <p:txBody>
          <a:bodyPr wrap="square" lIns="0" tIns="0" rIns="0" bIns="0" rtlCol="0" anchor="ctr"/>
          <a:lstStyle/>
          <a:p>
            <a:pPr marL="0" indent="0">
              <a:buNone/>
            </a:pPr>
            <a:r>
              <a:rPr lang="en-US" sz="1300" dirty="0">
                <a:solidFill>
                  <a:srgbClr val="5B6B77"/>
                </a:solidFill>
                <a:latin typeface="Calibri" pitchFamily="34" charset="0"/>
                <a:ea typeface="Calibri" pitchFamily="34" charset="-122"/>
                <a:cs typeface="Calibri" pitchFamily="34" charset="-120"/>
              </a:rPr>
              <a:t>COPY vs \copy, options, export</a:t>
            </a:r>
            <a:endParaRPr lang="en-US" sz="1300" dirty="0"/>
          </a:p>
        </p:txBody>
      </p:sp>
      <p:sp>
        <p:nvSpPr>
          <p:cNvPr id="10" name="Shape 8"/>
          <p:cNvSpPr/>
          <p:nvPr/>
        </p:nvSpPr>
        <p:spPr>
          <a:xfrm>
            <a:off x="457200" y="1938528"/>
            <a:ext cx="8229600" cy="548640"/>
          </a:xfrm>
          <a:prstGeom prst="roundRect">
            <a:avLst>
              <a:gd name="adj" fmla="val 13333"/>
            </a:avLst>
          </a:prstGeom>
          <a:solidFill>
            <a:srgbClr val="F1F5F7"/>
          </a:solidFill>
          <a:ln w="12700">
            <a:solidFill>
              <a:srgbClr val="F1F5F7"/>
            </a:solidFill>
            <a:prstDash val="solid"/>
          </a:ln>
        </p:spPr>
        <p:txBody>
          <a:bodyPr/>
          <a:lstStyle/>
          <a:p>
            <a:endParaRPr lang="en-TH"/>
          </a:p>
        </p:txBody>
      </p:sp>
      <p:sp>
        <p:nvSpPr>
          <p:cNvPr id="11" name="Text 9"/>
          <p:cNvSpPr txBox="1"/>
          <p:nvPr/>
        </p:nvSpPr>
        <p:spPr>
          <a:xfrm>
            <a:off x="640080" y="2075688"/>
            <a:ext cx="1005840" cy="274320"/>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25 min</a:t>
            </a:r>
            <a:endParaRPr lang="en-US" sz="1400" dirty="0"/>
          </a:p>
        </p:txBody>
      </p:sp>
      <p:sp>
        <p:nvSpPr>
          <p:cNvPr id="12" name="Text 10"/>
          <p:cNvSpPr txBox="1"/>
          <p:nvPr/>
        </p:nvSpPr>
        <p:spPr>
          <a:xfrm>
            <a:off x="1737360" y="2075688"/>
            <a:ext cx="3474720" cy="274320"/>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UPSERT with ON CONFLICT</a:t>
            </a:r>
            <a:endParaRPr lang="en-US" sz="1600" dirty="0"/>
          </a:p>
        </p:txBody>
      </p:sp>
      <p:sp>
        <p:nvSpPr>
          <p:cNvPr id="13" name="Text 11"/>
          <p:cNvSpPr txBox="1"/>
          <p:nvPr/>
        </p:nvSpPr>
        <p:spPr>
          <a:xfrm>
            <a:off x="5303520" y="2075688"/>
            <a:ext cx="3200400" cy="274320"/>
          </a:xfrm>
          <a:prstGeom prst="rect">
            <a:avLst/>
          </a:prstGeom>
          <a:noFill/>
          <a:ln/>
        </p:spPr>
        <p:txBody>
          <a:bodyPr wrap="square" lIns="0" tIns="0" rIns="0" bIns="0" rtlCol="0" anchor="ctr"/>
          <a:lstStyle/>
          <a:p>
            <a:pPr marL="0" indent="0">
              <a:buNone/>
            </a:pPr>
            <a:r>
              <a:rPr lang="en-US" sz="1300" dirty="0">
                <a:solidFill>
                  <a:srgbClr val="5B6B77"/>
                </a:solidFill>
                <a:latin typeface="Calibri" pitchFamily="34" charset="0"/>
                <a:ea typeface="Calibri" pitchFamily="34" charset="-122"/>
                <a:cs typeface="Calibri" pitchFamily="34" charset="-120"/>
              </a:rPr>
              <a:t>DO NOTHING, DO UPDATE, EXCLUDED</a:t>
            </a:r>
            <a:endParaRPr lang="en-US" sz="1300" dirty="0"/>
          </a:p>
        </p:txBody>
      </p:sp>
      <p:sp>
        <p:nvSpPr>
          <p:cNvPr id="14" name="Shape 12"/>
          <p:cNvSpPr/>
          <p:nvPr/>
        </p:nvSpPr>
        <p:spPr>
          <a:xfrm>
            <a:off x="457200" y="2596896"/>
            <a:ext cx="8229600" cy="548640"/>
          </a:xfrm>
          <a:prstGeom prst="roundRect">
            <a:avLst>
              <a:gd name="adj" fmla="val 13333"/>
            </a:avLst>
          </a:prstGeom>
          <a:solidFill>
            <a:srgbClr val="F1F5F7"/>
          </a:solidFill>
          <a:ln w="12700">
            <a:solidFill>
              <a:srgbClr val="F1F5F7"/>
            </a:solidFill>
            <a:prstDash val="solid"/>
          </a:ln>
        </p:spPr>
        <p:txBody>
          <a:bodyPr/>
          <a:lstStyle/>
          <a:p>
            <a:endParaRPr lang="en-TH"/>
          </a:p>
        </p:txBody>
      </p:sp>
      <p:sp>
        <p:nvSpPr>
          <p:cNvPr id="15" name="Text 13"/>
          <p:cNvSpPr txBox="1"/>
          <p:nvPr/>
        </p:nvSpPr>
        <p:spPr>
          <a:xfrm>
            <a:off x="640080" y="2734056"/>
            <a:ext cx="1005840" cy="274320"/>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25 min</a:t>
            </a:r>
            <a:endParaRPr lang="en-US" sz="1400" dirty="0"/>
          </a:p>
        </p:txBody>
      </p:sp>
      <p:sp>
        <p:nvSpPr>
          <p:cNvPr id="16" name="Text 14"/>
          <p:cNvSpPr txBox="1"/>
          <p:nvPr/>
        </p:nvSpPr>
        <p:spPr>
          <a:xfrm>
            <a:off x="1737360" y="2734056"/>
            <a:ext cx="3474720" cy="274320"/>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The staging → upsert pattern</a:t>
            </a:r>
            <a:endParaRPr lang="en-US" sz="1600" dirty="0"/>
          </a:p>
        </p:txBody>
      </p:sp>
      <p:sp>
        <p:nvSpPr>
          <p:cNvPr id="17" name="Text 15"/>
          <p:cNvSpPr txBox="1"/>
          <p:nvPr/>
        </p:nvSpPr>
        <p:spPr>
          <a:xfrm>
            <a:off x="5303520" y="2734056"/>
            <a:ext cx="3200400" cy="274320"/>
          </a:xfrm>
          <a:prstGeom prst="rect">
            <a:avLst/>
          </a:prstGeom>
          <a:noFill/>
          <a:ln/>
        </p:spPr>
        <p:txBody>
          <a:bodyPr wrap="square" lIns="0" tIns="0" rIns="0" bIns="0" rtlCol="0" anchor="ctr"/>
          <a:lstStyle/>
          <a:p>
            <a:pPr marL="0" indent="0">
              <a:buNone/>
            </a:pPr>
            <a:r>
              <a:rPr lang="en-US" sz="1300" dirty="0">
                <a:solidFill>
                  <a:srgbClr val="5B6B77"/>
                </a:solidFill>
                <a:latin typeface="Calibri" pitchFamily="34" charset="0"/>
                <a:ea typeface="Calibri" pitchFamily="34" charset="-122"/>
                <a:cs typeface="Calibri" pitchFamily="34" charset="-120"/>
              </a:rPr>
              <a:t>Live demo: run the load twice</a:t>
            </a:r>
            <a:endParaRPr lang="en-US" sz="1300" dirty="0"/>
          </a:p>
        </p:txBody>
      </p:sp>
      <p:sp>
        <p:nvSpPr>
          <p:cNvPr id="18" name="Shape 16"/>
          <p:cNvSpPr/>
          <p:nvPr/>
        </p:nvSpPr>
        <p:spPr>
          <a:xfrm>
            <a:off x="457200" y="3255264"/>
            <a:ext cx="8229600" cy="548640"/>
          </a:xfrm>
          <a:prstGeom prst="roundRect">
            <a:avLst>
              <a:gd name="adj" fmla="val 13333"/>
            </a:avLst>
          </a:prstGeom>
          <a:solidFill>
            <a:srgbClr val="FDEBD8"/>
          </a:solidFill>
          <a:ln w="12700">
            <a:solidFill>
              <a:srgbClr val="FDEBD8"/>
            </a:solidFill>
            <a:prstDash val="solid"/>
          </a:ln>
        </p:spPr>
        <p:txBody>
          <a:bodyPr/>
          <a:lstStyle/>
          <a:p>
            <a:endParaRPr lang="en-TH"/>
          </a:p>
        </p:txBody>
      </p:sp>
      <p:sp>
        <p:nvSpPr>
          <p:cNvPr id="19" name="Text 17"/>
          <p:cNvSpPr txBox="1"/>
          <p:nvPr/>
        </p:nvSpPr>
        <p:spPr>
          <a:xfrm>
            <a:off x="640080" y="3392424"/>
            <a:ext cx="1005840" cy="274320"/>
          </a:xfrm>
          <a:prstGeom prst="rect">
            <a:avLst/>
          </a:prstGeom>
          <a:noFill/>
          <a:ln/>
        </p:spPr>
        <p:txBody>
          <a:bodyPr wrap="square" lIns="0" tIns="0" rIns="0" bIns="0" rtlCol="0" anchor="ctr"/>
          <a:lstStyle/>
          <a:p>
            <a:pPr marL="0" indent="0">
              <a:buNone/>
            </a:pPr>
            <a:r>
              <a:rPr lang="en-US" sz="1400" b="1" dirty="0">
                <a:solidFill>
                  <a:srgbClr val="B5651D"/>
                </a:solidFill>
                <a:latin typeface="Calibri" pitchFamily="34" charset="0"/>
                <a:ea typeface="Calibri" pitchFamily="34" charset="-122"/>
                <a:cs typeface="Calibri" pitchFamily="34" charset="-120"/>
              </a:rPr>
              <a:t>45 min</a:t>
            </a:r>
            <a:endParaRPr lang="en-US" sz="1400" dirty="0"/>
          </a:p>
        </p:txBody>
      </p:sp>
      <p:sp>
        <p:nvSpPr>
          <p:cNvPr id="20" name="Text 18"/>
          <p:cNvSpPr txBox="1"/>
          <p:nvPr/>
        </p:nvSpPr>
        <p:spPr>
          <a:xfrm>
            <a:off x="1737360" y="3392424"/>
            <a:ext cx="3474720" cy="274320"/>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Deliverable workshop</a:t>
            </a:r>
            <a:endParaRPr lang="en-US" sz="1600" dirty="0"/>
          </a:p>
        </p:txBody>
      </p:sp>
      <p:sp>
        <p:nvSpPr>
          <p:cNvPr id="21" name="Text 19"/>
          <p:cNvSpPr txBox="1"/>
          <p:nvPr/>
        </p:nvSpPr>
        <p:spPr>
          <a:xfrm>
            <a:off x="5303520" y="3392424"/>
            <a:ext cx="3200400" cy="274320"/>
          </a:xfrm>
          <a:prstGeom prst="rect">
            <a:avLst/>
          </a:prstGeom>
          <a:noFill/>
          <a:ln/>
        </p:spPr>
        <p:txBody>
          <a:bodyPr wrap="square" lIns="0" tIns="0" rIns="0" bIns="0" rtlCol="0" anchor="ctr"/>
          <a:lstStyle/>
          <a:p>
            <a:pPr marL="0" indent="0">
              <a:buNone/>
            </a:pPr>
            <a:r>
              <a:rPr lang="en-US" sz="1300" dirty="0">
                <a:solidFill>
                  <a:srgbClr val="5B6B77"/>
                </a:solidFill>
                <a:latin typeface="Calibri" pitchFamily="34" charset="0"/>
                <a:ea typeface="Calibri" pitchFamily="34" charset="-122"/>
                <a:cs typeface="Calibri" pitchFamily="34" charset="-120"/>
              </a:rPr>
              <a:t>Finish, review and commit 8–10 queries</a:t>
            </a:r>
            <a:endParaRPr lang="en-US" sz="1300" dirty="0"/>
          </a:p>
        </p:txBody>
      </p:sp>
      <p:sp>
        <p:nvSpPr>
          <p:cNvPr id="22" name="Shape 20"/>
          <p:cNvSpPr/>
          <p:nvPr/>
        </p:nvSpPr>
        <p:spPr>
          <a:xfrm>
            <a:off x="457200" y="3913632"/>
            <a:ext cx="8229600" cy="548640"/>
          </a:xfrm>
          <a:prstGeom prst="roundRect">
            <a:avLst>
              <a:gd name="adj" fmla="val 13333"/>
            </a:avLst>
          </a:prstGeom>
          <a:solidFill>
            <a:srgbClr val="F1F5F7"/>
          </a:solidFill>
          <a:ln w="12700">
            <a:solidFill>
              <a:srgbClr val="F1F5F7"/>
            </a:solidFill>
            <a:prstDash val="solid"/>
          </a:ln>
        </p:spPr>
        <p:txBody>
          <a:bodyPr/>
          <a:lstStyle/>
          <a:p>
            <a:endParaRPr lang="en-TH"/>
          </a:p>
        </p:txBody>
      </p:sp>
      <p:sp>
        <p:nvSpPr>
          <p:cNvPr id="23" name="Text 21"/>
          <p:cNvSpPr txBox="1"/>
          <p:nvPr/>
        </p:nvSpPr>
        <p:spPr>
          <a:xfrm>
            <a:off x="640080" y="4050792"/>
            <a:ext cx="1005840" cy="274320"/>
          </a:xfrm>
          <a:prstGeom prst="rect">
            <a:avLst/>
          </a:prstGeom>
          <a:noFill/>
          <a:ln/>
        </p:spPr>
        <p:txBody>
          <a:bodyPr wrap="square" lIns="0" tIns="0" rIns="0" bIns="0"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5 min</a:t>
            </a:r>
            <a:endParaRPr lang="en-US" sz="1400" dirty="0"/>
          </a:p>
        </p:txBody>
      </p:sp>
      <p:sp>
        <p:nvSpPr>
          <p:cNvPr id="24" name="Text 22"/>
          <p:cNvSpPr txBox="1"/>
          <p:nvPr/>
        </p:nvSpPr>
        <p:spPr>
          <a:xfrm>
            <a:off x="1737360" y="4050792"/>
            <a:ext cx="3474720" cy="274320"/>
          </a:xfrm>
          <a:prstGeom prst="rect">
            <a:avLst/>
          </a:prstGeom>
          <a:noFill/>
          <a:ln/>
        </p:spPr>
        <p:txBody>
          <a:bodyPr wrap="square" lIns="0" tIns="0" rIns="0" bIns="0"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Module wrap-up</a:t>
            </a:r>
            <a:endParaRPr lang="en-US" sz="1600" dirty="0"/>
          </a:p>
        </p:txBody>
      </p:sp>
      <p:sp>
        <p:nvSpPr>
          <p:cNvPr id="25" name="Text 23"/>
          <p:cNvSpPr txBox="1"/>
          <p:nvPr/>
        </p:nvSpPr>
        <p:spPr>
          <a:xfrm>
            <a:off x="5303520" y="4050792"/>
            <a:ext cx="3200400" cy="274320"/>
          </a:xfrm>
          <a:prstGeom prst="rect">
            <a:avLst/>
          </a:prstGeom>
          <a:noFill/>
          <a:ln/>
        </p:spPr>
        <p:txBody>
          <a:bodyPr wrap="square" lIns="0" tIns="0" rIns="0" bIns="0" rtlCol="0" anchor="ctr"/>
          <a:lstStyle/>
          <a:p>
            <a:pPr marL="0" indent="0">
              <a:buNone/>
            </a:pPr>
            <a:r>
              <a:rPr lang="en-US" sz="1300" dirty="0">
                <a:solidFill>
                  <a:srgbClr val="5B6B77"/>
                </a:solidFill>
                <a:latin typeface="Calibri" pitchFamily="34" charset="0"/>
                <a:ea typeface="Calibri" pitchFamily="34" charset="-122"/>
                <a:cs typeface="Calibri" pitchFamily="34" charset="-120"/>
              </a:rPr>
              <a:t>What's next: Python &amp; ingestion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MODULE 2 ROADMAP</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Where today fits</a:t>
            </a:r>
            <a:endParaRPr lang="en-US" sz="2800" dirty="0"/>
          </a:p>
        </p:txBody>
      </p:sp>
      <p:sp>
        <p:nvSpPr>
          <p:cNvPr id="6" name="Shape 4"/>
          <p:cNvSpPr/>
          <p:nvPr/>
        </p:nvSpPr>
        <p:spPr>
          <a:xfrm>
            <a:off x="457200" y="1325880"/>
            <a:ext cx="1082040" cy="2148840"/>
          </a:xfrm>
          <a:prstGeom prst="roundRect">
            <a:avLst>
              <a:gd name="adj" fmla="val 6761"/>
            </a:avLst>
          </a:prstGeom>
          <a:solidFill>
            <a:srgbClr val="F1F5F7"/>
          </a:solidFill>
          <a:ln w="12700">
            <a:solidFill>
              <a:srgbClr val="F1F5F7"/>
            </a:solidFill>
            <a:prstDash val="solid"/>
          </a:ln>
        </p:spPr>
        <p:txBody>
          <a:bodyPr/>
          <a:lstStyle/>
          <a:p>
            <a:endParaRPr lang="en-TH"/>
          </a:p>
        </p:txBody>
      </p:sp>
      <p:sp>
        <p:nvSpPr>
          <p:cNvPr id="7" name="Shape 5"/>
          <p:cNvSpPr/>
          <p:nvPr/>
        </p:nvSpPr>
        <p:spPr>
          <a:xfrm>
            <a:off x="742188" y="1490472"/>
            <a:ext cx="512064" cy="512064"/>
          </a:xfrm>
          <a:prstGeom prst="ellipse">
            <a:avLst/>
          </a:prstGeom>
          <a:solidFill>
            <a:srgbClr val="5B6B77"/>
          </a:solidFill>
          <a:ln w="12700">
            <a:solidFill>
              <a:srgbClr val="5B6B77"/>
            </a:solidFill>
            <a:prstDash val="solid"/>
          </a:ln>
        </p:spPr>
        <p:txBody>
          <a:bodyPr/>
          <a:lstStyle/>
          <a:p>
            <a:endParaRPr lang="en-TH"/>
          </a:p>
        </p:txBody>
      </p:sp>
      <p:pic>
        <p:nvPicPr>
          <p:cNvPr id="8" name="Image 0" descr="preencoded.png"/>
          <p:cNvPicPr>
            <a:picLocks noChangeAspect="1"/>
          </p:cNvPicPr>
          <p:nvPr/>
        </p:nvPicPr>
        <p:blipFill>
          <a:blip r:embed="rId3"/>
          <a:stretch>
            <a:fillRect/>
          </a:stretch>
        </p:blipFill>
        <p:spPr>
          <a:xfrm>
            <a:off x="870204" y="1618488"/>
            <a:ext cx="256032" cy="256032"/>
          </a:xfrm>
          <a:prstGeom prst="rect">
            <a:avLst/>
          </a:prstGeom>
        </p:spPr>
      </p:pic>
      <p:sp>
        <p:nvSpPr>
          <p:cNvPr id="9" name="Text 6"/>
          <p:cNvSpPr txBox="1"/>
          <p:nvPr/>
        </p:nvSpPr>
        <p:spPr>
          <a:xfrm>
            <a:off x="502920"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W2 · D1</a:t>
            </a:r>
            <a:endParaRPr lang="en-US" sz="1300" dirty="0"/>
          </a:p>
        </p:txBody>
      </p:sp>
      <p:sp>
        <p:nvSpPr>
          <p:cNvPr id="10" name="Text 7"/>
          <p:cNvSpPr txBox="1"/>
          <p:nvPr/>
        </p:nvSpPr>
        <p:spPr>
          <a:xfrm>
            <a:off x="530352"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SELECT, filter, sort, GROUP BY / HAVING</a:t>
            </a:r>
            <a:endParaRPr lang="en-US" sz="1050" dirty="0"/>
          </a:p>
        </p:txBody>
      </p:sp>
      <p:sp>
        <p:nvSpPr>
          <p:cNvPr id="11" name="Shape 8"/>
          <p:cNvSpPr/>
          <p:nvPr/>
        </p:nvSpPr>
        <p:spPr>
          <a:xfrm>
            <a:off x="1612392" y="2240280"/>
            <a:ext cx="201168" cy="274320"/>
          </a:xfrm>
          <a:prstGeom prst="rightArrow">
            <a:avLst/>
          </a:prstGeom>
          <a:solidFill>
            <a:srgbClr val="F4A259"/>
          </a:solidFill>
          <a:ln w="12700">
            <a:solidFill>
              <a:srgbClr val="F4A259"/>
            </a:solidFill>
            <a:prstDash val="solid"/>
          </a:ln>
        </p:spPr>
        <p:txBody>
          <a:bodyPr/>
          <a:lstStyle/>
          <a:p>
            <a:endParaRPr lang="en-TH"/>
          </a:p>
        </p:txBody>
      </p:sp>
      <p:sp>
        <p:nvSpPr>
          <p:cNvPr id="12" name="Shape 9"/>
          <p:cNvSpPr/>
          <p:nvPr/>
        </p:nvSpPr>
        <p:spPr>
          <a:xfrm>
            <a:off x="1886712" y="1325880"/>
            <a:ext cx="1082040" cy="2148840"/>
          </a:xfrm>
          <a:prstGeom prst="roundRect">
            <a:avLst>
              <a:gd name="adj" fmla="val 6761"/>
            </a:avLst>
          </a:prstGeom>
          <a:solidFill>
            <a:srgbClr val="F1F5F7"/>
          </a:solidFill>
          <a:ln w="12700">
            <a:solidFill>
              <a:srgbClr val="F1F5F7"/>
            </a:solidFill>
            <a:prstDash val="solid"/>
          </a:ln>
        </p:spPr>
        <p:txBody>
          <a:bodyPr/>
          <a:lstStyle/>
          <a:p>
            <a:endParaRPr lang="en-TH"/>
          </a:p>
        </p:txBody>
      </p:sp>
      <p:sp>
        <p:nvSpPr>
          <p:cNvPr id="13" name="Shape 10"/>
          <p:cNvSpPr/>
          <p:nvPr/>
        </p:nvSpPr>
        <p:spPr>
          <a:xfrm>
            <a:off x="2171700" y="1490472"/>
            <a:ext cx="512064" cy="512064"/>
          </a:xfrm>
          <a:prstGeom prst="ellipse">
            <a:avLst/>
          </a:prstGeom>
          <a:solidFill>
            <a:srgbClr val="5B6B77"/>
          </a:solidFill>
          <a:ln w="12700">
            <a:solidFill>
              <a:srgbClr val="5B6B77"/>
            </a:solidFill>
            <a:prstDash val="solid"/>
          </a:ln>
        </p:spPr>
        <p:txBody>
          <a:bodyPr/>
          <a:lstStyle/>
          <a:p>
            <a:endParaRPr lang="en-TH"/>
          </a:p>
        </p:txBody>
      </p:sp>
      <p:pic>
        <p:nvPicPr>
          <p:cNvPr id="14" name="Image 1" descr="preencoded.png"/>
          <p:cNvPicPr>
            <a:picLocks noChangeAspect="1"/>
          </p:cNvPicPr>
          <p:nvPr/>
        </p:nvPicPr>
        <p:blipFill>
          <a:blip r:embed="rId4"/>
          <a:stretch>
            <a:fillRect/>
          </a:stretch>
        </p:blipFill>
        <p:spPr>
          <a:xfrm>
            <a:off x="2299716" y="1618488"/>
            <a:ext cx="256032" cy="256032"/>
          </a:xfrm>
          <a:prstGeom prst="rect">
            <a:avLst/>
          </a:prstGeom>
        </p:spPr>
      </p:pic>
      <p:sp>
        <p:nvSpPr>
          <p:cNvPr id="15" name="Text 11"/>
          <p:cNvSpPr txBox="1"/>
          <p:nvPr/>
        </p:nvSpPr>
        <p:spPr>
          <a:xfrm>
            <a:off x="1932432"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W2 · D2</a:t>
            </a:r>
            <a:endParaRPr lang="en-US" sz="1300" dirty="0"/>
          </a:p>
        </p:txBody>
      </p:sp>
      <p:sp>
        <p:nvSpPr>
          <p:cNvPr id="16" name="Text 12"/>
          <p:cNvSpPr txBox="1"/>
          <p:nvPr/>
        </p:nvSpPr>
        <p:spPr>
          <a:xfrm>
            <a:off x="1959864"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Joins &amp; row multiplication</a:t>
            </a:r>
            <a:endParaRPr lang="en-US" sz="1050" dirty="0"/>
          </a:p>
        </p:txBody>
      </p:sp>
      <p:sp>
        <p:nvSpPr>
          <p:cNvPr id="17" name="Shape 13"/>
          <p:cNvSpPr/>
          <p:nvPr/>
        </p:nvSpPr>
        <p:spPr>
          <a:xfrm>
            <a:off x="3041904" y="2240280"/>
            <a:ext cx="201168" cy="274320"/>
          </a:xfrm>
          <a:prstGeom prst="rightArrow">
            <a:avLst/>
          </a:prstGeom>
          <a:solidFill>
            <a:srgbClr val="F4A259"/>
          </a:solidFill>
          <a:ln w="12700">
            <a:solidFill>
              <a:srgbClr val="F4A259"/>
            </a:solidFill>
            <a:prstDash val="solid"/>
          </a:ln>
        </p:spPr>
        <p:txBody>
          <a:bodyPr/>
          <a:lstStyle/>
          <a:p>
            <a:endParaRPr lang="en-TH"/>
          </a:p>
        </p:txBody>
      </p:sp>
      <p:sp>
        <p:nvSpPr>
          <p:cNvPr id="18" name="Shape 14"/>
          <p:cNvSpPr/>
          <p:nvPr/>
        </p:nvSpPr>
        <p:spPr>
          <a:xfrm>
            <a:off x="3316224" y="1325880"/>
            <a:ext cx="1082040" cy="2148840"/>
          </a:xfrm>
          <a:prstGeom prst="roundRect">
            <a:avLst>
              <a:gd name="adj" fmla="val 6761"/>
            </a:avLst>
          </a:prstGeom>
          <a:solidFill>
            <a:srgbClr val="F1F5F7"/>
          </a:solidFill>
          <a:ln w="12700">
            <a:solidFill>
              <a:srgbClr val="F1F5F7"/>
            </a:solidFill>
            <a:prstDash val="solid"/>
          </a:ln>
        </p:spPr>
        <p:txBody>
          <a:bodyPr/>
          <a:lstStyle/>
          <a:p>
            <a:endParaRPr lang="en-TH"/>
          </a:p>
        </p:txBody>
      </p:sp>
      <p:sp>
        <p:nvSpPr>
          <p:cNvPr id="19" name="Shape 15"/>
          <p:cNvSpPr/>
          <p:nvPr/>
        </p:nvSpPr>
        <p:spPr>
          <a:xfrm>
            <a:off x="3601212" y="1490472"/>
            <a:ext cx="512064" cy="512064"/>
          </a:xfrm>
          <a:prstGeom prst="ellipse">
            <a:avLst/>
          </a:prstGeom>
          <a:solidFill>
            <a:srgbClr val="5B6B77"/>
          </a:solidFill>
          <a:ln w="12700">
            <a:solidFill>
              <a:srgbClr val="5B6B77"/>
            </a:solidFill>
            <a:prstDash val="solid"/>
          </a:ln>
        </p:spPr>
        <p:txBody>
          <a:bodyPr/>
          <a:lstStyle/>
          <a:p>
            <a:endParaRPr lang="en-TH"/>
          </a:p>
        </p:txBody>
      </p:sp>
      <p:pic>
        <p:nvPicPr>
          <p:cNvPr id="20" name="Image 2" descr="preencoded.png"/>
          <p:cNvPicPr>
            <a:picLocks noChangeAspect="1"/>
          </p:cNvPicPr>
          <p:nvPr/>
        </p:nvPicPr>
        <p:blipFill>
          <a:blip r:embed="rId5"/>
          <a:stretch>
            <a:fillRect/>
          </a:stretch>
        </p:blipFill>
        <p:spPr>
          <a:xfrm>
            <a:off x="3729228" y="1618488"/>
            <a:ext cx="256032" cy="256032"/>
          </a:xfrm>
          <a:prstGeom prst="rect">
            <a:avLst/>
          </a:prstGeom>
        </p:spPr>
      </p:pic>
      <p:sp>
        <p:nvSpPr>
          <p:cNvPr id="21" name="Text 16"/>
          <p:cNvSpPr txBox="1"/>
          <p:nvPr/>
        </p:nvSpPr>
        <p:spPr>
          <a:xfrm>
            <a:off x="3361944"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W3 · D1</a:t>
            </a:r>
            <a:endParaRPr lang="en-US" sz="1300" dirty="0"/>
          </a:p>
        </p:txBody>
      </p:sp>
      <p:sp>
        <p:nvSpPr>
          <p:cNvPr id="22" name="Text 17"/>
          <p:cNvSpPr txBox="1"/>
          <p:nvPr/>
        </p:nvSpPr>
        <p:spPr>
          <a:xfrm>
            <a:off x="3389376"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Subqueries &amp; CTEs</a:t>
            </a:r>
            <a:endParaRPr lang="en-US" sz="1050" dirty="0"/>
          </a:p>
        </p:txBody>
      </p:sp>
      <p:sp>
        <p:nvSpPr>
          <p:cNvPr id="23" name="Shape 18"/>
          <p:cNvSpPr/>
          <p:nvPr/>
        </p:nvSpPr>
        <p:spPr>
          <a:xfrm>
            <a:off x="4471416" y="2240280"/>
            <a:ext cx="201168" cy="274320"/>
          </a:xfrm>
          <a:prstGeom prst="rightArrow">
            <a:avLst/>
          </a:prstGeom>
          <a:solidFill>
            <a:srgbClr val="F4A259"/>
          </a:solidFill>
          <a:ln w="12700">
            <a:solidFill>
              <a:srgbClr val="F4A259"/>
            </a:solidFill>
            <a:prstDash val="solid"/>
          </a:ln>
        </p:spPr>
        <p:txBody>
          <a:bodyPr/>
          <a:lstStyle/>
          <a:p>
            <a:endParaRPr lang="en-TH"/>
          </a:p>
        </p:txBody>
      </p:sp>
      <p:sp>
        <p:nvSpPr>
          <p:cNvPr id="24" name="Shape 19"/>
          <p:cNvSpPr/>
          <p:nvPr/>
        </p:nvSpPr>
        <p:spPr>
          <a:xfrm>
            <a:off x="4745736" y="1325880"/>
            <a:ext cx="1082040" cy="2148840"/>
          </a:xfrm>
          <a:prstGeom prst="roundRect">
            <a:avLst>
              <a:gd name="adj" fmla="val 6761"/>
            </a:avLst>
          </a:prstGeom>
          <a:solidFill>
            <a:srgbClr val="F1F5F7"/>
          </a:solidFill>
          <a:ln w="12700">
            <a:solidFill>
              <a:srgbClr val="F1F5F7"/>
            </a:solidFill>
            <a:prstDash val="solid"/>
          </a:ln>
        </p:spPr>
        <p:txBody>
          <a:bodyPr/>
          <a:lstStyle/>
          <a:p>
            <a:endParaRPr lang="en-TH"/>
          </a:p>
        </p:txBody>
      </p:sp>
      <p:sp>
        <p:nvSpPr>
          <p:cNvPr id="25" name="Shape 20"/>
          <p:cNvSpPr/>
          <p:nvPr/>
        </p:nvSpPr>
        <p:spPr>
          <a:xfrm>
            <a:off x="5030724" y="1490472"/>
            <a:ext cx="512064" cy="512064"/>
          </a:xfrm>
          <a:prstGeom prst="ellipse">
            <a:avLst/>
          </a:prstGeom>
          <a:solidFill>
            <a:srgbClr val="5B6B77"/>
          </a:solidFill>
          <a:ln w="12700">
            <a:solidFill>
              <a:srgbClr val="5B6B77"/>
            </a:solidFill>
            <a:prstDash val="solid"/>
          </a:ln>
        </p:spPr>
        <p:txBody>
          <a:bodyPr/>
          <a:lstStyle/>
          <a:p>
            <a:endParaRPr lang="en-TH"/>
          </a:p>
        </p:txBody>
      </p:sp>
      <p:pic>
        <p:nvPicPr>
          <p:cNvPr id="26" name="Image 3" descr="preencoded.png"/>
          <p:cNvPicPr>
            <a:picLocks noChangeAspect="1"/>
          </p:cNvPicPr>
          <p:nvPr/>
        </p:nvPicPr>
        <p:blipFill>
          <a:blip r:embed="rId6"/>
          <a:stretch>
            <a:fillRect/>
          </a:stretch>
        </p:blipFill>
        <p:spPr>
          <a:xfrm>
            <a:off x="5158740" y="1618488"/>
            <a:ext cx="256032" cy="256032"/>
          </a:xfrm>
          <a:prstGeom prst="rect">
            <a:avLst/>
          </a:prstGeom>
        </p:spPr>
      </p:pic>
      <p:sp>
        <p:nvSpPr>
          <p:cNvPr id="27" name="Text 21"/>
          <p:cNvSpPr txBox="1"/>
          <p:nvPr/>
        </p:nvSpPr>
        <p:spPr>
          <a:xfrm>
            <a:off x="4791456"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W3 · D2</a:t>
            </a:r>
            <a:endParaRPr lang="en-US" sz="1300" dirty="0"/>
          </a:p>
        </p:txBody>
      </p:sp>
      <p:sp>
        <p:nvSpPr>
          <p:cNvPr id="28" name="Text 22"/>
          <p:cNvSpPr txBox="1"/>
          <p:nvPr/>
        </p:nvSpPr>
        <p:spPr>
          <a:xfrm>
            <a:off x="4818888"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Types, NULLs, dates, strings</a:t>
            </a:r>
            <a:endParaRPr lang="en-US" sz="1050" dirty="0"/>
          </a:p>
        </p:txBody>
      </p:sp>
      <p:sp>
        <p:nvSpPr>
          <p:cNvPr id="29" name="Shape 23"/>
          <p:cNvSpPr/>
          <p:nvPr/>
        </p:nvSpPr>
        <p:spPr>
          <a:xfrm>
            <a:off x="5900928" y="2240280"/>
            <a:ext cx="201168" cy="274320"/>
          </a:xfrm>
          <a:prstGeom prst="rightArrow">
            <a:avLst/>
          </a:prstGeom>
          <a:solidFill>
            <a:srgbClr val="F4A259"/>
          </a:solidFill>
          <a:ln w="12700">
            <a:solidFill>
              <a:srgbClr val="F4A259"/>
            </a:solidFill>
            <a:prstDash val="solid"/>
          </a:ln>
        </p:spPr>
        <p:txBody>
          <a:bodyPr/>
          <a:lstStyle/>
          <a:p>
            <a:endParaRPr lang="en-TH"/>
          </a:p>
        </p:txBody>
      </p:sp>
      <p:sp>
        <p:nvSpPr>
          <p:cNvPr id="30" name="Shape 24"/>
          <p:cNvSpPr/>
          <p:nvPr/>
        </p:nvSpPr>
        <p:spPr>
          <a:xfrm>
            <a:off x="6175248" y="1325880"/>
            <a:ext cx="1082040" cy="2148840"/>
          </a:xfrm>
          <a:prstGeom prst="roundRect">
            <a:avLst>
              <a:gd name="adj" fmla="val 6761"/>
            </a:avLst>
          </a:prstGeom>
          <a:solidFill>
            <a:srgbClr val="F1F5F7"/>
          </a:solidFill>
          <a:ln w="12700">
            <a:solidFill>
              <a:srgbClr val="F1F5F7"/>
            </a:solidFill>
            <a:prstDash val="solid"/>
          </a:ln>
        </p:spPr>
        <p:txBody>
          <a:bodyPr/>
          <a:lstStyle/>
          <a:p>
            <a:endParaRPr lang="en-TH"/>
          </a:p>
        </p:txBody>
      </p:sp>
      <p:sp>
        <p:nvSpPr>
          <p:cNvPr id="31" name="Shape 25"/>
          <p:cNvSpPr/>
          <p:nvPr/>
        </p:nvSpPr>
        <p:spPr>
          <a:xfrm>
            <a:off x="6460236" y="1490472"/>
            <a:ext cx="512064" cy="512064"/>
          </a:xfrm>
          <a:prstGeom prst="ellipse">
            <a:avLst/>
          </a:prstGeom>
          <a:solidFill>
            <a:srgbClr val="5B6B77"/>
          </a:solidFill>
          <a:ln w="12700">
            <a:solidFill>
              <a:srgbClr val="5B6B77"/>
            </a:solidFill>
            <a:prstDash val="solid"/>
          </a:ln>
        </p:spPr>
        <p:txBody>
          <a:bodyPr/>
          <a:lstStyle/>
          <a:p>
            <a:endParaRPr lang="en-TH"/>
          </a:p>
        </p:txBody>
      </p:sp>
      <p:pic>
        <p:nvPicPr>
          <p:cNvPr id="32" name="Image 4" descr="preencoded.png"/>
          <p:cNvPicPr>
            <a:picLocks noChangeAspect="1"/>
          </p:cNvPicPr>
          <p:nvPr/>
        </p:nvPicPr>
        <p:blipFill>
          <a:blip r:embed="rId7"/>
          <a:stretch>
            <a:fillRect/>
          </a:stretch>
        </p:blipFill>
        <p:spPr>
          <a:xfrm>
            <a:off x="6588252" y="1618488"/>
            <a:ext cx="256032" cy="256032"/>
          </a:xfrm>
          <a:prstGeom prst="rect">
            <a:avLst/>
          </a:prstGeom>
        </p:spPr>
      </p:pic>
      <p:sp>
        <p:nvSpPr>
          <p:cNvPr id="33" name="Text 26"/>
          <p:cNvSpPr txBox="1"/>
          <p:nvPr/>
        </p:nvSpPr>
        <p:spPr>
          <a:xfrm>
            <a:off x="6220968"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W4 · D1</a:t>
            </a:r>
            <a:endParaRPr lang="en-US" sz="1300" dirty="0"/>
          </a:p>
        </p:txBody>
      </p:sp>
      <p:sp>
        <p:nvSpPr>
          <p:cNvPr id="34" name="Text 27"/>
          <p:cNvSpPr txBox="1"/>
          <p:nvPr/>
        </p:nvSpPr>
        <p:spPr>
          <a:xfrm>
            <a:off x="6248400"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Window functions</a:t>
            </a:r>
            <a:endParaRPr lang="en-US" sz="1050" dirty="0"/>
          </a:p>
        </p:txBody>
      </p:sp>
      <p:sp>
        <p:nvSpPr>
          <p:cNvPr id="35" name="Shape 28"/>
          <p:cNvSpPr/>
          <p:nvPr/>
        </p:nvSpPr>
        <p:spPr>
          <a:xfrm>
            <a:off x="7330440" y="2240280"/>
            <a:ext cx="201168" cy="274320"/>
          </a:xfrm>
          <a:prstGeom prst="rightArrow">
            <a:avLst/>
          </a:prstGeom>
          <a:solidFill>
            <a:srgbClr val="F4A259"/>
          </a:solidFill>
          <a:ln w="12700">
            <a:solidFill>
              <a:srgbClr val="F4A259"/>
            </a:solidFill>
            <a:prstDash val="solid"/>
          </a:ln>
        </p:spPr>
        <p:txBody>
          <a:bodyPr/>
          <a:lstStyle/>
          <a:p>
            <a:endParaRPr lang="en-TH"/>
          </a:p>
        </p:txBody>
      </p:sp>
      <p:sp>
        <p:nvSpPr>
          <p:cNvPr id="36" name="Shape 29"/>
          <p:cNvSpPr/>
          <p:nvPr/>
        </p:nvSpPr>
        <p:spPr>
          <a:xfrm>
            <a:off x="7604760" y="1325880"/>
            <a:ext cx="1082040" cy="2148840"/>
          </a:xfrm>
          <a:prstGeom prst="roundRect">
            <a:avLst>
              <a:gd name="adj" fmla="val 6761"/>
            </a:avLst>
          </a:prstGeom>
          <a:solidFill>
            <a:srgbClr val="D8EEEC"/>
          </a:solidFill>
          <a:ln w="12700">
            <a:solidFill>
              <a:srgbClr val="D8EEEC"/>
            </a:solidFill>
            <a:prstDash val="solid"/>
          </a:ln>
        </p:spPr>
        <p:txBody>
          <a:bodyPr/>
          <a:lstStyle/>
          <a:p>
            <a:endParaRPr lang="en-TH"/>
          </a:p>
        </p:txBody>
      </p:sp>
      <p:sp>
        <p:nvSpPr>
          <p:cNvPr id="37" name="Shape 30"/>
          <p:cNvSpPr/>
          <p:nvPr/>
        </p:nvSpPr>
        <p:spPr>
          <a:xfrm>
            <a:off x="7889748" y="1490472"/>
            <a:ext cx="512064" cy="512064"/>
          </a:xfrm>
          <a:prstGeom prst="ellipse">
            <a:avLst/>
          </a:prstGeom>
          <a:solidFill>
            <a:srgbClr val="0E7C7B"/>
          </a:solidFill>
          <a:ln w="12700">
            <a:solidFill>
              <a:srgbClr val="0E7C7B"/>
            </a:solidFill>
            <a:prstDash val="solid"/>
          </a:ln>
        </p:spPr>
        <p:txBody>
          <a:bodyPr/>
          <a:lstStyle/>
          <a:p>
            <a:endParaRPr lang="en-TH"/>
          </a:p>
        </p:txBody>
      </p:sp>
      <p:pic>
        <p:nvPicPr>
          <p:cNvPr id="38" name="Image 5" descr="preencoded.png"/>
          <p:cNvPicPr>
            <a:picLocks noChangeAspect="1"/>
          </p:cNvPicPr>
          <p:nvPr/>
        </p:nvPicPr>
        <p:blipFill>
          <a:blip r:embed="rId8"/>
          <a:stretch>
            <a:fillRect/>
          </a:stretch>
        </p:blipFill>
        <p:spPr>
          <a:xfrm>
            <a:off x="8017764" y="1618488"/>
            <a:ext cx="256032" cy="256032"/>
          </a:xfrm>
          <a:prstGeom prst="rect">
            <a:avLst/>
          </a:prstGeom>
        </p:spPr>
      </p:pic>
      <p:sp>
        <p:nvSpPr>
          <p:cNvPr id="39" name="Text 31"/>
          <p:cNvSpPr txBox="1"/>
          <p:nvPr/>
        </p:nvSpPr>
        <p:spPr>
          <a:xfrm>
            <a:off x="7650480" y="2103120"/>
            <a:ext cx="990600" cy="36576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W4 · D2</a:t>
            </a:r>
            <a:endParaRPr lang="en-US" sz="1300" dirty="0"/>
          </a:p>
        </p:txBody>
      </p:sp>
      <p:sp>
        <p:nvSpPr>
          <p:cNvPr id="40" name="Text 32"/>
          <p:cNvSpPr txBox="1"/>
          <p:nvPr/>
        </p:nvSpPr>
        <p:spPr>
          <a:xfrm>
            <a:off x="7677912" y="2496312"/>
            <a:ext cx="935736" cy="914400"/>
          </a:xfrm>
          <a:prstGeom prst="rect">
            <a:avLst/>
          </a:prstGeom>
          <a:noFill/>
          <a:ln/>
        </p:spPr>
        <p:txBody>
          <a:bodyPr wrap="square" lIns="0" tIns="0" rIns="0" bIns="0" rtlCol="0" anchor="t"/>
          <a:lstStyle/>
          <a:p>
            <a:pPr marL="0" indent="0" algn="ctr">
              <a:buNone/>
            </a:pPr>
            <a:r>
              <a:rPr lang="en-US" sz="1050" dirty="0">
                <a:solidFill>
                  <a:srgbClr val="5B6B77"/>
                </a:solidFill>
                <a:latin typeface="Calibri" pitchFamily="34" charset="0"/>
                <a:ea typeface="Calibri" pitchFamily="34" charset="-122"/>
                <a:cs typeface="Calibri" pitchFamily="34" charset="-120"/>
              </a:rPr>
              <a:t>UPSERT, COPY &amp; deliverable</a:t>
            </a:r>
            <a:endParaRPr lang="en-US" sz="1050" dirty="0"/>
          </a:p>
        </p:txBody>
      </p:sp>
      <p:sp>
        <p:nvSpPr>
          <p:cNvPr id="41" name="Shape 33"/>
          <p:cNvSpPr/>
          <p:nvPr/>
        </p:nvSpPr>
        <p:spPr>
          <a:xfrm>
            <a:off x="457200" y="3749040"/>
            <a:ext cx="8229600" cy="685800"/>
          </a:xfrm>
          <a:prstGeom prst="roundRect">
            <a:avLst>
              <a:gd name="adj" fmla="val 10667"/>
            </a:avLst>
          </a:prstGeom>
          <a:solidFill>
            <a:srgbClr val="FDEBD8"/>
          </a:solidFill>
          <a:ln w="12700">
            <a:solidFill>
              <a:srgbClr val="FDEBD8"/>
            </a:solidFill>
            <a:prstDash val="solid"/>
          </a:ln>
        </p:spPr>
        <p:txBody>
          <a:bodyPr/>
          <a:lstStyle/>
          <a:p>
            <a:endParaRPr lang="en-TH"/>
          </a:p>
        </p:txBody>
      </p:sp>
      <p:sp>
        <p:nvSpPr>
          <p:cNvPr id="42" name="Text 34"/>
          <p:cNvSpPr txBox="1"/>
          <p:nvPr/>
        </p:nvSpPr>
        <p:spPr>
          <a:xfrm>
            <a:off x="640080" y="3749040"/>
            <a:ext cx="7863840" cy="68580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Today's output: the complete Module 2 deliverable — 8–10 .sql files, committed and pushed.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12E"/>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8FA3B1"/>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8FA3B1"/>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1188720"/>
            <a:ext cx="2743200" cy="1188720"/>
          </a:xfrm>
          <a:prstGeom prst="rect">
            <a:avLst/>
          </a:prstGeom>
          <a:noFill/>
          <a:ln/>
        </p:spPr>
        <p:txBody>
          <a:bodyPr wrap="square" lIns="0" tIns="0" rIns="0" bIns="0" rtlCol="0" anchor="t"/>
          <a:lstStyle/>
          <a:p>
            <a:pPr marL="0" indent="0">
              <a:buNone/>
            </a:pPr>
            <a:r>
              <a:rPr lang="en-US" sz="8800" b="1" dirty="0">
                <a:solidFill>
                  <a:srgbClr val="F4A259"/>
                </a:solidFill>
                <a:latin typeface="Cambria" pitchFamily="34" charset="0"/>
                <a:ea typeface="Cambria" pitchFamily="34" charset="-122"/>
                <a:cs typeface="Cambria" pitchFamily="34" charset="-120"/>
              </a:rPr>
              <a:t>01</a:t>
            </a:r>
            <a:endParaRPr lang="en-US" sz="8800" dirty="0"/>
          </a:p>
        </p:txBody>
      </p:sp>
      <p:sp>
        <p:nvSpPr>
          <p:cNvPr id="5" name="Text 3"/>
          <p:cNvSpPr txBox="1"/>
          <p:nvPr/>
        </p:nvSpPr>
        <p:spPr>
          <a:xfrm>
            <a:off x="457200" y="251460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Bulk loading with COPY</a:t>
            </a:r>
            <a:endParaRPr lang="en-US" sz="3600" dirty="0"/>
          </a:p>
        </p:txBody>
      </p:sp>
      <p:sp>
        <p:nvSpPr>
          <p:cNvPr id="6" name="Text 4"/>
          <p:cNvSpPr txBox="1"/>
          <p:nvPr/>
        </p:nvSpPr>
        <p:spPr>
          <a:xfrm>
            <a:off x="457200" y="3246120"/>
            <a:ext cx="7315200" cy="548640"/>
          </a:xfrm>
          <a:prstGeom prst="rect">
            <a:avLst/>
          </a:prstGeom>
          <a:noFill/>
          <a:ln/>
        </p:spPr>
        <p:txBody>
          <a:bodyPr wrap="square" lIns="0" tIns="0" rIns="0" bIns="0" rtlCol="0" anchor="t"/>
          <a:lstStyle/>
          <a:p>
            <a:pPr marL="0" indent="0">
              <a:buNone/>
            </a:pPr>
            <a:r>
              <a:rPr lang="en-US" sz="1600" dirty="0">
                <a:solidFill>
                  <a:srgbClr val="B8C7D1"/>
                </a:solidFill>
                <a:latin typeface="Calibri" pitchFamily="34" charset="0"/>
                <a:ea typeface="Calibri" pitchFamily="34" charset="-122"/>
                <a:cs typeface="Calibri" pitchFamily="34" charset="-120"/>
              </a:rPr>
              <a:t>The fastest way to move a file into a table (and back out)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SETUP</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Where do I type this?</a:t>
            </a:r>
            <a:endParaRPr lang="en-US" sz="2800" dirty="0"/>
          </a:p>
        </p:txBody>
      </p:sp>
      <p:sp>
        <p:nvSpPr>
          <p:cNvPr id="6" name="Shape 4"/>
          <p:cNvSpPr/>
          <p:nvPr/>
        </p:nvSpPr>
        <p:spPr>
          <a:xfrm>
            <a:off x="457200" y="1234440"/>
            <a:ext cx="5486400" cy="3291840"/>
          </a:xfrm>
          <a:prstGeom prst="roundRect">
            <a:avLst>
              <a:gd name="adj" fmla="val 2222"/>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640080" y="1371600"/>
            <a:ext cx="5120640" cy="3017520"/>
          </a:xfrm>
          <a:prstGeom prst="rect">
            <a:avLst/>
          </a:prstGeom>
          <a:noFill/>
          <a:ln/>
        </p:spPr>
        <p:txBody>
          <a:bodyPr wrap="square" lIns="0" tIns="0" rIns="0" bIns="0" rtlCol="0" anchor="t"/>
          <a:lstStyle/>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Mac: Terminal     Windows: SQL Shell (psql)</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psql -U postgres -d olist_dw</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the prompt changes to   olist_dw=#</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SELECT COUNT(*) FROM raw.sellers;   -- 3095</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\q                                  -- quit</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pgAdmin: right-click olist_dw → PSQL Tool</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blank screen? Settings → Paths → Binary paths</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PostgreSQL 18 = the folder, not .../psql</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Mac      /Library/PostgreSQL/18/bin</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Windows  C:\Program Files\PostgreSQL\18\bin</a:t>
            </a:r>
            <a:endParaRPr lang="en-US" sz="1000" dirty="0"/>
          </a:p>
        </p:txBody>
      </p:sp>
      <p:sp>
        <p:nvSpPr>
          <p:cNvPr id="8" name="Shape 6"/>
          <p:cNvSpPr/>
          <p:nvPr/>
        </p:nvSpPr>
        <p:spPr>
          <a:xfrm>
            <a:off x="6217920" y="1234440"/>
            <a:ext cx="2468880" cy="3291840"/>
          </a:xfrm>
          <a:prstGeom prst="roundRect">
            <a:avLst>
              <a:gd name="adj" fmla="val 2963"/>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6446520" y="1417320"/>
            <a:ext cx="2011680"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Read the prompt</a:t>
            </a:r>
            <a:endParaRPr lang="en-US" sz="1500" dirty="0"/>
          </a:p>
        </p:txBody>
      </p:sp>
      <p:sp>
        <p:nvSpPr>
          <p:cNvPr id="10" name="Text 8"/>
          <p:cNvSpPr txBox="1"/>
          <p:nvPr/>
        </p:nvSpPr>
        <p:spPr>
          <a:xfrm>
            <a:off x="6446520" y="1828800"/>
            <a:ext cx="2011680" cy="2560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 %  or  C:\&gt;  = your computer’s shell: cp, ls, psql</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olist_dw=#  = psql: SQL and \copy go here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olist_dw-#  = psql is waiting: finish with ;</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\copy works only in psql, never in the Query Tool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COPY</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COPY vs \copy — who reads the file?</a:t>
            </a:r>
            <a:endParaRPr lang="en-US" sz="2800" dirty="0"/>
          </a:p>
        </p:txBody>
      </p:sp>
      <p:sp>
        <p:nvSpPr>
          <p:cNvPr id="6" name="Shape 4"/>
          <p:cNvSpPr/>
          <p:nvPr/>
        </p:nvSpPr>
        <p:spPr>
          <a:xfrm>
            <a:off x="457200" y="1234440"/>
            <a:ext cx="4023360" cy="2743200"/>
          </a:xfrm>
          <a:prstGeom prst="roundRect">
            <a:avLst>
              <a:gd name="adj" fmla="val 2667"/>
            </a:avLst>
          </a:prstGeom>
          <a:solidFill>
            <a:srgbClr val="F1F5F7"/>
          </a:solidFill>
          <a:ln w="12700">
            <a:solidFill>
              <a:srgbClr val="F1F5F7"/>
            </a:solidFill>
            <a:prstDash val="solid"/>
          </a:ln>
        </p:spPr>
        <p:txBody>
          <a:bodyPr/>
          <a:lstStyle/>
          <a:p>
            <a:endParaRPr lang="en-TH"/>
          </a:p>
        </p:txBody>
      </p:sp>
      <p:sp>
        <p:nvSpPr>
          <p:cNvPr id="7" name="Text 5"/>
          <p:cNvSpPr txBox="1"/>
          <p:nvPr/>
        </p:nvSpPr>
        <p:spPr>
          <a:xfrm>
            <a:off x="685800" y="1371600"/>
            <a:ext cx="356616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COPY (SQL command)</a:t>
            </a:r>
            <a:endParaRPr lang="en-US" sz="1600" dirty="0"/>
          </a:p>
        </p:txBody>
      </p:sp>
      <p:sp>
        <p:nvSpPr>
          <p:cNvPr id="8" name="Text 6"/>
          <p:cNvSpPr txBox="1"/>
          <p:nvPr/>
        </p:nvSpPr>
        <p:spPr>
          <a:xfrm>
            <a:off x="685800" y="1691640"/>
            <a:ext cx="3566160" cy="274320"/>
          </a:xfrm>
          <a:prstGeom prst="rect">
            <a:avLst/>
          </a:prstGeom>
          <a:noFill/>
          <a:ln/>
        </p:spPr>
        <p:txBody>
          <a:bodyPr wrap="square" lIns="0" tIns="0" rIns="0" bIns="0" rtlCol="0" anchor="t"/>
          <a:lstStyle/>
          <a:p>
            <a:pPr marL="0" indent="0">
              <a:buNone/>
            </a:pPr>
            <a:r>
              <a:rPr lang="en-US" sz="1200" i="1" dirty="0">
                <a:solidFill>
                  <a:srgbClr val="5B6B77"/>
                </a:solidFill>
                <a:latin typeface="Calibri" pitchFamily="34" charset="0"/>
                <a:ea typeface="Calibri" pitchFamily="34" charset="-122"/>
                <a:cs typeface="Calibri" pitchFamily="34" charset="-120"/>
              </a:rPr>
              <a:t>Runs on the database server</a:t>
            </a:r>
            <a:endParaRPr lang="en-US" sz="1200" dirty="0"/>
          </a:p>
        </p:txBody>
      </p:sp>
      <p:sp>
        <p:nvSpPr>
          <p:cNvPr id="9" name="Shape 7"/>
          <p:cNvSpPr/>
          <p:nvPr/>
        </p:nvSpPr>
        <p:spPr>
          <a:xfrm>
            <a:off x="640080" y="2011680"/>
            <a:ext cx="3657600" cy="960120"/>
          </a:xfrm>
          <a:prstGeom prst="roundRect">
            <a:avLst>
              <a:gd name="adj" fmla="val 7619"/>
            </a:avLst>
          </a:prstGeom>
          <a:solidFill>
            <a:srgbClr val="13212E"/>
          </a:solidFill>
          <a:ln w="12700">
            <a:solidFill>
              <a:srgbClr val="13212E"/>
            </a:solidFill>
            <a:prstDash val="solid"/>
          </a:ln>
        </p:spPr>
        <p:txBody>
          <a:bodyPr/>
          <a:lstStyle/>
          <a:p>
            <a:endParaRPr lang="en-TH"/>
          </a:p>
        </p:txBody>
      </p:sp>
      <p:sp>
        <p:nvSpPr>
          <p:cNvPr id="10" name="Text 8"/>
          <p:cNvSpPr txBox="1"/>
          <p:nvPr/>
        </p:nvSpPr>
        <p:spPr>
          <a:xfrm>
            <a:off x="822960" y="2148840"/>
            <a:ext cx="3291840" cy="685800"/>
          </a:xfrm>
          <a:prstGeom prst="rect">
            <a:avLst/>
          </a:prstGeom>
          <a:noFill/>
          <a:ln/>
        </p:spPr>
        <p:txBody>
          <a:bodyPr wrap="square" lIns="0" tIns="0" rIns="0" bIns="0" rtlCol="0" anchor="t"/>
          <a:lstStyle/>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TRUNCATE raw.sellers;  -- or rows double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COPY raw.sellers</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FROM '/Users/Shared/sellers.csv'</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WITH (FORMAT csv, HEADER true);</a:t>
            </a:r>
            <a:endParaRPr lang="en-US" sz="1000" dirty="0"/>
          </a:p>
        </p:txBody>
      </p:sp>
      <p:sp>
        <p:nvSpPr>
          <p:cNvPr id="11" name="Text 9"/>
          <p:cNvSpPr txBox="1"/>
          <p:nvPr/>
        </p:nvSpPr>
        <p:spPr>
          <a:xfrm>
            <a:off x="685800" y="3081528"/>
            <a:ext cx="3566160" cy="804672"/>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Mac /Users/Shared · Win C:/Users/Public</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Needs superuser or pg_read_server_files</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Used by pipelines running on the server</a:t>
            </a:r>
            <a:endParaRPr lang="en-US" sz="1250" dirty="0"/>
          </a:p>
        </p:txBody>
      </p:sp>
      <p:sp>
        <p:nvSpPr>
          <p:cNvPr id="12" name="Shape 10"/>
          <p:cNvSpPr/>
          <p:nvPr/>
        </p:nvSpPr>
        <p:spPr>
          <a:xfrm>
            <a:off x="4663440" y="1234440"/>
            <a:ext cx="4023360" cy="2743200"/>
          </a:xfrm>
          <a:prstGeom prst="roundRect">
            <a:avLst>
              <a:gd name="adj" fmla="val 2667"/>
            </a:avLst>
          </a:prstGeom>
          <a:solidFill>
            <a:srgbClr val="D8EEEC"/>
          </a:solidFill>
          <a:ln w="12700">
            <a:solidFill>
              <a:srgbClr val="D8EEEC"/>
            </a:solidFill>
            <a:prstDash val="solid"/>
          </a:ln>
        </p:spPr>
        <p:txBody>
          <a:bodyPr/>
          <a:lstStyle/>
          <a:p>
            <a:endParaRPr lang="en-TH"/>
          </a:p>
        </p:txBody>
      </p:sp>
      <p:sp>
        <p:nvSpPr>
          <p:cNvPr id="13" name="Text 11"/>
          <p:cNvSpPr txBox="1"/>
          <p:nvPr/>
        </p:nvSpPr>
        <p:spPr>
          <a:xfrm>
            <a:off x="4892040" y="1371600"/>
            <a:ext cx="3566160" cy="320040"/>
          </a:xfrm>
          <a:prstGeom prst="rect">
            <a:avLst/>
          </a:prstGeom>
          <a:noFill/>
          <a:ln/>
        </p:spPr>
        <p:txBody>
          <a:bodyPr wrap="square" lIns="0" tIns="0" rIns="0" bIns="0" rtlCol="0" anchor="t"/>
          <a:lstStyle/>
          <a:p>
            <a:pPr marL="0" indent="0">
              <a:buNone/>
            </a:pPr>
            <a:r>
              <a:rPr lang="en-US" sz="1600" b="1" dirty="0">
                <a:solidFill>
                  <a:srgbClr val="0E7C7B"/>
                </a:solidFill>
                <a:latin typeface="Calibri" pitchFamily="34" charset="0"/>
                <a:ea typeface="Calibri" pitchFamily="34" charset="-122"/>
                <a:cs typeface="Calibri" pitchFamily="34" charset="-120"/>
              </a:rPr>
              <a:t>\copy (psql meta-command)</a:t>
            </a:r>
            <a:endParaRPr lang="en-US" sz="1600" dirty="0"/>
          </a:p>
        </p:txBody>
      </p:sp>
      <p:sp>
        <p:nvSpPr>
          <p:cNvPr id="14" name="Text 12"/>
          <p:cNvSpPr txBox="1"/>
          <p:nvPr/>
        </p:nvSpPr>
        <p:spPr>
          <a:xfrm>
            <a:off x="4892040" y="1691640"/>
            <a:ext cx="3566160" cy="274320"/>
          </a:xfrm>
          <a:prstGeom prst="rect">
            <a:avLst/>
          </a:prstGeom>
          <a:noFill/>
          <a:ln/>
        </p:spPr>
        <p:txBody>
          <a:bodyPr wrap="square" lIns="0" tIns="0" rIns="0" bIns="0" rtlCol="0" anchor="t"/>
          <a:lstStyle/>
          <a:p>
            <a:pPr marL="0" indent="0">
              <a:buNone/>
            </a:pPr>
            <a:r>
              <a:rPr lang="en-US" sz="1200" i="1" dirty="0">
                <a:solidFill>
                  <a:srgbClr val="5B6B77"/>
                </a:solidFill>
                <a:latin typeface="Calibri" pitchFamily="34" charset="0"/>
                <a:ea typeface="Calibri" pitchFamily="34" charset="-122"/>
                <a:cs typeface="Calibri" pitchFamily="34" charset="-120"/>
              </a:rPr>
              <a:t>Runs on your laptop</a:t>
            </a:r>
            <a:endParaRPr lang="en-US" sz="1200" dirty="0"/>
          </a:p>
        </p:txBody>
      </p:sp>
      <p:sp>
        <p:nvSpPr>
          <p:cNvPr id="15" name="Shape 13"/>
          <p:cNvSpPr/>
          <p:nvPr/>
        </p:nvSpPr>
        <p:spPr>
          <a:xfrm>
            <a:off x="4846320" y="2011680"/>
            <a:ext cx="3657600" cy="960120"/>
          </a:xfrm>
          <a:prstGeom prst="roundRect">
            <a:avLst>
              <a:gd name="adj" fmla="val 7619"/>
            </a:avLst>
          </a:prstGeom>
          <a:solidFill>
            <a:srgbClr val="13212E"/>
          </a:solidFill>
          <a:ln w="12700">
            <a:solidFill>
              <a:srgbClr val="13212E"/>
            </a:solidFill>
            <a:prstDash val="solid"/>
          </a:ln>
        </p:spPr>
        <p:txBody>
          <a:bodyPr/>
          <a:lstStyle/>
          <a:p>
            <a:endParaRPr lang="en-TH"/>
          </a:p>
        </p:txBody>
      </p:sp>
      <p:sp>
        <p:nvSpPr>
          <p:cNvPr id="16" name="Text 14"/>
          <p:cNvSpPr txBox="1"/>
          <p:nvPr/>
        </p:nvSpPr>
        <p:spPr>
          <a:xfrm>
            <a:off x="5029200" y="2148840"/>
            <a:ext cx="3291840" cy="685800"/>
          </a:xfrm>
          <a:prstGeom prst="rect">
            <a:avLst/>
          </a:prstGeom>
          <a:noFill/>
          <a:ln/>
        </p:spPr>
        <p:txBody>
          <a:bodyPr wrap="square" lIns="0" tIns="0" rIns="0" bIns="0" rtlCol="0" anchor="t"/>
          <a:lstStyle/>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TRUNCATE raw.sellers;</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\copy raw.sellers</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FROM '/Users/you/Downloads/sellers.csv'</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WITH (FORMAT csv, HEADER true)</a:t>
            </a:r>
            <a:endParaRPr lang="en-US" sz="1000" dirty="0"/>
          </a:p>
        </p:txBody>
      </p:sp>
      <p:sp>
        <p:nvSpPr>
          <p:cNvPr id="17" name="Text 15"/>
          <p:cNvSpPr txBox="1"/>
          <p:nvPr/>
        </p:nvSpPr>
        <p:spPr>
          <a:xfrm>
            <a:off x="4892040" y="3081528"/>
            <a:ext cx="3566160" cy="804672"/>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Any folder you can open (Downloads, Desktop)</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Normal user permissions are enough</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What we used in Week 2 Day 1</a:t>
            </a:r>
            <a:endParaRPr lang="en-US" sz="1250" dirty="0"/>
          </a:p>
        </p:txBody>
      </p:sp>
      <p:sp>
        <p:nvSpPr>
          <p:cNvPr id="18" name="Shape 16"/>
          <p:cNvSpPr/>
          <p:nvPr/>
        </p:nvSpPr>
        <p:spPr>
          <a:xfrm>
            <a:off x="457200" y="4114800"/>
            <a:ext cx="8229600" cy="502920"/>
          </a:xfrm>
          <a:prstGeom prst="roundRect">
            <a:avLst>
              <a:gd name="adj" fmla="val 14545"/>
            </a:avLst>
          </a:prstGeom>
          <a:solidFill>
            <a:srgbClr val="FDEBD8"/>
          </a:solidFill>
          <a:ln w="12700">
            <a:solidFill>
              <a:srgbClr val="FDEBD8"/>
            </a:solidFill>
            <a:prstDash val="solid"/>
          </a:ln>
        </p:spPr>
        <p:txBody>
          <a:bodyPr/>
          <a:lstStyle/>
          <a:p>
            <a:endParaRPr lang="en-TH"/>
          </a:p>
        </p:txBody>
      </p:sp>
      <p:sp>
        <p:nvSpPr>
          <p:cNvPr id="19" name="Text 17"/>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Same speed and options — only the location of the file differs. In Module 3 Python uses COPY through the driver (copy_expert / copy).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COPY</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COPY options you will actually use</a:t>
            </a:r>
            <a:endParaRPr lang="en-US" sz="2800" dirty="0"/>
          </a:p>
        </p:txBody>
      </p:sp>
      <p:sp>
        <p:nvSpPr>
          <p:cNvPr id="6" name="Shape 4"/>
          <p:cNvSpPr/>
          <p:nvPr/>
        </p:nvSpPr>
        <p:spPr>
          <a:xfrm>
            <a:off x="457200" y="1234440"/>
            <a:ext cx="5852160" cy="3291840"/>
          </a:xfrm>
          <a:prstGeom prst="roundRect">
            <a:avLst>
              <a:gd name="adj" fmla="val 2222"/>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640080" y="1371600"/>
            <a:ext cx="5486400" cy="3017520"/>
          </a:xfrm>
          <a:prstGeom prst="rect">
            <a:avLst/>
          </a:prstGeom>
          <a:noFill/>
          <a:ln/>
        </p:spPr>
        <p:txBody>
          <a:bodyPr wrap="square" lIns="0" tIns="0" rIns="0" bIns="0" rtlCol="0" anchor="t"/>
          <a:lstStyle/>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\copy raw.order_reviews FROM 'reviews.csv'</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WITH (FORMAT csv,</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HEADER true,         -- skip first line</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DELIMITER ',',       -- ; for many EU files</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NULL '',             -- default: empty → NULL</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ENCODING 'UTF8');</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a:t>
            </a:r>
            <a:endParaRPr lang="en-US" sz="900" dirty="0"/>
          </a:p>
          <a:p>
            <a:pPr marL="0" indent="0">
              <a:spcAft>
                <a:spcPts val="200"/>
              </a:spcAft>
              <a:buNone/>
            </a:pPr>
            <a:r>
              <a:rPr lang="en-US" sz="900" dirty="0">
                <a:solidFill>
                  <a:srgbClr val="8FA3B1"/>
                </a:solidFill>
                <a:latin typeface="Courier New" pitchFamily="34" charset="0"/>
                <a:ea typeface="Courier New" pitchFamily="34" charset="-122"/>
                <a:cs typeface="Courier New" pitchFamily="34" charset="-120"/>
              </a:rPr>
              <a:t>-- Load only some columns (others get defaults)</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\copy raw.sellers (seller_id, seller_city, seller_state)</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FROM 'sellers_part.csv' WITH (FORMAT csv, HEADER true)</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a:t>
            </a:r>
            <a:endParaRPr lang="en-US" sz="900" dirty="0"/>
          </a:p>
          <a:p>
            <a:pPr marL="0" indent="0">
              <a:spcAft>
                <a:spcPts val="200"/>
              </a:spcAft>
              <a:buNone/>
            </a:pPr>
            <a:r>
              <a:rPr lang="en-US" sz="900" dirty="0">
                <a:solidFill>
                  <a:srgbClr val="8FA3B1"/>
                </a:solidFill>
                <a:latin typeface="Courier New" pitchFamily="34" charset="0"/>
                <a:ea typeface="Courier New" pitchFamily="34" charset="-122"/>
                <a:cs typeface="Courier New" pitchFamily="34" charset="-120"/>
              </a:rPr>
              <a:t>-- Export a query result to CSV</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\copy (SELECT * FROM raw.orders WHERE order_status = 'canceled')</a:t>
            </a:r>
            <a:endParaRPr lang="en-US" sz="900" dirty="0"/>
          </a:p>
          <a:p>
            <a:pPr marL="0" indent="0">
              <a:spcAft>
                <a:spcPts val="200"/>
              </a:spcAft>
              <a:buNone/>
            </a:pPr>
            <a:r>
              <a:rPr lang="en-US" sz="900" dirty="0">
                <a:solidFill>
                  <a:srgbClr val="E6EEF2"/>
                </a:solidFill>
                <a:latin typeface="Courier New" pitchFamily="34" charset="0"/>
                <a:ea typeface="Courier New" pitchFamily="34" charset="-122"/>
                <a:cs typeface="Courier New" pitchFamily="34" charset="-120"/>
              </a:rPr>
              <a:t>  TO 'canceled_orders.csv' WITH (FORMAT csv, HEADER true)</a:t>
            </a:r>
            <a:endParaRPr lang="en-US" sz="900" dirty="0"/>
          </a:p>
        </p:txBody>
      </p:sp>
      <p:sp>
        <p:nvSpPr>
          <p:cNvPr id="8" name="Shape 6"/>
          <p:cNvSpPr/>
          <p:nvPr/>
        </p:nvSpPr>
        <p:spPr>
          <a:xfrm>
            <a:off x="6583680" y="1234440"/>
            <a:ext cx="2103120" cy="3291840"/>
          </a:xfrm>
          <a:prstGeom prst="roundRect">
            <a:avLst>
              <a:gd name="adj" fmla="val 3478"/>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6812280" y="1417320"/>
            <a:ext cx="1645920"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Remember</a:t>
            </a:r>
            <a:endParaRPr lang="en-US" sz="1500" dirty="0"/>
          </a:p>
        </p:txBody>
      </p:sp>
      <p:sp>
        <p:nvSpPr>
          <p:cNvPr id="10" name="Text 8"/>
          <p:cNvSpPr txBox="1"/>
          <p:nvPr/>
        </p:nvSpPr>
        <p:spPr>
          <a:xfrm>
            <a:off x="6812280" y="1828800"/>
            <a:ext cx="1645920" cy="2560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COPY is all-or-nothing: one bad row fails the whole load</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That is a feature — fix the data, re-run</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\copy must be on one line in psql</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Into raw again? TRUNCATE first, or every row doubles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COPY</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Three ways to insert data</a:t>
            </a:r>
            <a:endParaRPr lang="en-US" sz="2800" dirty="0"/>
          </a:p>
        </p:txBody>
      </p:sp>
      <p:sp>
        <p:nvSpPr>
          <p:cNvPr id="6" name="Shape 4"/>
          <p:cNvSpPr/>
          <p:nvPr/>
        </p:nvSpPr>
        <p:spPr>
          <a:xfrm>
            <a:off x="2011680" y="1234440"/>
            <a:ext cx="2164080" cy="347472"/>
          </a:xfrm>
          <a:prstGeom prst="roundRect">
            <a:avLst>
              <a:gd name="adj" fmla="val 21053"/>
            </a:avLst>
          </a:prstGeom>
          <a:solidFill>
            <a:srgbClr val="1F2933"/>
          </a:solidFill>
          <a:ln w="12700">
            <a:solidFill>
              <a:srgbClr val="1F2933"/>
            </a:solidFill>
            <a:prstDash val="solid"/>
          </a:ln>
        </p:spPr>
        <p:txBody>
          <a:bodyPr/>
          <a:lstStyle/>
          <a:p>
            <a:endParaRPr lang="en-TH"/>
          </a:p>
        </p:txBody>
      </p:sp>
      <p:sp>
        <p:nvSpPr>
          <p:cNvPr id="7" name="Text 5"/>
          <p:cNvSpPr txBox="1"/>
          <p:nvPr/>
        </p:nvSpPr>
        <p:spPr>
          <a:xfrm>
            <a:off x="2011680" y="1234440"/>
            <a:ext cx="216408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Single-row INSERT</a:t>
            </a:r>
            <a:endParaRPr lang="en-US" sz="1250" dirty="0"/>
          </a:p>
        </p:txBody>
      </p:sp>
      <p:sp>
        <p:nvSpPr>
          <p:cNvPr id="8" name="Shape 6"/>
          <p:cNvSpPr/>
          <p:nvPr/>
        </p:nvSpPr>
        <p:spPr>
          <a:xfrm>
            <a:off x="4267200" y="1234440"/>
            <a:ext cx="2164080" cy="347472"/>
          </a:xfrm>
          <a:prstGeom prst="roundRect">
            <a:avLst>
              <a:gd name="adj" fmla="val 21053"/>
            </a:avLst>
          </a:prstGeom>
          <a:solidFill>
            <a:srgbClr val="1F2933"/>
          </a:solidFill>
          <a:ln w="12700">
            <a:solidFill>
              <a:srgbClr val="1F2933"/>
            </a:solidFill>
            <a:prstDash val="solid"/>
          </a:ln>
        </p:spPr>
        <p:txBody>
          <a:bodyPr/>
          <a:lstStyle/>
          <a:p>
            <a:endParaRPr lang="en-TH"/>
          </a:p>
        </p:txBody>
      </p:sp>
      <p:sp>
        <p:nvSpPr>
          <p:cNvPr id="9" name="Text 7"/>
          <p:cNvSpPr txBox="1"/>
          <p:nvPr/>
        </p:nvSpPr>
        <p:spPr>
          <a:xfrm>
            <a:off x="4267200" y="1234440"/>
            <a:ext cx="216408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Multi-row INSERT</a:t>
            </a:r>
            <a:endParaRPr lang="en-US" sz="1250" dirty="0"/>
          </a:p>
        </p:txBody>
      </p:sp>
      <p:sp>
        <p:nvSpPr>
          <p:cNvPr id="10" name="Shape 8"/>
          <p:cNvSpPr/>
          <p:nvPr/>
        </p:nvSpPr>
        <p:spPr>
          <a:xfrm>
            <a:off x="6522720" y="1234440"/>
            <a:ext cx="2164080" cy="347472"/>
          </a:xfrm>
          <a:prstGeom prst="roundRect">
            <a:avLst>
              <a:gd name="adj" fmla="val 21053"/>
            </a:avLst>
          </a:prstGeom>
          <a:solidFill>
            <a:srgbClr val="0E7C7B"/>
          </a:solidFill>
          <a:ln w="12700">
            <a:solidFill>
              <a:srgbClr val="0E7C7B"/>
            </a:solidFill>
            <a:prstDash val="solid"/>
          </a:ln>
        </p:spPr>
        <p:txBody>
          <a:bodyPr/>
          <a:lstStyle/>
          <a:p>
            <a:endParaRPr lang="en-TH"/>
          </a:p>
        </p:txBody>
      </p:sp>
      <p:sp>
        <p:nvSpPr>
          <p:cNvPr id="11" name="Text 9"/>
          <p:cNvSpPr txBox="1"/>
          <p:nvPr/>
        </p:nvSpPr>
        <p:spPr>
          <a:xfrm>
            <a:off x="6522720" y="1234440"/>
            <a:ext cx="216408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COPY</a:t>
            </a:r>
            <a:endParaRPr lang="en-US" sz="1250" dirty="0"/>
          </a:p>
        </p:txBody>
      </p:sp>
      <p:sp>
        <p:nvSpPr>
          <p:cNvPr id="12" name="Text 10"/>
          <p:cNvSpPr txBox="1"/>
          <p:nvPr/>
        </p:nvSpPr>
        <p:spPr>
          <a:xfrm>
            <a:off x="457200" y="1673352"/>
            <a:ext cx="1463040" cy="4960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Example</a:t>
            </a:r>
            <a:endParaRPr lang="en-US" sz="1200" dirty="0"/>
          </a:p>
        </p:txBody>
      </p:sp>
      <p:sp>
        <p:nvSpPr>
          <p:cNvPr id="13" name="Shape 11"/>
          <p:cNvSpPr/>
          <p:nvPr/>
        </p:nvSpPr>
        <p:spPr>
          <a:xfrm>
            <a:off x="2011680" y="1673352"/>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14" name="Text 12"/>
          <p:cNvSpPr txBox="1"/>
          <p:nvPr/>
        </p:nvSpPr>
        <p:spPr>
          <a:xfrm>
            <a:off x="2084832" y="1673352"/>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INSERT … VALUES (…);</a:t>
            </a:r>
            <a:endParaRPr lang="en-US" sz="1150" dirty="0"/>
          </a:p>
        </p:txBody>
      </p:sp>
      <p:sp>
        <p:nvSpPr>
          <p:cNvPr id="15" name="Shape 13"/>
          <p:cNvSpPr/>
          <p:nvPr/>
        </p:nvSpPr>
        <p:spPr>
          <a:xfrm>
            <a:off x="4267200" y="1673352"/>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16" name="Text 14"/>
          <p:cNvSpPr txBox="1"/>
          <p:nvPr/>
        </p:nvSpPr>
        <p:spPr>
          <a:xfrm>
            <a:off x="4340352" y="1673352"/>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INSERT … VALUES (…),(…),(…);</a:t>
            </a:r>
            <a:endParaRPr lang="en-US" sz="1150" dirty="0"/>
          </a:p>
        </p:txBody>
      </p:sp>
      <p:sp>
        <p:nvSpPr>
          <p:cNvPr id="17" name="Shape 15"/>
          <p:cNvSpPr/>
          <p:nvPr/>
        </p:nvSpPr>
        <p:spPr>
          <a:xfrm>
            <a:off x="6522720" y="1673352"/>
            <a:ext cx="2164080" cy="496062"/>
          </a:xfrm>
          <a:prstGeom prst="roundRect">
            <a:avLst>
              <a:gd name="adj" fmla="val 14747"/>
            </a:avLst>
          </a:prstGeom>
          <a:solidFill>
            <a:srgbClr val="D8EEEC"/>
          </a:solidFill>
          <a:ln w="12700">
            <a:solidFill>
              <a:srgbClr val="D8EEEC"/>
            </a:solidFill>
            <a:prstDash val="solid"/>
          </a:ln>
        </p:spPr>
        <p:txBody>
          <a:bodyPr/>
          <a:lstStyle/>
          <a:p>
            <a:endParaRPr lang="en-TH"/>
          </a:p>
        </p:txBody>
      </p:sp>
      <p:sp>
        <p:nvSpPr>
          <p:cNvPr id="18" name="Text 16"/>
          <p:cNvSpPr txBox="1"/>
          <p:nvPr/>
        </p:nvSpPr>
        <p:spPr>
          <a:xfrm>
            <a:off x="6595872" y="1673352"/>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COPY … FROM file</a:t>
            </a:r>
            <a:endParaRPr lang="en-US" sz="1150" dirty="0"/>
          </a:p>
        </p:txBody>
      </p:sp>
      <p:sp>
        <p:nvSpPr>
          <p:cNvPr id="19" name="Text 17"/>
          <p:cNvSpPr txBox="1"/>
          <p:nvPr/>
        </p:nvSpPr>
        <p:spPr>
          <a:xfrm>
            <a:off x="457200" y="2260854"/>
            <a:ext cx="1463040" cy="4960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Speed</a:t>
            </a:r>
            <a:endParaRPr lang="en-US" sz="1200" dirty="0"/>
          </a:p>
        </p:txBody>
      </p:sp>
      <p:sp>
        <p:nvSpPr>
          <p:cNvPr id="20" name="Shape 18"/>
          <p:cNvSpPr/>
          <p:nvPr/>
        </p:nvSpPr>
        <p:spPr>
          <a:xfrm>
            <a:off x="2011680" y="2260854"/>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21" name="Text 19"/>
          <p:cNvSpPr txBox="1"/>
          <p:nvPr/>
        </p:nvSpPr>
        <p:spPr>
          <a:xfrm>
            <a:off x="2084832" y="2260854"/>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Slowest</a:t>
            </a:r>
            <a:endParaRPr lang="en-US" sz="1150" dirty="0"/>
          </a:p>
        </p:txBody>
      </p:sp>
      <p:sp>
        <p:nvSpPr>
          <p:cNvPr id="22" name="Shape 20"/>
          <p:cNvSpPr/>
          <p:nvPr/>
        </p:nvSpPr>
        <p:spPr>
          <a:xfrm>
            <a:off x="4267200" y="2260854"/>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23" name="Text 21"/>
          <p:cNvSpPr txBox="1"/>
          <p:nvPr/>
        </p:nvSpPr>
        <p:spPr>
          <a:xfrm>
            <a:off x="4340352" y="2260854"/>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Faster</a:t>
            </a:r>
            <a:endParaRPr lang="en-US" sz="1150" dirty="0"/>
          </a:p>
        </p:txBody>
      </p:sp>
      <p:sp>
        <p:nvSpPr>
          <p:cNvPr id="24" name="Shape 22"/>
          <p:cNvSpPr/>
          <p:nvPr/>
        </p:nvSpPr>
        <p:spPr>
          <a:xfrm>
            <a:off x="6522720" y="2260854"/>
            <a:ext cx="2164080" cy="496062"/>
          </a:xfrm>
          <a:prstGeom prst="roundRect">
            <a:avLst>
              <a:gd name="adj" fmla="val 14747"/>
            </a:avLst>
          </a:prstGeom>
          <a:solidFill>
            <a:srgbClr val="D8EEEC"/>
          </a:solidFill>
          <a:ln w="12700">
            <a:solidFill>
              <a:srgbClr val="D8EEEC"/>
            </a:solidFill>
            <a:prstDash val="solid"/>
          </a:ln>
        </p:spPr>
        <p:txBody>
          <a:bodyPr/>
          <a:lstStyle/>
          <a:p>
            <a:endParaRPr lang="en-TH"/>
          </a:p>
        </p:txBody>
      </p:sp>
      <p:sp>
        <p:nvSpPr>
          <p:cNvPr id="25" name="Text 23"/>
          <p:cNvSpPr txBox="1"/>
          <p:nvPr/>
        </p:nvSpPr>
        <p:spPr>
          <a:xfrm>
            <a:off x="6595872" y="2260854"/>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Fastest</a:t>
            </a:r>
            <a:endParaRPr lang="en-US" sz="1150" dirty="0"/>
          </a:p>
        </p:txBody>
      </p:sp>
      <p:sp>
        <p:nvSpPr>
          <p:cNvPr id="26" name="Text 24"/>
          <p:cNvSpPr txBox="1"/>
          <p:nvPr/>
        </p:nvSpPr>
        <p:spPr>
          <a:xfrm>
            <a:off x="457200" y="2848356"/>
            <a:ext cx="1463040" cy="4960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Round trips</a:t>
            </a:r>
            <a:endParaRPr lang="en-US" sz="1200" dirty="0"/>
          </a:p>
        </p:txBody>
      </p:sp>
      <p:sp>
        <p:nvSpPr>
          <p:cNvPr id="27" name="Shape 25"/>
          <p:cNvSpPr/>
          <p:nvPr/>
        </p:nvSpPr>
        <p:spPr>
          <a:xfrm>
            <a:off x="2011680" y="2848356"/>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28" name="Text 26"/>
          <p:cNvSpPr txBox="1"/>
          <p:nvPr/>
        </p:nvSpPr>
        <p:spPr>
          <a:xfrm>
            <a:off x="2084832" y="2848356"/>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One per row</a:t>
            </a:r>
            <a:endParaRPr lang="en-US" sz="1150" dirty="0"/>
          </a:p>
        </p:txBody>
      </p:sp>
      <p:sp>
        <p:nvSpPr>
          <p:cNvPr id="29" name="Shape 27"/>
          <p:cNvSpPr/>
          <p:nvPr/>
        </p:nvSpPr>
        <p:spPr>
          <a:xfrm>
            <a:off x="4267200" y="2848356"/>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30" name="Text 28"/>
          <p:cNvSpPr txBox="1"/>
          <p:nvPr/>
        </p:nvSpPr>
        <p:spPr>
          <a:xfrm>
            <a:off x="4340352" y="2848356"/>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One per batch</a:t>
            </a:r>
            <a:endParaRPr lang="en-US" sz="1150" dirty="0"/>
          </a:p>
        </p:txBody>
      </p:sp>
      <p:sp>
        <p:nvSpPr>
          <p:cNvPr id="31" name="Shape 29"/>
          <p:cNvSpPr/>
          <p:nvPr/>
        </p:nvSpPr>
        <p:spPr>
          <a:xfrm>
            <a:off x="6522720" y="2848356"/>
            <a:ext cx="2164080" cy="496062"/>
          </a:xfrm>
          <a:prstGeom prst="roundRect">
            <a:avLst>
              <a:gd name="adj" fmla="val 14747"/>
            </a:avLst>
          </a:prstGeom>
          <a:solidFill>
            <a:srgbClr val="D8EEEC"/>
          </a:solidFill>
          <a:ln w="12700">
            <a:solidFill>
              <a:srgbClr val="D8EEEC"/>
            </a:solidFill>
            <a:prstDash val="solid"/>
          </a:ln>
        </p:spPr>
        <p:txBody>
          <a:bodyPr/>
          <a:lstStyle/>
          <a:p>
            <a:endParaRPr lang="en-TH"/>
          </a:p>
        </p:txBody>
      </p:sp>
      <p:sp>
        <p:nvSpPr>
          <p:cNvPr id="32" name="Text 30"/>
          <p:cNvSpPr txBox="1"/>
          <p:nvPr/>
        </p:nvSpPr>
        <p:spPr>
          <a:xfrm>
            <a:off x="6595872" y="2848356"/>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One per file</a:t>
            </a:r>
            <a:endParaRPr lang="en-US" sz="1150" dirty="0"/>
          </a:p>
        </p:txBody>
      </p:sp>
      <p:sp>
        <p:nvSpPr>
          <p:cNvPr id="33" name="Text 31"/>
          <p:cNvSpPr txBox="1"/>
          <p:nvPr/>
        </p:nvSpPr>
        <p:spPr>
          <a:xfrm>
            <a:off x="457200" y="3435858"/>
            <a:ext cx="1463040" cy="4960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Best for</a:t>
            </a:r>
            <a:endParaRPr lang="en-US" sz="1200" dirty="0"/>
          </a:p>
        </p:txBody>
      </p:sp>
      <p:sp>
        <p:nvSpPr>
          <p:cNvPr id="34" name="Shape 32"/>
          <p:cNvSpPr/>
          <p:nvPr/>
        </p:nvSpPr>
        <p:spPr>
          <a:xfrm>
            <a:off x="2011680" y="3435858"/>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35" name="Text 33"/>
          <p:cNvSpPr txBox="1"/>
          <p:nvPr/>
        </p:nvSpPr>
        <p:spPr>
          <a:xfrm>
            <a:off x="2084832" y="3435858"/>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App writes, tests</a:t>
            </a:r>
            <a:endParaRPr lang="en-US" sz="1150" dirty="0"/>
          </a:p>
        </p:txBody>
      </p:sp>
      <p:sp>
        <p:nvSpPr>
          <p:cNvPr id="36" name="Shape 34"/>
          <p:cNvSpPr/>
          <p:nvPr/>
        </p:nvSpPr>
        <p:spPr>
          <a:xfrm>
            <a:off x="4267200" y="3435858"/>
            <a:ext cx="2164080" cy="496062"/>
          </a:xfrm>
          <a:prstGeom prst="roundRect">
            <a:avLst>
              <a:gd name="adj" fmla="val 14747"/>
            </a:avLst>
          </a:prstGeom>
          <a:solidFill>
            <a:srgbClr val="F1F5F7"/>
          </a:solidFill>
          <a:ln w="12700">
            <a:solidFill>
              <a:srgbClr val="F1F5F7"/>
            </a:solidFill>
            <a:prstDash val="solid"/>
          </a:ln>
        </p:spPr>
        <p:txBody>
          <a:bodyPr/>
          <a:lstStyle/>
          <a:p>
            <a:endParaRPr lang="en-TH"/>
          </a:p>
        </p:txBody>
      </p:sp>
      <p:sp>
        <p:nvSpPr>
          <p:cNvPr id="37" name="Text 35"/>
          <p:cNvSpPr txBox="1"/>
          <p:nvPr/>
        </p:nvSpPr>
        <p:spPr>
          <a:xfrm>
            <a:off x="4340352" y="3435858"/>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Small batches from code</a:t>
            </a:r>
            <a:endParaRPr lang="en-US" sz="1150" dirty="0"/>
          </a:p>
        </p:txBody>
      </p:sp>
      <p:sp>
        <p:nvSpPr>
          <p:cNvPr id="38" name="Shape 36"/>
          <p:cNvSpPr/>
          <p:nvPr/>
        </p:nvSpPr>
        <p:spPr>
          <a:xfrm>
            <a:off x="6522720" y="3435858"/>
            <a:ext cx="2164080" cy="496062"/>
          </a:xfrm>
          <a:prstGeom prst="roundRect">
            <a:avLst>
              <a:gd name="adj" fmla="val 14747"/>
            </a:avLst>
          </a:prstGeom>
          <a:solidFill>
            <a:srgbClr val="D8EEEC"/>
          </a:solidFill>
          <a:ln w="12700">
            <a:solidFill>
              <a:srgbClr val="D8EEEC"/>
            </a:solidFill>
            <a:prstDash val="solid"/>
          </a:ln>
        </p:spPr>
        <p:txBody>
          <a:bodyPr/>
          <a:lstStyle/>
          <a:p>
            <a:endParaRPr lang="en-TH"/>
          </a:p>
        </p:txBody>
      </p:sp>
      <p:sp>
        <p:nvSpPr>
          <p:cNvPr id="39" name="Text 37"/>
          <p:cNvSpPr txBox="1"/>
          <p:nvPr/>
        </p:nvSpPr>
        <p:spPr>
          <a:xfrm>
            <a:off x="6595872" y="3435858"/>
            <a:ext cx="2017776" cy="496062"/>
          </a:xfrm>
          <a:prstGeom prst="rect">
            <a:avLst/>
          </a:prstGeom>
          <a:noFill/>
          <a:ln/>
        </p:spPr>
        <p:txBody>
          <a:bodyPr wrap="square" lIns="0" tIns="0" rIns="0" bIns="0" rtlCol="0" anchor="ctr"/>
          <a:lstStyle/>
          <a:p>
            <a:pPr marL="0" indent="0" algn="ctr">
              <a:buNone/>
            </a:pPr>
            <a:r>
              <a:rPr lang="en-US" sz="1150" dirty="0">
                <a:solidFill>
                  <a:srgbClr val="1F2933"/>
                </a:solidFill>
                <a:latin typeface="Calibri" pitchFamily="34" charset="0"/>
                <a:ea typeface="Calibri" pitchFamily="34" charset="-122"/>
                <a:cs typeface="Calibri" pitchFamily="34" charset="-120"/>
              </a:rPr>
              <a:t>Bulk files, initial loads</a:t>
            </a:r>
            <a:endParaRPr lang="en-US" sz="1150" dirty="0"/>
          </a:p>
        </p:txBody>
      </p:sp>
      <p:sp>
        <p:nvSpPr>
          <p:cNvPr id="40" name="Shape 38"/>
          <p:cNvSpPr/>
          <p:nvPr/>
        </p:nvSpPr>
        <p:spPr>
          <a:xfrm>
            <a:off x="457200" y="4069080"/>
            <a:ext cx="8229600" cy="548640"/>
          </a:xfrm>
          <a:prstGeom prst="roundRect">
            <a:avLst>
              <a:gd name="adj" fmla="val 13333"/>
            </a:avLst>
          </a:prstGeom>
          <a:solidFill>
            <a:srgbClr val="FDEBD8"/>
          </a:solidFill>
          <a:ln w="12700">
            <a:solidFill>
              <a:srgbClr val="FDEBD8"/>
            </a:solidFill>
            <a:prstDash val="solid"/>
          </a:ln>
        </p:spPr>
        <p:txBody>
          <a:bodyPr/>
          <a:lstStyle/>
          <a:p>
            <a:endParaRPr lang="en-TH"/>
          </a:p>
        </p:txBody>
      </p:sp>
      <p:sp>
        <p:nvSpPr>
          <p:cNvPr id="41" name="Text 39"/>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Pipelines load files with COPY into a staging table, then use INSERT … SELECT inside the database.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3212E"/>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8FA3B1"/>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8FA3B1"/>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1188720"/>
            <a:ext cx="2743200" cy="1188720"/>
          </a:xfrm>
          <a:prstGeom prst="rect">
            <a:avLst/>
          </a:prstGeom>
          <a:noFill/>
          <a:ln/>
        </p:spPr>
        <p:txBody>
          <a:bodyPr wrap="square" lIns="0" tIns="0" rIns="0" bIns="0" rtlCol="0" anchor="t"/>
          <a:lstStyle/>
          <a:p>
            <a:pPr marL="0" indent="0">
              <a:buNone/>
            </a:pPr>
            <a:r>
              <a:rPr lang="en-US" sz="8800" b="1" dirty="0">
                <a:solidFill>
                  <a:srgbClr val="F4A259"/>
                </a:solidFill>
                <a:latin typeface="Cambria" pitchFamily="34" charset="0"/>
                <a:ea typeface="Cambria" pitchFamily="34" charset="-122"/>
                <a:cs typeface="Cambria" pitchFamily="34" charset="-120"/>
              </a:rPr>
              <a:t>02</a:t>
            </a:r>
            <a:endParaRPr lang="en-US" sz="8800" dirty="0"/>
          </a:p>
        </p:txBody>
      </p:sp>
      <p:sp>
        <p:nvSpPr>
          <p:cNvPr id="5" name="Text 3"/>
          <p:cNvSpPr txBox="1"/>
          <p:nvPr/>
        </p:nvSpPr>
        <p:spPr>
          <a:xfrm>
            <a:off x="457200" y="251460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UPSERT with ON CONFLICT</a:t>
            </a:r>
            <a:endParaRPr lang="en-US" sz="3600" dirty="0"/>
          </a:p>
        </p:txBody>
      </p:sp>
      <p:sp>
        <p:nvSpPr>
          <p:cNvPr id="6" name="Text 4"/>
          <p:cNvSpPr txBox="1"/>
          <p:nvPr/>
        </p:nvSpPr>
        <p:spPr>
          <a:xfrm>
            <a:off x="457200" y="3246120"/>
            <a:ext cx="7315200" cy="548640"/>
          </a:xfrm>
          <a:prstGeom prst="rect">
            <a:avLst/>
          </a:prstGeom>
          <a:noFill/>
          <a:ln/>
        </p:spPr>
        <p:txBody>
          <a:bodyPr wrap="square" lIns="0" tIns="0" rIns="0" bIns="0" rtlCol="0" anchor="t"/>
          <a:lstStyle/>
          <a:p>
            <a:pPr marL="0" indent="0">
              <a:buNone/>
            </a:pPr>
            <a:r>
              <a:rPr lang="en-US" sz="1600" dirty="0">
                <a:solidFill>
                  <a:srgbClr val="B8C7D1"/>
                </a:solidFill>
                <a:latin typeface="Calibri" pitchFamily="34" charset="0"/>
                <a:ea typeface="Calibri" pitchFamily="34" charset="-122"/>
                <a:cs typeface="Calibri" pitchFamily="34" charset="-120"/>
              </a:rPr>
              <a:t>Insert new rows, update existing ones — in one statement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45720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UPSERT</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Why use ON CONFLICT?</a:t>
            </a:r>
            <a:endParaRPr lang="en-US" sz="2800" dirty="0"/>
          </a:p>
        </p:txBody>
      </p:sp>
      <p:sp>
        <p:nvSpPr>
          <p:cNvPr id="4" name="Shape 2"/>
          <p:cNvSpPr/>
          <p:nvPr/>
        </p:nvSpPr>
        <p:spPr>
          <a:xfrm>
            <a:off x="457200" y="1143000"/>
            <a:ext cx="4005072" cy="1783080"/>
          </a:xfrm>
          <a:prstGeom prst="roundRect">
            <a:avLst>
              <a:gd name="adj" fmla="val 4103"/>
            </a:avLst>
          </a:prstGeom>
          <a:solidFill>
            <a:srgbClr val="F1F5F7"/>
          </a:solidFill>
          <a:ln w="12700">
            <a:solidFill>
              <a:srgbClr val="F1F5F7"/>
            </a:solidFill>
            <a:prstDash val="solid"/>
          </a:ln>
        </p:spPr>
        <p:txBody>
          <a:bodyPr/>
          <a:lstStyle/>
          <a:p>
            <a:endParaRPr lang="en-TH"/>
          </a:p>
        </p:txBody>
      </p:sp>
      <p:sp>
        <p:nvSpPr>
          <p:cNvPr id="5" name="Text 3"/>
          <p:cNvSpPr txBox="1"/>
          <p:nvPr/>
        </p:nvSpPr>
        <p:spPr>
          <a:xfrm>
            <a:off x="640080" y="1234440"/>
            <a:ext cx="3657600" cy="27432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Plain INSERT, run twice</a:t>
            </a:r>
            <a:endParaRPr lang="en-US" sz="1300" dirty="0"/>
          </a:p>
        </p:txBody>
      </p:sp>
      <p:sp>
        <p:nvSpPr>
          <p:cNvPr id="6" name="Shape 4"/>
          <p:cNvSpPr/>
          <p:nvPr/>
        </p:nvSpPr>
        <p:spPr>
          <a:xfrm>
            <a:off x="640080" y="1572768"/>
            <a:ext cx="3639312" cy="1216152"/>
          </a:xfrm>
          <a:prstGeom prst="roundRect">
            <a:avLst>
              <a:gd name="adj" fmla="val 3759"/>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758952" y="1645920"/>
            <a:ext cx="3429000" cy="1097280"/>
          </a:xfrm>
          <a:prstGeom prst="rect">
            <a:avLst/>
          </a:prstGeom>
          <a:noFill/>
          <a:ln/>
        </p:spPr>
        <p:txBody>
          <a:bodyPr wrap="square" lIns="0" tIns="0" rIns="0" bIns="0" rtlCol="0" anchor="t"/>
          <a:lstStyle/>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INSERT INTO staging.sellers</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  (seller_id, city, state)</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SELECT seller_id, seller_city, seller_state</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FROM raw.sellers;</a:t>
            </a:r>
            <a:endParaRPr lang="en-US" sz="900" dirty="0"/>
          </a:p>
          <a:p>
            <a:pPr marL="0" indent="0">
              <a:lnSpc>
                <a:spcPct val="100000"/>
              </a:lnSpc>
              <a:buNone/>
            </a:pPr>
            <a:r>
              <a:rPr lang="en-US" sz="900" dirty="0">
                <a:solidFill>
                  <a:srgbClr val="8A9BA8"/>
                </a:solidFill>
                <a:latin typeface="Courier New" pitchFamily="34" charset="0"/>
                <a:ea typeface="Courier New" pitchFamily="34" charset="-122"/>
                <a:cs typeface="Courier New" pitchFamily="34" charset="-120"/>
              </a:rPr>
              <a:t>-- run 2:</a:t>
            </a:r>
            <a:endParaRPr lang="en-US" sz="900" dirty="0"/>
          </a:p>
          <a:p>
            <a:pPr marL="0" indent="0">
              <a:lnSpc>
                <a:spcPct val="100000"/>
              </a:lnSpc>
              <a:buNone/>
            </a:pPr>
            <a:r>
              <a:rPr lang="en-US" sz="900" b="1" dirty="0">
                <a:solidFill>
                  <a:srgbClr val="F08A80"/>
                </a:solidFill>
                <a:latin typeface="Courier New" pitchFamily="34" charset="0"/>
                <a:ea typeface="Courier New" pitchFamily="34" charset="-122"/>
                <a:cs typeface="Courier New" pitchFamily="34" charset="-120"/>
              </a:rPr>
              <a:t>ERROR: duplicate key value</a:t>
            </a:r>
            <a:endParaRPr lang="en-US" sz="900" dirty="0"/>
          </a:p>
          <a:p>
            <a:pPr marL="0" indent="0">
              <a:lnSpc>
                <a:spcPct val="100000"/>
              </a:lnSpc>
              <a:buNone/>
            </a:pPr>
            <a:r>
              <a:rPr lang="en-US" sz="900" b="1" dirty="0">
                <a:solidFill>
                  <a:srgbClr val="F08A80"/>
                </a:solidFill>
                <a:latin typeface="Courier New" pitchFamily="34" charset="0"/>
                <a:ea typeface="Courier New" pitchFamily="34" charset="-122"/>
                <a:cs typeface="Courier New" pitchFamily="34" charset="-120"/>
              </a:rPr>
              <a:t>violates unique constraint "sellers_pkey"</a:t>
            </a:r>
            <a:endParaRPr lang="en-US" sz="900" dirty="0"/>
          </a:p>
        </p:txBody>
      </p:sp>
      <p:sp>
        <p:nvSpPr>
          <p:cNvPr id="8" name="Shape 6"/>
          <p:cNvSpPr/>
          <p:nvPr/>
        </p:nvSpPr>
        <p:spPr>
          <a:xfrm>
            <a:off x="4681728" y="1143000"/>
            <a:ext cx="4005072" cy="1783080"/>
          </a:xfrm>
          <a:prstGeom prst="roundRect">
            <a:avLst>
              <a:gd name="adj" fmla="val 4103"/>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4864608" y="1234440"/>
            <a:ext cx="3657600" cy="274320"/>
          </a:xfrm>
          <a:prstGeom prst="rect">
            <a:avLst/>
          </a:prstGeom>
          <a:noFill/>
          <a:ln/>
        </p:spPr>
        <p:txBody>
          <a:bodyPr wrap="square" lIns="0" tIns="0" rIns="0" bIns="0"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INSERT … ON CONFLICT, run twice</a:t>
            </a:r>
            <a:endParaRPr lang="en-US" sz="1300" dirty="0"/>
          </a:p>
        </p:txBody>
      </p:sp>
      <p:sp>
        <p:nvSpPr>
          <p:cNvPr id="10" name="Shape 8"/>
          <p:cNvSpPr/>
          <p:nvPr/>
        </p:nvSpPr>
        <p:spPr>
          <a:xfrm>
            <a:off x="4864608" y="1572768"/>
            <a:ext cx="3639312" cy="1216152"/>
          </a:xfrm>
          <a:prstGeom prst="roundRect">
            <a:avLst>
              <a:gd name="adj" fmla="val 3759"/>
            </a:avLst>
          </a:prstGeom>
          <a:solidFill>
            <a:srgbClr val="13212E"/>
          </a:solidFill>
          <a:ln w="12700">
            <a:solidFill>
              <a:srgbClr val="13212E"/>
            </a:solidFill>
            <a:prstDash val="solid"/>
          </a:ln>
        </p:spPr>
        <p:txBody>
          <a:bodyPr/>
          <a:lstStyle/>
          <a:p>
            <a:endParaRPr lang="en-TH"/>
          </a:p>
        </p:txBody>
      </p:sp>
      <p:sp>
        <p:nvSpPr>
          <p:cNvPr id="11" name="Text 9"/>
          <p:cNvSpPr txBox="1"/>
          <p:nvPr/>
        </p:nvSpPr>
        <p:spPr>
          <a:xfrm>
            <a:off x="4983480" y="1645920"/>
            <a:ext cx="3429000" cy="1097280"/>
          </a:xfrm>
          <a:prstGeom prst="rect">
            <a:avLst/>
          </a:prstGeom>
          <a:noFill/>
          <a:ln/>
        </p:spPr>
        <p:txBody>
          <a:bodyPr wrap="square" lIns="0" tIns="0" rIns="0" bIns="0" rtlCol="0" anchor="t"/>
          <a:lstStyle/>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INSERT INTO staging.sellers</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  (seller_id, city, state)</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SELECT seller_id, seller_city, seller_state</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FROM raw.sellers</a:t>
            </a:r>
            <a:endParaRPr lang="en-US" sz="900" dirty="0"/>
          </a:p>
          <a:p>
            <a:pPr marL="0" indent="0">
              <a:lnSpc>
                <a:spcPct val="100000"/>
              </a:lnSpc>
              <a:buNone/>
            </a:pPr>
            <a:r>
              <a:rPr lang="en-US" sz="900" dirty="0">
                <a:solidFill>
                  <a:srgbClr val="E6EEF2"/>
                </a:solidFill>
                <a:latin typeface="Courier New" pitchFamily="34" charset="0"/>
                <a:ea typeface="Courier New" pitchFamily="34" charset="-122"/>
                <a:cs typeface="Courier New" pitchFamily="34" charset="-120"/>
              </a:rPr>
              <a:t>ON CONFLICT (seller_id) DO UPDATE …;</a:t>
            </a:r>
            <a:endParaRPr lang="en-US" sz="900" dirty="0"/>
          </a:p>
          <a:p>
            <a:pPr marL="0" indent="0">
              <a:lnSpc>
                <a:spcPct val="100000"/>
              </a:lnSpc>
              <a:buNone/>
            </a:pPr>
            <a:r>
              <a:rPr lang="en-US" sz="900" dirty="0">
                <a:solidFill>
                  <a:srgbClr val="8A9BA8"/>
                </a:solidFill>
                <a:latin typeface="Courier New" pitchFamily="34" charset="0"/>
                <a:ea typeface="Courier New" pitchFamily="34" charset="-122"/>
                <a:cs typeface="Courier New" pitchFamily="34" charset="-120"/>
              </a:rPr>
              <a:t>-- run 2:</a:t>
            </a:r>
            <a:endParaRPr lang="en-US" sz="900" dirty="0"/>
          </a:p>
          <a:p>
            <a:pPr marL="0" indent="0">
              <a:lnSpc>
                <a:spcPct val="100000"/>
              </a:lnSpc>
              <a:buNone/>
            </a:pPr>
            <a:r>
              <a:rPr lang="en-US" sz="900" b="1" dirty="0">
                <a:solidFill>
                  <a:srgbClr val="8FD3B6"/>
                </a:solidFill>
                <a:latin typeface="Courier New" pitchFamily="34" charset="0"/>
                <a:ea typeface="Courier New" pitchFamily="34" charset="-122"/>
                <a:cs typeface="Courier New" pitchFamily="34" charset="-120"/>
              </a:rPr>
              <a:t>INSERT 0 0   no error, no duplicates</a:t>
            </a:r>
            <a:endParaRPr lang="en-US" sz="900" dirty="0"/>
          </a:p>
        </p:txBody>
      </p:sp>
      <p:sp>
        <p:nvSpPr>
          <p:cNvPr id="12" name="Shape 10"/>
          <p:cNvSpPr/>
          <p:nvPr/>
        </p:nvSpPr>
        <p:spPr>
          <a:xfrm>
            <a:off x="457200" y="3108960"/>
            <a:ext cx="2633472" cy="1234440"/>
          </a:xfrm>
          <a:prstGeom prst="roundRect">
            <a:avLst>
              <a:gd name="adj" fmla="val 5926"/>
            </a:avLst>
          </a:prstGeom>
          <a:solidFill>
            <a:srgbClr val="F1F5F7"/>
          </a:solidFill>
          <a:ln w="12700">
            <a:solidFill>
              <a:srgbClr val="F1F5F7"/>
            </a:solidFill>
            <a:prstDash val="solid"/>
          </a:ln>
        </p:spPr>
        <p:txBody>
          <a:bodyPr/>
          <a:lstStyle/>
          <a:p>
            <a:endParaRPr lang="en-TH"/>
          </a:p>
        </p:txBody>
      </p:sp>
      <p:sp>
        <p:nvSpPr>
          <p:cNvPr id="13" name="Shape 11"/>
          <p:cNvSpPr/>
          <p:nvPr/>
        </p:nvSpPr>
        <p:spPr>
          <a:xfrm>
            <a:off x="640080" y="3273552"/>
            <a:ext cx="329184" cy="329184"/>
          </a:xfrm>
          <a:prstGeom prst="ellipse">
            <a:avLst/>
          </a:prstGeom>
          <a:solidFill>
            <a:srgbClr val="0E7C7B"/>
          </a:solidFill>
          <a:ln w="12700">
            <a:solidFill>
              <a:srgbClr val="0E7C7B"/>
            </a:solidFill>
            <a:prstDash val="solid"/>
          </a:ln>
        </p:spPr>
        <p:txBody>
          <a:bodyPr/>
          <a:lstStyle/>
          <a:p>
            <a:endParaRPr lang="en-TH"/>
          </a:p>
        </p:txBody>
      </p:sp>
      <p:sp>
        <p:nvSpPr>
          <p:cNvPr id="14" name="Text 12"/>
          <p:cNvSpPr txBox="1"/>
          <p:nvPr/>
        </p:nvSpPr>
        <p:spPr>
          <a:xfrm>
            <a:off x="640080" y="32735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078992" y="3273552"/>
            <a:ext cx="1874520" cy="32918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Pipelines re-run</a:t>
            </a:r>
            <a:endParaRPr lang="en-US" sz="1400" dirty="0"/>
          </a:p>
        </p:txBody>
      </p:sp>
      <p:sp>
        <p:nvSpPr>
          <p:cNvPr id="16" name="Text 14"/>
          <p:cNvSpPr txBox="1"/>
          <p:nvPr/>
        </p:nvSpPr>
        <p:spPr>
          <a:xfrm>
            <a:off x="640080" y="3703320"/>
            <a:ext cx="2286000" cy="566928"/>
          </a:xfrm>
          <a:prstGeom prst="rect">
            <a:avLst/>
          </a:prstGeom>
          <a:noFill/>
          <a:ln/>
        </p:spPr>
        <p:txBody>
          <a:bodyPr wrap="square" lIns="0" tIns="0" rIns="0" bIns="0" rtlCol="0" anchor="t"/>
          <a:lstStyle/>
          <a:p>
            <a:pPr marL="0" indent="0">
              <a:buNone/>
            </a:pPr>
            <a:r>
              <a:rPr lang="en-US" sz="1100" dirty="0">
                <a:solidFill>
                  <a:srgbClr val="5B6B77"/>
                </a:solidFill>
                <a:latin typeface="Calibri" pitchFamily="34" charset="0"/>
                <a:ea typeface="Calibri" pitchFamily="34" charset="-122"/>
                <a:cs typeface="Calibri" pitchFamily="34" charset="-120"/>
              </a:rPr>
              <a:t>Jobs fail and retry. Running twice must give the same table: idempotent.</a:t>
            </a:r>
            <a:endParaRPr lang="en-US" sz="1100" dirty="0"/>
          </a:p>
        </p:txBody>
      </p:sp>
      <p:sp>
        <p:nvSpPr>
          <p:cNvPr id="17" name="Shape 15"/>
          <p:cNvSpPr/>
          <p:nvPr/>
        </p:nvSpPr>
        <p:spPr>
          <a:xfrm>
            <a:off x="3236976" y="3108960"/>
            <a:ext cx="2633472" cy="1234440"/>
          </a:xfrm>
          <a:prstGeom prst="roundRect">
            <a:avLst>
              <a:gd name="adj" fmla="val 5926"/>
            </a:avLst>
          </a:prstGeom>
          <a:solidFill>
            <a:srgbClr val="F1F5F7"/>
          </a:solidFill>
          <a:ln w="12700">
            <a:solidFill>
              <a:srgbClr val="F1F5F7"/>
            </a:solidFill>
            <a:prstDash val="solid"/>
          </a:ln>
        </p:spPr>
        <p:txBody>
          <a:bodyPr/>
          <a:lstStyle/>
          <a:p>
            <a:endParaRPr lang="en-TH"/>
          </a:p>
        </p:txBody>
      </p:sp>
      <p:sp>
        <p:nvSpPr>
          <p:cNvPr id="18" name="Shape 16"/>
          <p:cNvSpPr/>
          <p:nvPr/>
        </p:nvSpPr>
        <p:spPr>
          <a:xfrm>
            <a:off x="3419856" y="3273552"/>
            <a:ext cx="329184" cy="329184"/>
          </a:xfrm>
          <a:prstGeom prst="ellipse">
            <a:avLst/>
          </a:prstGeom>
          <a:solidFill>
            <a:srgbClr val="0E7C7B"/>
          </a:solidFill>
          <a:ln w="12700">
            <a:solidFill>
              <a:srgbClr val="0E7C7B"/>
            </a:solidFill>
            <a:prstDash val="solid"/>
          </a:ln>
        </p:spPr>
        <p:txBody>
          <a:bodyPr/>
          <a:lstStyle/>
          <a:p>
            <a:endParaRPr lang="en-TH"/>
          </a:p>
        </p:txBody>
      </p:sp>
      <p:sp>
        <p:nvSpPr>
          <p:cNvPr id="19" name="Text 17"/>
          <p:cNvSpPr txBox="1"/>
          <p:nvPr/>
        </p:nvSpPr>
        <p:spPr>
          <a:xfrm>
            <a:off x="3419856" y="32735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3858768" y="3273552"/>
            <a:ext cx="1874520" cy="32918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Data changes</a:t>
            </a:r>
            <a:endParaRPr lang="en-US" sz="1400" dirty="0"/>
          </a:p>
        </p:txBody>
      </p:sp>
      <p:sp>
        <p:nvSpPr>
          <p:cNvPr id="21" name="Text 19"/>
          <p:cNvSpPr txBox="1"/>
          <p:nvPr/>
        </p:nvSpPr>
        <p:spPr>
          <a:xfrm>
            <a:off x="3419856" y="3703320"/>
            <a:ext cx="2286000" cy="566928"/>
          </a:xfrm>
          <a:prstGeom prst="rect">
            <a:avLst/>
          </a:prstGeom>
          <a:noFill/>
          <a:ln/>
        </p:spPr>
        <p:txBody>
          <a:bodyPr wrap="square" lIns="0" tIns="0" rIns="0" bIns="0" rtlCol="0" anchor="t"/>
          <a:lstStyle/>
          <a:p>
            <a:pPr marL="0" indent="0">
              <a:buNone/>
            </a:pPr>
            <a:r>
              <a:rPr lang="en-US" sz="1100" dirty="0">
                <a:solidFill>
                  <a:srgbClr val="5B6B77"/>
                </a:solidFill>
                <a:latin typeface="Calibri" pitchFamily="34" charset="0"/>
                <a:ea typeface="Calibri" pitchFamily="34" charset="-122"/>
                <a:cs typeface="Calibri" pitchFamily="34" charset="-120"/>
              </a:rPr>
              <a:t>A seller moves city: update the row that exists, don’t add a second one.</a:t>
            </a:r>
            <a:endParaRPr lang="en-US" sz="1100" dirty="0"/>
          </a:p>
        </p:txBody>
      </p:sp>
      <p:sp>
        <p:nvSpPr>
          <p:cNvPr id="22" name="Shape 20"/>
          <p:cNvSpPr/>
          <p:nvPr/>
        </p:nvSpPr>
        <p:spPr>
          <a:xfrm>
            <a:off x="6016752" y="3108960"/>
            <a:ext cx="2633472" cy="1234440"/>
          </a:xfrm>
          <a:prstGeom prst="roundRect">
            <a:avLst>
              <a:gd name="adj" fmla="val 5926"/>
            </a:avLst>
          </a:prstGeom>
          <a:solidFill>
            <a:srgbClr val="F1F5F7"/>
          </a:solidFill>
          <a:ln w="12700">
            <a:solidFill>
              <a:srgbClr val="F1F5F7"/>
            </a:solidFill>
            <a:prstDash val="solid"/>
          </a:ln>
        </p:spPr>
        <p:txBody>
          <a:bodyPr/>
          <a:lstStyle/>
          <a:p>
            <a:endParaRPr lang="en-TH"/>
          </a:p>
        </p:txBody>
      </p:sp>
      <p:sp>
        <p:nvSpPr>
          <p:cNvPr id="23" name="Shape 21"/>
          <p:cNvSpPr/>
          <p:nvPr/>
        </p:nvSpPr>
        <p:spPr>
          <a:xfrm>
            <a:off x="6199632" y="3273552"/>
            <a:ext cx="329184" cy="329184"/>
          </a:xfrm>
          <a:prstGeom prst="ellipse">
            <a:avLst/>
          </a:prstGeom>
          <a:solidFill>
            <a:srgbClr val="0E7C7B"/>
          </a:solidFill>
          <a:ln w="12700">
            <a:solidFill>
              <a:srgbClr val="0E7C7B"/>
            </a:solidFill>
            <a:prstDash val="solid"/>
          </a:ln>
        </p:spPr>
        <p:txBody>
          <a:bodyPr/>
          <a:lstStyle/>
          <a:p>
            <a:endParaRPr lang="en-TH"/>
          </a:p>
        </p:txBody>
      </p:sp>
      <p:sp>
        <p:nvSpPr>
          <p:cNvPr id="24" name="Text 22"/>
          <p:cNvSpPr txBox="1"/>
          <p:nvPr/>
        </p:nvSpPr>
        <p:spPr>
          <a:xfrm>
            <a:off x="6199632" y="32735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6638544" y="3273552"/>
            <a:ext cx="1874520" cy="32918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New rows arrive</a:t>
            </a:r>
            <a:endParaRPr lang="en-US" sz="1400" dirty="0"/>
          </a:p>
        </p:txBody>
      </p:sp>
      <p:sp>
        <p:nvSpPr>
          <p:cNvPr id="26" name="Text 24"/>
          <p:cNvSpPr txBox="1"/>
          <p:nvPr/>
        </p:nvSpPr>
        <p:spPr>
          <a:xfrm>
            <a:off x="6199632" y="3703320"/>
            <a:ext cx="2286000" cy="566928"/>
          </a:xfrm>
          <a:prstGeom prst="rect">
            <a:avLst/>
          </a:prstGeom>
          <a:noFill/>
          <a:ln/>
        </p:spPr>
        <p:txBody>
          <a:bodyPr wrap="square" lIns="0" tIns="0" rIns="0" bIns="0" rtlCol="0" anchor="t"/>
          <a:lstStyle/>
          <a:p>
            <a:pPr marL="0" indent="0">
              <a:buNone/>
            </a:pPr>
            <a:r>
              <a:rPr lang="en-US" sz="1100" dirty="0">
                <a:solidFill>
                  <a:srgbClr val="5B6B77"/>
                </a:solidFill>
                <a:latin typeface="Calibri" pitchFamily="34" charset="0"/>
                <a:ea typeface="Calibri" pitchFamily="34" charset="-122"/>
                <a:cs typeface="Calibri" pitchFamily="34" charset="-120"/>
              </a:rPr>
              <a:t>New keys are inserted and existing keys updated, in one statement.</a:t>
            </a:r>
            <a:endParaRPr lang="en-US" sz="1100" dirty="0"/>
          </a:p>
        </p:txBody>
      </p:sp>
      <p:sp>
        <p:nvSpPr>
          <p:cNvPr id="27" name="Text 25"/>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45720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LIVE DEMO</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Test the three reasons</a:t>
            </a:r>
            <a:endParaRPr lang="en-US" sz="2800" dirty="0"/>
          </a:p>
        </p:txBody>
      </p:sp>
      <p:sp>
        <p:nvSpPr>
          <p:cNvPr id="4" name="Shape 2"/>
          <p:cNvSpPr/>
          <p:nvPr/>
        </p:nvSpPr>
        <p:spPr>
          <a:xfrm>
            <a:off x="457200" y="1115568"/>
            <a:ext cx="8229600" cy="384048"/>
          </a:xfrm>
          <a:prstGeom prst="roundRect">
            <a:avLst>
              <a:gd name="adj" fmla="val 14286"/>
            </a:avLst>
          </a:prstGeom>
          <a:solidFill>
            <a:srgbClr val="FDEBD8"/>
          </a:solidFill>
          <a:ln w="12700">
            <a:solidFill>
              <a:srgbClr val="FDEBD8"/>
            </a:solidFill>
            <a:prstDash val="solid"/>
          </a:ln>
        </p:spPr>
        <p:txBody>
          <a:bodyPr/>
          <a:lstStyle/>
          <a:p>
            <a:endParaRPr lang="en-TH"/>
          </a:p>
        </p:txBody>
      </p:sp>
      <p:sp>
        <p:nvSpPr>
          <p:cNvPr id="5" name="Text 3"/>
          <p:cNvSpPr txBox="1"/>
          <p:nvPr/>
        </p:nvSpPr>
        <p:spPr>
          <a:xfrm>
            <a:off x="640080" y="1115568"/>
            <a:ext cx="7863840" cy="384048"/>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BEGIN;</a:t>
            </a:r>
            <a:r>
              <a:rPr lang="en-US" sz="1200" dirty="0">
                <a:solidFill>
                  <a:srgbClr val="1F2933"/>
                </a:solidFill>
                <a:latin typeface="Calibri" pitchFamily="34" charset="0"/>
                <a:ea typeface="Calibri" pitchFamily="34" charset="-122"/>
                <a:cs typeface="Calibri" pitchFamily="34" charset="-120"/>
              </a:rPr>
              <a:t>  first  →  run the three tests  →  </a:t>
            </a:r>
            <a:r>
              <a:rPr lang="en-US" sz="1200" b="1" dirty="0">
                <a:solidFill>
                  <a:srgbClr val="1F2933"/>
                </a:solidFill>
                <a:latin typeface="Courier New" pitchFamily="34" charset="0"/>
                <a:ea typeface="Courier New" pitchFamily="34" charset="-122"/>
                <a:cs typeface="Courier New" pitchFamily="34" charset="-120"/>
              </a:rPr>
              <a:t>ROLLBACK;</a:t>
            </a:r>
            <a:r>
              <a:rPr lang="en-US" sz="1200" dirty="0">
                <a:solidFill>
                  <a:srgbClr val="1F2933"/>
                </a:solidFill>
                <a:latin typeface="Calibri" pitchFamily="34" charset="0"/>
                <a:ea typeface="Calibri" pitchFamily="34" charset="-122"/>
                <a:cs typeface="Calibri" pitchFamily="34" charset="-120"/>
              </a:rPr>
              <a:t>  at the end: raw and staging go back exactly as they were.</a:t>
            </a:r>
            <a:endParaRPr lang="en-US" sz="1200" dirty="0"/>
          </a:p>
        </p:txBody>
      </p:sp>
      <p:sp>
        <p:nvSpPr>
          <p:cNvPr id="6" name="Shape 4"/>
          <p:cNvSpPr/>
          <p:nvPr/>
        </p:nvSpPr>
        <p:spPr>
          <a:xfrm>
            <a:off x="457200" y="1645920"/>
            <a:ext cx="2633472" cy="2971800"/>
          </a:xfrm>
          <a:prstGeom prst="roundRect">
            <a:avLst>
              <a:gd name="adj" fmla="val 2778"/>
            </a:avLst>
          </a:prstGeom>
          <a:solidFill>
            <a:srgbClr val="F1F5F7"/>
          </a:solidFill>
          <a:ln w="12700">
            <a:solidFill>
              <a:srgbClr val="F1F5F7"/>
            </a:solidFill>
            <a:prstDash val="solid"/>
          </a:ln>
        </p:spPr>
        <p:txBody>
          <a:bodyPr/>
          <a:lstStyle/>
          <a:p>
            <a:endParaRPr lang="en-TH"/>
          </a:p>
        </p:txBody>
      </p:sp>
      <p:sp>
        <p:nvSpPr>
          <p:cNvPr id="7" name="Shape 5"/>
          <p:cNvSpPr/>
          <p:nvPr/>
        </p:nvSpPr>
        <p:spPr>
          <a:xfrm>
            <a:off x="621792" y="1783080"/>
            <a:ext cx="310896" cy="310896"/>
          </a:xfrm>
          <a:prstGeom prst="ellipse">
            <a:avLst/>
          </a:prstGeom>
          <a:solidFill>
            <a:srgbClr val="0E7C7B"/>
          </a:solidFill>
          <a:ln w="12700">
            <a:solidFill>
              <a:srgbClr val="0E7C7B"/>
            </a:solidFill>
            <a:prstDash val="solid"/>
          </a:ln>
        </p:spPr>
        <p:txBody>
          <a:bodyPr/>
          <a:lstStyle/>
          <a:p>
            <a:endParaRPr lang="en-TH"/>
          </a:p>
        </p:txBody>
      </p:sp>
      <p:sp>
        <p:nvSpPr>
          <p:cNvPr id="8" name="Text 6"/>
          <p:cNvSpPr txBox="1"/>
          <p:nvPr/>
        </p:nvSpPr>
        <p:spPr>
          <a:xfrm>
            <a:off x="621792" y="17830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24128" y="1755648"/>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Pipelines re-run</a:t>
            </a:r>
            <a:endParaRPr lang="en-US" sz="1300" dirty="0"/>
          </a:p>
        </p:txBody>
      </p:sp>
      <p:sp>
        <p:nvSpPr>
          <p:cNvPr id="10" name="Text 8"/>
          <p:cNvSpPr txBox="1"/>
          <p:nvPr/>
        </p:nvSpPr>
        <p:spPr>
          <a:xfrm>
            <a:off x="1024128" y="1965960"/>
            <a:ext cx="1965960" cy="182880"/>
          </a:xfrm>
          <a:prstGeom prst="rect">
            <a:avLst/>
          </a:prstGeom>
          <a:noFill/>
          <a:ln/>
        </p:spPr>
        <p:txBody>
          <a:bodyPr wrap="square" lIns="0" tIns="0" rIns="0" bIns="0" rtlCol="0" anchor="ctr"/>
          <a:lstStyle/>
          <a:p>
            <a:pPr marL="0" indent="0">
              <a:buNone/>
            </a:pPr>
            <a:r>
              <a:rPr lang="en-US" sz="1000" b="1" dirty="0">
                <a:solidFill>
                  <a:srgbClr val="0E7C7B"/>
                </a:solidFill>
                <a:latin typeface="Calibri" pitchFamily="34" charset="0"/>
                <a:ea typeface="Calibri" pitchFamily="34" charset="-122"/>
                <a:cs typeface="Calibri" pitchFamily="34" charset="-120"/>
              </a:rPr>
              <a:t>raw: no change</a:t>
            </a:r>
            <a:endParaRPr lang="en-US" sz="1000" dirty="0"/>
          </a:p>
        </p:txBody>
      </p:sp>
      <p:sp>
        <p:nvSpPr>
          <p:cNvPr id="11" name="Shape 9"/>
          <p:cNvSpPr/>
          <p:nvPr/>
        </p:nvSpPr>
        <p:spPr>
          <a:xfrm>
            <a:off x="594360" y="2267712"/>
            <a:ext cx="2359152" cy="1417320"/>
          </a:xfrm>
          <a:prstGeom prst="roundRect">
            <a:avLst>
              <a:gd name="adj" fmla="val 3226"/>
            </a:avLst>
          </a:prstGeom>
          <a:solidFill>
            <a:srgbClr val="13212E"/>
          </a:solidFill>
          <a:ln w="12700">
            <a:solidFill>
              <a:srgbClr val="13212E"/>
            </a:solidFill>
            <a:prstDash val="solid"/>
          </a:ln>
        </p:spPr>
        <p:txBody>
          <a:bodyPr/>
          <a:lstStyle/>
          <a:p>
            <a:endParaRPr lang="en-TH"/>
          </a:p>
        </p:txBody>
      </p:sp>
      <p:sp>
        <p:nvSpPr>
          <p:cNvPr id="12" name="Text 10"/>
          <p:cNvSpPr txBox="1"/>
          <p:nvPr/>
        </p:nvSpPr>
        <p:spPr>
          <a:xfrm>
            <a:off x="704088" y="2340864"/>
            <a:ext cx="2176272" cy="1298448"/>
          </a:xfrm>
          <a:prstGeom prst="rect">
            <a:avLst/>
          </a:prstGeom>
          <a:noFill/>
          <a:ln/>
        </p:spPr>
        <p:txBody>
          <a:bodyPr wrap="square" lIns="0" tIns="0" rIns="0" bIns="0" rtlCol="0" anchor="t"/>
          <a:lstStyle/>
          <a:p>
            <a:pPr marL="0" indent="0">
              <a:buNone/>
            </a:pPr>
            <a:r>
              <a:rPr lang="en-US" sz="850" dirty="0">
                <a:solidFill>
                  <a:srgbClr val="8A9BA8"/>
                </a:solidFill>
                <a:latin typeface="Courier New" pitchFamily="34" charset="0"/>
                <a:ea typeface="Courier New" pitchFamily="34" charset="-122"/>
                <a:cs typeface="Courier New" pitchFamily="34" charset="-120"/>
              </a:rPr>
              <a:t>-- just run the UPSERT</a:t>
            </a:r>
            <a:endParaRPr lang="en-US" sz="850" dirty="0"/>
          </a:p>
          <a:p>
            <a:pPr marL="0" indent="0">
              <a:buNone/>
            </a:pPr>
            <a:r>
              <a:rPr lang="en-US" sz="850" dirty="0">
                <a:solidFill>
                  <a:srgbClr val="8A9BA8"/>
                </a:solidFill>
                <a:latin typeface="Courier New" pitchFamily="34" charset="0"/>
                <a:ea typeface="Courier New" pitchFamily="34" charset="-122"/>
                <a:cs typeface="Courier New" pitchFamily="34" charset="-120"/>
              </a:rPr>
              <a:t>-- script (slide 15) again</a:t>
            </a:r>
            <a:endParaRPr lang="en-US" sz="850" dirty="0"/>
          </a:p>
        </p:txBody>
      </p:sp>
      <p:sp>
        <p:nvSpPr>
          <p:cNvPr id="13" name="Shape 11"/>
          <p:cNvSpPr/>
          <p:nvPr/>
        </p:nvSpPr>
        <p:spPr>
          <a:xfrm>
            <a:off x="594360" y="3776472"/>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14" name="Text 12"/>
          <p:cNvSpPr txBox="1"/>
          <p:nvPr/>
        </p:nvSpPr>
        <p:spPr>
          <a:xfrm>
            <a:off x="594360" y="3776472"/>
            <a:ext cx="2359152" cy="292608"/>
          </a:xfrm>
          <a:prstGeom prst="rect">
            <a:avLst/>
          </a:prstGeom>
          <a:noFill/>
          <a:ln/>
        </p:spPr>
        <p:txBody>
          <a:bodyPr wrap="square" lIns="0" tIns="0" rIns="0" bIns="0" rtlCol="0" anchor="ctr"/>
          <a:lstStyle/>
          <a:p>
            <a:pPr marL="0" indent="0" algn="ctr">
              <a:buNone/>
            </a:pPr>
            <a:r>
              <a:rPr lang="en-US" sz="1100" b="1" dirty="0">
                <a:solidFill>
                  <a:srgbClr val="0E7C7B"/>
                </a:solidFill>
                <a:latin typeface="Courier New" pitchFamily="34" charset="0"/>
                <a:ea typeface="Courier New" pitchFamily="34" charset="-122"/>
                <a:cs typeface="Courier New" pitchFamily="34" charset="-120"/>
              </a:rPr>
              <a:t>INSERT 0 0</a:t>
            </a:r>
            <a:endParaRPr lang="en-US" sz="1100" dirty="0"/>
          </a:p>
        </p:txBody>
      </p:sp>
      <p:sp>
        <p:nvSpPr>
          <p:cNvPr id="15" name="Text 13"/>
          <p:cNvSpPr txBox="1"/>
          <p:nvPr/>
        </p:nvSpPr>
        <p:spPr>
          <a:xfrm>
            <a:off x="594360" y="4160520"/>
            <a:ext cx="2359152" cy="274320"/>
          </a:xfrm>
          <a:prstGeom prst="rect">
            <a:avLst/>
          </a:prstGeom>
          <a:noFill/>
          <a:ln/>
        </p:spPr>
        <p:txBody>
          <a:bodyPr wrap="square" lIns="0" tIns="0" rIns="0" bIns="0" rtlCol="0" anchor="ctr"/>
          <a:lstStyle/>
          <a:p>
            <a:pPr marL="0" indent="0" algn="ctr">
              <a:buNone/>
            </a:pPr>
            <a:r>
              <a:rPr lang="en-US" sz="1100" dirty="0">
                <a:solidFill>
                  <a:srgbClr val="5B6B77"/>
                </a:solidFill>
                <a:latin typeface="Calibri" pitchFamily="34" charset="0"/>
                <a:ea typeface="Calibri" pitchFamily="34" charset="-122"/>
                <a:cs typeface="Calibri" pitchFamily="34" charset="-120"/>
              </a:rPr>
              <a:t>Same table after every run</a:t>
            </a:r>
            <a:endParaRPr lang="en-US" sz="1100" dirty="0"/>
          </a:p>
        </p:txBody>
      </p:sp>
      <p:sp>
        <p:nvSpPr>
          <p:cNvPr id="16" name="Shape 14"/>
          <p:cNvSpPr/>
          <p:nvPr/>
        </p:nvSpPr>
        <p:spPr>
          <a:xfrm>
            <a:off x="3236976" y="1645920"/>
            <a:ext cx="2633472" cy="2971800"/>
          </a:xfrm>
          <a:prstGeom prst="roundRect">
            <a:avLst>
              <a:gd name="adj" fmla="val 2778"/>
            </a:avLst>
          </a:prstGeom>
          <a:solidFill>
            <a:srgbClr val="F1F5F7"/>
          </a:solidFill>
          <a:ln w="12700">
            <a:solidFill>
              <a:srgbClr val="F1F5F7"/>
            </a:solidFill>
            <a:prstDash val="solid"/>
          </a:ln>
        </p:spPr>
        <p:txBody>
          <a:bodyPr/>
          <a:lstStyle/>
          <a:p>
            <a:endParaRPr lang="en-TH"/>
          </a:p>
        </p:txBody>
      </p:sp>
      <p:sp>
        <p:nvSpPr>
          <p:cNvPr id="17" name="Shape 15"/>
          <p:cNvSpPr/>
          <p:nvPr/>
        </p:nvSpPr>
        <p:spPr>
          <a:xfrm>
            <a:off x="3401568" y="1783080"/>
            <a:ext cx="310896" cy="310896"/>
          </a:xfrm>
          <a:prstGeom prst="ellipse">
            <a:avLst/>
          </a:prstGeom>
          <a:solidFill>
            <a:srgbClr val="0E7C7B"/>
          </a:solidFill>
          <a:ln w="12700">
            <a:solidFill>
              <a:srgbClr val="0E7C7B"/>
            </a:solidFill>
            <a:prstDash val="solid"/>
          </a:ln>
        </p:spPr>
        <p:txBody>
          <a:bodyPr/>
          <a:lstStyle/>
          <a:p>
            <a:endParaRPr lang="en-TH"/>
          </a:p>
        </p:txBody>
      </p:sp>
      <p:sp>
        <p:nvSpPr>
          <p:cNvPr id="18" name="Text 16"/>
          <p:cNvSpPr txBox="1"/>
          <p:nvPr/>
        </p:nvSpPr>
        <p:spPr>
          <a:xfrm>
            <a:off x="3401568" y="17830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txBox="1"/>
          <p:nvPr/>
        </p:nvSpPr>
        <p:spPr>
          <a:xfrm>
            <a:off x="3803904" y="1755648"/>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Data changes</a:t>
            </a:r>
            <a:endParaRPr lang="en-US" sz="1300" dirty="0"/>
          </a:p>
        </p:txBody>
      </p:sp>
      <p:sp>
        <p:nvSpPr>
          <p:cNvPr id="20" name="Text 18"/>
          <p:cNvSpPr txBox="1"/>
          <p:nvPr/>
        </p:nvSpPr>
        <p:spPr>
          <a:xfrm>
            <a:off x="3803904" y="1965960"/>
            <a:ext cx="1965960" cy="182880"/>
          </a:xfrm>
          <a:prstGeom prst="rect">
            <a:avLst/>
          </a:prstGeom>
          <a:noFill/>
          <a:ln/>
        </p:spPr>
        <p:txBody>
          <a:bodyPr wrap="square" lIns="0" tIns="0" rIns="0" bIns="0" rtlCol="0" anchor="ctr"/>
          <a:lstStyle/>
          <a:p>
            <a:pPr marL="0" indent="0">
              <a:buNone/>
            </a:pPr>
            <a:r>
              <a:rPr lang="en-US" sz="1000" b="1" dirty="0">
                <a:solidFill>
                  <a:srgbClr val="C2660F"/>
                </a:solidFill>
                <a:latin typeface="Calibri" pitchFamily="34" charset="0"/>
                <a:ea typeface="Calibri" pitchFamily="34" charset="-122"/>
                <a:cs typeface="Calibri" pitchFamily="34" charset="-120"/>
              </a:rPr>
              <a:t>raw: UPDATE one row</a:t>
            </a:r>
            <a:endParaRPr lang="en-US" sz="1000" dirty="0"/>
          </a:p>
        </p:txBody>
      </p:sp>
      <p:sp>
        <p:nvSpPr>
          <p:cNvPr id="21" name="Shape 19"/>
          <p:cNvSpPr/>
          <p:nvPr/>
        </p:nvSpPr>
        <p:spPr>
          <a:xfrm>
            <a:off x="3374136" y="2267712"/>
            <a:ext cx="2359152" cy="1417320"/>
          </a:xfrm>
          <a:prstGeom prst="roundRect">
            <a:avLst>
              <a:gd name="adj" fmla="val 3226"/>
            </a:avLst>
          </a:prstGeom>
          <a:solidFill>
            <a:srgbClr val="13212E"/>
          </a:solidFill>
          <a:ln w="12700">
            <a:solidFill>
              <a:srgbClr val="13212E"/>
            </a:solidFill>
            <a:prstDash val="solid"/>
          </a:ln>
        </p:spPr>
        <p:txBody>
          <a:bodyPr/>
          <a:lstStyle/>
          <a:p>
            <a:endParaRPr lang="en-TH"/>
          </a:p>
        </p:txBody>
      </p:sp>
      <p:sp>
        <p:nvSpPr>
          <p:cNvPr id="22" name="Text 20"/>
          <p:cNvSpPr txBox="1"/>
          <p:nvPr/>
        </p:nvSpPr>
        <p:spPr>
          <a:xfrm>
            <a:off x="3483864" y="2340864"/>
            <a:ext cx="2176272" cy="1298448"/>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UPDATE raw.sellers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SET seller_city = 'curitiba'</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seller_id =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SELECT MIN(seller_id)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FROM raw.sellers);</a:t>
            </a:r>
            <a:endParaRPr lang="en-US" sz="850" dirty="0"/>
          </a:p>
          <a:p>
            <a:pPr marL="0" indent="0">
              <a:buNone/>
            </a:pPr>
            <a:r>
              <a:rPr lang="en-US" sz="850" dirty="0">
                <a:solidFill>
                  <a:srgbClr val="8A9BA8"/>
                </a:solidFill>
                <a:latin typeface="Courier New" pitchFamily="34" charset="0"/>
                <a:ea typeface="Courier New" pitchFamily="34" charset="-122"/>
                <a:cs typeface="Courier New" pitchFamily="34" charset="-120"/>
              </a:rPr>
              <a:t>-- run the UPSERT</a:t>
            </a:r>
            <a:endParaRPr lang="en-US" sz="850" dirty="0"/>
          </a:p>
        </p:txBody>
      </p:sp>
      <p:sp>
        <p:nvSpPr>
          <p:cNvPr id="23" name="Shape 21"/>
          <p:cNvSpPr/>
          <p:nvPr/>
        </p:nvSpPr>
        <p:spPr>
          <a:xfrm>
            <a:off x="3374136" y="3776472"/>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24" name="Text 22"/>
          <p:cNvSpPr txBox="1"/>
          <p:nvPr/>
        </p:nvSpPr>
        <p:spPr>
          <a:xfrm>
            <a:off x="3374136" y="3776472"/>
            <a:ext cx="2359152" cy="292608"/>
          </a:xfrm>
          <a:prstGeom prst="rect">
            <a:avLst/>
          </a:prstGeom>
          <a:noFill/>
          <a:ln/>
        </p:spPr>
        <p:txBody>
          <a:bodyPr wrap="square" lIns="0" tIns="0" rIns="0" bIns="0" rtlCol="0" anchor="ctr"/>
          <a:lstStyle/>
          <a:p>
            <a:pPr marL="0" indent="0" algn="ctr">
              <a:buNone/>
            </a:pPr>
            <a:r>
              <a:rPr lang="en-US" sz="1100" b="1" dirty="0">
                <a:solidFill>
                  <a:srgbClr val="0E7C7B"/>
                </a:solidFill>
                <a:latin typeface="Courier New" pitchFamily="34" charset="0"/>
                <a:ea typeface="Courier New" pitchFamily="34" charset="-122"/>
                <a:cs typeface="Courier New" pitchFamily="34" charset="-120"/>
              </a:rPr>
              <a:t>INSERT 0 1</a:t>
            </a:r>
            <a:endParaRPr lang="en-US" sz="1100" dirty="0"/>
          </a:p>
        </p:txBody>
      </p:sp>
      <p:sp>
        <p:nvSpPr>
          <p:cNvPr id="25" name="Text 23"/>
          <p:cNvSpPr txBox="1"/>
          <p:nvPr/>
        </p:nvSpPr>
        <p:spPr>
          <a:xfrm>
            <a:off x="3374136" y="4160520"/>
            <a:ext cx="2359152" cy="274320"/>
          </a:xfrm>
          <a:prstGeom prst="rect">
            <a:avLst/>
          </a:prstGeom>
          <a:noFill/>
          <a:ln/>
        </p:spPr>
        <p:txBody>
          <a:bodyPr wrap="square" lIns="0" tIns="0" rIns="0" bIns="0" rtlCol="0" anchor="ctr"/>
          <a:lstStyle/>
          <a:p>
            <a:pPr marL="0" indent="0" algn="ctr">
              <a:buNone/>
            </a:pPr>
            <a:r>
              <a:rPr lang="en-US" sz="1100" dirty="0">
                <a:solidFill>
                  <a:srgbClr val="5B6B77"/>
                </a:solidFill>
                <a:latin typeface="Calibri" pitchFamily="34" charset="0"/>
                <a:ea typeface="Calibri" pitchFamily="34" charset="-122"/>
                <a:cs typeface="Calibri" pitchFamily="34" charset="-120"/>
              </a:rPr>
              <a:t>The old row is updated</a:t>
            </a:r>
            <a:endParaRPr lang="en-US" sz="1100" dirty="0"/>
          </a:p>
        </p:txBody>
      </p:sp>
      <p:sp>
        <p:nvSpPr>
          <p:cNvPr id="26" name="Shape 24"/>
          <p:cNvSpPr/>
          <p:nvPr/>
        </p:nvSpPr>
        <p:spPr>
          <a:xfrm>
            <a:off x="6016752" y="1645920"/>
            <a:ext cx="2633472" cy="2971800"/>
          </a:xfrm>
          <a:prstGeom prst="roundRect">
            <a:avLst>
              <a:gd name="adj" fmla="val 2778"/>
            </a:avLst>
          </a:prstGeom>
          <a:solidFill>
            <a:srgbClr val="F1F5F7"/>
          </a:solidFill>
          <a:ln w="12700">
            <a:solidFill>
              <a:srgbClr val="F1F5F7"/>
            </a:solidFill>
            <a:prstDash val="solid"/>
          </a:ln>
        </p:spPr>
        <p:txBody>
          <a:bodyPr/>
          <a:lstStyle/>
          <a:p>
            <a:endParaRPr lang="en-TH"/>
          </a:p>
        </p:txBody>
      </p:sp>
      <p:sp>
        <p:nvSpPr>
          <p:cNvPr id="27" name="Shape 25"/>
          <p:cNvSpPr/>
          <p:nvPr/>
        </p:nvSpPr>
        <p:spPr>
          <a:xfrm>
            <a:off x="6181344" y="1783080"/>
            <a:ext cx="310896" cy="310896"/>
          </a:xfrm>
          <a:prstGeom prst="ellipse">
            <a:avLst/>
          </a:prstGeom>
          <a:solidFill>
            <a:srgbClr val="0E7C7B"/>
          </a:solidFill>
          <a:ln w="12700">
            <a:solidFill>
              <a:srgbClr val="0E7C7B"/>
            </a:solidFill>
            <a:prstDash val="solid"/>
          </a:ln>
        </p:spPr>
        <p:txBody>
          <a:bodyPr/>
          <a:lstStyle/>
          <a:p>
            <a:endParaRPr lang="en-TH"/>
          </a:p>
        </p:txBody>
      </p:sp>
      <p:sp>
        <p:nvSpPr>
          <p:cNvPr id="28" name="Text 26"/>
          <p:cNvSpPr txBox="1"/>
          <p:nvPr/>
        </p:nvSpPr>
        <p:spPr>
          <a:xfrm>
            <a:off x="6181344" y="17830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9" name="Text 27"/>
          <p:cNvSpPr txBox="1"/>
          <p:nvPr/>
        </p:nvSpPr>
        <p:spPr>
          <a:xfrm>
            <a:off x="6583680" y="1755648"/>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New rows arrive</a:t>
            </a:r>
            <a:endParaRPr lang="en-US" sz="1300" dirty="0"/>
          </a:p>
        </p:txBody>
      </p:sp>
      <p:sp>
        <p:nvSpPr>
          <p:cNvPr id="30" name="Text 28"/>
          <p:cNvSpPr txBox="1"/>
          <p:nvPr/>
        </p:nvSpPr>
        <p:spPr>
          <a:xfrm>
            <a:off x="6583680" y="1965960"/>
            <a:ext cx="1965960" cy="182880"/>
          </a:xfrm>
          <a:prstGeom prst="rect">
            <a:avLst/>
          </a:prstGeom>
          <a:noFill/>
          <a:ln/>
        </p:spPr>
        <p:txBody>
          <a:bodyPr wrap="square" lIns="0" tIns="0" rIns="0" bIns="0" rtlCol="0" anchor="ctr"/>
          <a:lstStyle/>
          <a:p>
            <a:pPr marL="0" indent="0">
              <a:buNone/>
            </a:pPr>
            <a:r>
              <a:rPr lang="en-US" sz="1000" b="1" dirty="0">
                <a:solidFill>
                  <a:srgbClr val="C2660F"/>
                </a:solidFill>
                <a:latin typeface="Calibri" pitchFamily="34" charset="0"/>
                <a:ea typeface="Calibri" pitchFamily="34" charset="-122"/>
                <a:cs typeface="Calibri" pitchFamily="34" charset="-120"/>
              </a:rPr>
              <a:t>raw: INSERT one row</a:t>
            </a:r>
            <a:endParaRPr lang="en-US" sz="1000" dirty="0"/>
          </a:p>
        </p:txBody>
      </p:sp>
      <p:sp>
        <p:nvSpPr>
          <p:cNvPr id="31" name="Shape 29"/>
          <p:cNvSpPr/>
          <p:nvPr/>
        </p:nvSpPr>
        <p:spPr>
          <a:xfrm>
            <a:off x="6153912" y="2267712"/>
            <a:ext cx="2359152" cy="1417320"/>
          </a:xfrm>
          <a:prstGeom prst="roundRect">
            <a:avLst>
              <a:gd name="adj" fmla="val 3226"/>
            </a:avLst>
          </a:prstGeom>
          <a:solidFill>
            <a:srgbClr val="13212E"/>
          </a:solidFill>
          <a:ln w="12700">
            <a:solidFill>
              <a:srgbClr val="13212E"/>
            </a:solidFill>
            <a:prstDash val="solid"/>
          </a:ln>
        </p:spPr>
        <p:txBody>
          <a:bodyPr/>
          <a:lstStyle/>
          <a:p>
            <a:endParaRPr lang="en-TH"/>
          </a:p>
        </p:txBody>
      </p:sp>
      <p:sp>
        <p:nvSpPr>
          <p:cNvPr id="32" name="Text 30"/>
          <p:cNvSpPr txBox="1"/>
          <p:nvPr/>
        </p:nvSpPr>
        <p:spPr>
          <a:xfrm>
            <a:off x="6263640" y="2340864"/>
            <a:ext cx="2176272" cy="1298448"/>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INSERT INTO raw.sellers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VALUES ('demo_seller_01',</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1001, 'santos', 'SP');</a:t>
            </a:r>
            <a:endParaRPr lang="en-US" sz="850" dirty="0"/>
          </a:p>
          <a:p>
            <a:pPr marL="0" indent="0">
              <a:buNone/>
            </a:pPr>
            <a:r>
              <a:rPr lang="en-US" sz="850" dirty="0">
                <a:solidFill>
                  <a:srgbClr val="8A9BA8"/>
                </a:solidFill>
                <a:latin typeface="Courier New" pitchFamily="34" charset="0"/>
                <a:ea typeface="Courier New" pitchFamily="34" charset="-122"/>
                <a:cs typeface="Courier New" pitchFamily="34" charset="-120"/>
              </a:rPr>
              <a:t>-- run the UPSERT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SELECT COUNT(*)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staging.sellers;</a:t>
            </a:r>
            <a:endParaRPr lang="en-US" sz="850" dirty="0"/>
          </a:p>
        </p:txBody>
      </p:sp>
      <p:sp>
        <p:nvSpPr>
          <p:cNvPr id="33" name="Shape 31"/>
          <p:cNvSpPr/>
          <p:nvPr/>
        </p:nvSpPr>
        <p:spPr>
          <a:xfrm>
            <a:off x="6153912" y="3776472"/>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34" name="Text 32"/>
          <p:cNvSpPr txBox="1"/>
          <p:nvPr/>
        </p:nvSpPr>
        <p:spPr>
          <a:xfrm>
            <a:off x="6153912" y="3776472"/>
            <a:ext cx="2359152" cy="292608"/>
          </a:xfrm>
          <a:prstGeom prst="rect">
            <a:avLst/>
          </a:prstGeom>
          <a:noFill/>
          <a:ln/>
        </p:spPr>
        <p:txBody>
          <a:bodyPr wrap="square" lIns="0" tIns="0" rIns="0" bIns="0" rtlCol="0" anchor="ctr"/>
          <a:lstStyle/>
          <a:p>
            <a:pPr marL="0" indent="0" algn="ctr">
              <a:buNone/>
            </a:pPr>
            <a:r>
              <a:rPr lang="en-US" sz="1100" b="1" dirty="0">
                <a:solidFill>
                  <a:srgbClr val="0E7C7B"/>
                </a:solidFill>
                <a:latin typeface="Courier New" pitchFamily="34" charset="0"/>
                <a:ea typeface="Courier New" pitchFamily="34" charset="-122"/>
                <a:cs typeface="Courier New" pitchFamily="34" charset="-120"/>
              </a:rPr>
              <a:t>INSERT 0 1 · 3096</a:t>
            </a:r>
            <a:endParaRPr lang="en-US" sz="1100" dirty="0"/>
          </a:p>
        </p:txBody>
      </p:sp>
      <p:sp>
        <p:nvSpPr>
          <p:cNvPr id="35" name="Text 33"/>
          <p:cNvSpPr txBox="1"/>
          <p:nvPr/>
        </p:nvSpPr>
        <p:spPr>
          <a:xfrm>
            <a:off x="6153912" y="4160520"/>
            <a:ext cx="2359152" cy="274320"/>
          </a:xfrm>
          <a:prstGeom prst="rect">
            <a:avLst/>
          </a:prstGeom>
          <a:noFill/>
          <a:ln/>
        </p:spPr>
        <p:txBody>
          <a:bodyPr wrap="square" lIns="0" tIns="0" rIns="0" bIns="0" rtlCol="0" anchor="ctr"/>
          <a:lstStyle/>
          <a:p>
            <a:pPr marL="0" indent="0" algn="ctr">
              <a:buNone/>
            </a:pPr>
            <a:r>
              <a:rPr lang="en-US" sz="1100" dirty="0">
                <a:solidFill>
                  <a:srgbClr val="5B6B77"/>
                </a:solidFill>
                <a:latin typeface="Calibri" pitchFamily="34" charset="0"/>
                <a:ea typeface="Calibri" pitchFamily="34" charset="-122"/>
                <a:cs typeface="Calibri" pitchFamily="34" charset="-120"/>
              </a:rPr>
              <a:t>A new row is added</a:t>
            </a:r>
            <a:endParaRPr lang="en-US" sz="1100" dirty="0"/>
          </a:p>
        </p:txBody>
      </p:sp>
      <p:sp>
        <p:nvSpPr>
          <p:cNvPr id="36" name="Text 34"/>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45720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LIVE DEMO</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Check staging after each test</a:t>
            </a:r>
            <a:endParaRPr lang="en-US" sz="2800" dirty="0"/>
          </a:p>
        </p:txBody>
      </p:sp>
      <p:sp>
        <p:nvSpPr>
          <p:cNvPr id="4" name="Shape 2"/>
          <p:cNvSpPr/>
          <p:nvPr/>
        </p:nvSpPr>
        <p:spPr>
          <a:xfrm>
            <a:off x="457200" y="1115568"/>
            <a:ext cx="8229600" cy="914400"/>
          </a:xfrm>
          <a:prstGeom prst="roundRect">
            <a:avLst>
              <a:gd name="adj" fmla="val 8000"/>
            </a:avLst>
          </a:prstGeom>
          <a:solidFill>
            <a:srgbClr val="D8EEEC"/>
          </a:solidFill>
          <a:ln w="12700">
            <a:solidFill>
              <a:srgbClr val="D8EEEC"/>
            </a:solidFill>
            <a:prstDash val="solid"/>
          </a:ln>
        </p:spPr>
        <p:txBody>
          <a:bodyPr/>
          <a:lstStyle/>
          <a:p>
            <a:endParaRPr lang="en-TH"/>
          </a:p>
        </p:txBody>
      </p:sp>
      <p:sp>
        <p:nvSpPr>
          <p:cNvPr id="5" name="Text 3"/>
          <p:cNvSpPr txBox="1"/>
          <p:nvPr/>
        </p:nvSpPr>
        <p:spPr>
          <a:xfrm>
            <a:off x="640080" y="1188720"/>
            <a:ext cx="2834640" cy="457200"/>
          </a:xfrm>
          <a:prstGeom prst="rect">
            <a:avLst/>
          </a:prstGeom>
          <a:noFill/>
          <a:ln/>
        </p:spPr>
        <p:txBody>
          <a:bodyPr wrap="square" lIns="0" tIns="0" rIns="0" bIns="0" rtlCol="0" anchor="t"/>
          <a:lstStyle/>
          <a:p>
            <a:pPr marL="0" indent="0">
              <a:buNone/>
            </a:pPr>
            <a:r>
              <a:rPr lang="en-US" sz="1300" b="1" dirty="0">
                <a:solidFill>
                  <a:srgbClr val="0E7C7B"/>
                </a:solidFill>
                <a:latin typeface="Calibri" pitchFamily="34" charset="0"/>
                <a:ea typeface="Calibri" pitchFamily="34" charset="-122"/>
                <a:cs typeface="Calibri" pitchFamily="34" charset="-120"/>
              </a:rPr>
              <a:t>One check for all three: does staging match raw?</a:t>
            </a:r>
            <a:endParaRPr lang="en-US" sz="1300" dirty="0"/>
          </a:p>
        </p:txBody>
      </p:sp>
      <p:sp>
        <p:nvSpPr>
          <p:cNvPr id="6" name="Text 4"/>
          <p:cNvSpPr txBox="1"/>
          <p:nvPr/>
        </p:nvSpPr>
        <p:spPr>
          <a:xfrm>
            <a:off x="640080" y="1645920"/>
            <a:ext cx="2834640" cy="274320"/>
          </a:xfrm>
          <a:prstGeom prst="rect">
            <a:avLst/>
          </a:prstGeom>
          <a:noFill/>
          <a:ln/>
        </p:spPr>
        <p:txBody>
          <a:bodyPr wrap="square" lIns="0" tIns="0" rIns="0" bIns="0" rtlCol="0" anchor="ctr"/>
          <a:lstStyle/>
          <a:p>
            <a:pPr marL="0" indent="0">
              <a:buNone/>
            </a:pPr>
            <a:r>
              <a:rPr lang="en-US" sz="1050" dirty="0">
                <a:solidFill>
                  <a:srgbClr val="5B6B77"/>
                </a:solidFill>
                <a:latin typeface="Calibri" pitchFamily="34" charset="0"/>
                <a:ea typeface="Calibri" pitchFamily="34" charset="-122"/>
                <a:cs typeface="Calibri" pitchFamily="34" charset="-120"/>
              </a:rPr>
              <a:t>Run it after every test. Expected: 0 rows differ.</a:t>
            </a:r>
            <a:endParaRPr lang="en-US" sz="1050" dirty="0"/>
          </a:p>
        </p:txBody>
      </p:sp>
      <p:sp>
        <p:nvSpPr>
          <p:cNvPr id="7" name="Shape 5"/>
          <p:cNvSpPr/>
          <p:nvPr/>
        </p:nvSpPr>
        <p:spPr>
          <a:xfrm>
            <a:off x="3611880" y="1207008"/>
            <a:ext cx="4937760" cy="786384"/>
          </a:xfrm>
          <a:prstGeom prst="roundRect">
            <a:avLst>
              <a:gd name="adj" fmla="val 5814"/>
            </a:avLst>
          </a:prstGeom>
          <a:solidFill>
            <a:srgbClr val="13212E"/>
          </a:solidFill>
          <a:ln w="12700">
            <a:solidFill>
              <a:srgbClr val="13212E"/>
            </a:solidFill>
            <a:prstDash val="solid"/>
          </a:ln>
        </p:spPr>
        <p:txBody>
          <a:bodyPr/>
          <a:lstStyle/>
          <a:p>
            <a:endParaRPr lang="en-TH"/>
          </a:p>
        </p:txBody>
      </p:sp>
      <p:sp>
        <p:nvSpPr>
          <p:cNvPr id="8" name="Text 6"/>
          <p:cNvSpPr txBox="1"/>
          <p:nvPr/>
        </p:nvSpPr>
        <p:spPr>
          <a:xfrm>
            <a:off x="3721608" y="1252728"/>
            <a:ext cx="4754880" cy="731520"/>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SELECT COUNT(*) AS rows_differ</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raw.sellers r</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LEFT JOIN staging.sellers s USING (seller_id)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(r.seller_city, r.seller_state)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IS DISTINCT FROM (s.city, s.state);   -- 0</a:t>
            </a:r>
            <a:endParaRPr lang="en-US" sz="850" dirty="0"/>
          </a:p>
        </p:txBody>
      </p:sp>
      <p:sp>
        <p:nvSpPr>
          <p:cNvPr id="9" name="Shape 7"/>
          <p:cNvSpPr/>
          <p:nvPr/>
        </p:nvSpPr>
        <p:spPr>
          <a:xfrm>
            <a:off x="457200" y="2176272"/>
            <a:ext cx="2633472" cy="2487168"/>
          </a:xfrm>
          <a:prstGeom prst="roundRect">
            <a:avLst>
              <a:gd name="adj" fmla="val 2941"/>
            </a:avLst>
          </a:prstGeom>
          <a:solidFill>
            <a:srgbClr val="F1F5F7"/>
          </a:solidFill>
          <a:ln w="12700">
            <a:solidFill>
              <a:srgbClr val="F1F5F7"/>
            </a:solidFill>
            <a:prstDash val="solid"/>
          </a:ln>
        </p:spPr>
        <p:txBody>
          <a:bodyPr/>
          <a:lstStyle/>
          <a:p>
            <a:endParaRPr lang="en-TH"/>
          </a:p>
        </p:txBody>
      </p:sp>
      <p:sp>
        <p:nvSpPr>
          <p:cNvPr id="10" name="Shape 8"/>
          <p:cNvSpPr/>
          <p:nvPr/>
        </p:nvSpPr>
        <p:spPr>
          <a:xfrm>
            <a:off x="621792" y="2304288"/>
            <a:ext cx="310896" cy="310896"/>
          </a:xfrm>
          <a:prstGeom prst="ellipse">
            <a:avLst/>
          </a:prstGeom>
          <a:solidFill>
            <a:srgbClr val="0E7C7B"/>
          </a:solidFill>
          <a:ln w="12700">
            <a:solidFill>
              <a:srgbClr val="0E7C7B"/>
            </a:solidFill>
            <a:prstDash val="solid"/>
          </a:ln>
        </p:spPr>
        <p:txBody>
          <a:bodyPr/>
          <a:lstStyle/>
          <a:p>
            <a:endParaRPr lang="en-TH"/>
          </a:p>
        </p:txBody>
      </p:sp>
      <p:sp>
        <p:nvSpPr>
          <p:cNvPr id="11" name="Text 9"/>
          <p:cNvSpPr txBox="1"/>
          <p:nvPr/>
        </p:nvSpPr>
        <p:spPr>
          <a:xfrm>
            <a:off x="621792" y="23042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24128" y="2276856"/>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After test 1</a:t>
            </a:r>
            <a:endParaRPr lang="en-US" sz="1300" dirty="0"/>
          </a:p>
        </p:txBody>
      </p:sp>
      <p:sp>
        <p:nvSpPr>
          <p:cNvPr id="13" name="Text 11"/>
          <p:cNvSpPr txBox="1"/>
          <p:nvPr/>
        </p:nvSpPr>
        <p:spPr>
          <a:xfrm>
            <a:off x="1024128" y="2487168"/>
            <a:ext cx="1965960" cy="182880"/>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Re-run</a:t>
            </a:r>
            <a:endParaRPr lang="en-US" sz="1000" dirty="0"/>
          </a:p>
        </p:txBody>
      </p:sp>
      <p:sp>
        <p:nvSpPr>
          <p:cNvPr id="14" name="Shape 12"/>
          <p:cNvSpPr/>
          <p:nvPr/>
        </p:nvSpPr>
        <p:spPr>
          <a:xfrm>
            <a:off x="594360" y="2770632"/>
            <a:ext cx="2359152" cy="1188720"/>
          </a:xfrm>
          <a:prstGeom prst="roundRect">
            <a:avLst>
              <a:gd name="adj" fmla="val 3846"/>
            </a:avLst>
          </a:prstGeom>
          <a:solidFill>
            <a:srgbClr val="13212E"/>
          </a:solidFill>
          <a:ln w="12700">
            <a:solidFill>
              <a:srgbClr val="13212E"/>
            </a:solidFill>
            <a:prstDash val="solid"/>
          </a:ln>
        </p:spPr>
        <p:txBody>
          <a:bodyPr/>
          <a:lstStyle/>
          <a:p>
            <a:endParaRPr lang="en-TH"/>
          </a:p>
        </p:txBody>
      </p:sp>
      <p:sp>
        <p:nvSpPr>
          <p:cNvPr id="15" name="Text 13"/>
          <p:cNvSpPr txBox="1"/>
          <p:nvPr/>
        </p:nvSpPr>
        <p:spPr>
          <a:xfrm>
            <a:off x="704088" y="2834640"/>
            <a:ext cx="2221992" cy="1078992"/>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SELECT COUNT(*) AS total,</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COUNT(DISTINCT seller_id)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AS distinct_ids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staging.sellers;</a:t>
            </a:r>
            <a:endParaRPr lang="en-US" sz="850" dirty="0"/>
          </a:p>
        </p:txBody>
      </p:sp>
      <p:sp>
        <p:nvSpPr>
          <p:cNvPr id="16" name="Text 14"/>
          <p:cNvSpPr txBox="1"/>
          <p:nvPr/>
        </p:nvSpPr>
        <p:spPr>
          <a:xfrm>
            <a:off x="594360" y="4041648"/>
            <a:ext cx="2359152" cy="182880"/>
          </a:xfrm>
          <a:prstGeom prst="rect">
            <a:avLst/>
          </a:prstGeom>
          <a:noFill/>
          <a:ln/>
        </p:spPr>
        <p:txBody>
          <a:bodyPr wrap="square" lIns="0" tIns="0" rIns="0" bIns="0" rtlCol="0" anchor="ctr"/>
          <a:lstStyle/>
          <a:p>
            <a:pPr marL="0" indent="0" algn="ctr">
              <a:buNone/>
            </a:pPr>
            <a:r>
              <a:rPr lang="en-US" sz="900" b="1" dirty="0">
                <a:solidFill>
                  <a:srgbClr val="5B6B77"/>
                </a:solidFill>
                <a:latin typeface="Calibri" pitchFamily="34" charset="0"/>
                <a:ea typeface="Calibri" pitchFamily="34" charset="-122"/>
                <a:cs typeface="Calibri" pitchFamily="34" charset="-120"/>
              </a:rPr>
              <a:t>Expected</a:t>
            </a:r>
            <a:endParaRPr lang="en-US" sz="900" dirty="0"/>
          </a:p>
        </p:txBody>
      </p:sp>
      <p:sp>
        <p:nvSpPr>
          <p:cNvPr id="17" name="Shape 15"/>
          <p:cNvSpPr/>
          <p:nvPr/>
        </p:nvSpPr>
        <p:spPr>
          <a:xfrm>
            <a:off x="594360" y="4242816"/>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18" name="Text 16"/>
          <p:cNvSpPr txBox="1"/>
          <p:nvPr/>
        </p:nvSpPr>
        <p:spPr>
          <a:xfrm>
            <a:off x="594360" y="4242816"/>
            <a:ext cx="2359152" cy="292608"/>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3095 · 3095 (no duplicates)</a:t>
            </a:r>
            <a:endParaRPr lang="en-US" sz="1050" dirty="0"/>
          </a:p>
        </p:txBody>
      </p:sp>
      <p:sp>
        <p:nvSpPr>
          <p:cNvPr id="19" name="Shape 17"/>
          <p:cNvSpPr/>
          <p:nvPr/>
        </p:nvSpPr>
        <p:spPr>
          <a:xfrm>
            <a:off x="3236976" y="2176272"/>
            <a:ext cx="2633472" cy="2487168"/>
          </a:xfrm>
          <a:prstGeom prst="roundRect">
            <a:avLst>
              <a:gd name="adj" fmla="val 2941"/>
            </a:avLst>
          </a:prstGeom>
          <a:solidFill>
            <a:srgbClr val="F1F5F7"/>
          </a:solidFill>
          <a:ln w="12700">
            <a:solidFill>
              <a:srgbClr val="F1F5F7"/>
            </a:solidFill>
            <a:prstDash val="solid"/>
          </a:ln>
        </p:spPr>
        <p:txBody>
          <a:bodyPr/>
          <a:lstStyle/>
          <a:p>
            <a:endParaRPr lang="en-TH"/>
          </a:p>
        </p:txBody>
      </p:sp>
      <p:sp>
        <p:nvSpPr>
          <p:cNvPr id="20" name="Shape 18"/>
          <p:cNvSpPr/>
          <p:nvPr/>
        </p:nvSpPr>
        <p:spPr>
          <a:xfrm>
            <a:off x="3401568" y="2304288"/>
            <a:ext cx="310896" cy="310896"/>
          </a:xfrm>
          <a:prstGeom prst="ellipse">
            <a:avLst/>
          </a:prstGeom>
          <a:solidFill>
            <a:srgbClr val="0E7C7B"/>
          </a:solidFill>
          <a:ln w="12700">
            <a:solidFill>
              <a:srgbClr val="0E7C7B"/>
            </a:solidFill>
            <a:prstDash val="solid"/>
          </a:ln>
        </p:spPr>
        <p:txBody>
          <a:bodyPr/>
          <a:lstStyle/>
          <a:p>
            <a:endParaRPr lang="en-TH"/>
          </a:p>
        </p:txBody>
      </p:sp>
      <p:sp>
        <p:nvSpPr>
          <p:cNvPr id="21" name="Text 19"/>
          <p:cNvSpPr txBox="1"/>
          <p:nvPr/>
        </p:nvSpPr>
        <p:spPr>
          <a:xfrm>
            <a:off x="3401568" y="23042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Text 20"/>
          <p:cNvSpPr txBox="1"/>
          <p:nvPr/>
        </p:nvSpPr>
        <p:spPr>
          <a:xfrm>
            <a:off x="3803904" y="2276856"/>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After test 2</a:t>
            </a:r>
            <a:endParaRPr lang="en-US" sz="1300" dirty="0"/>
          </a:p>
        </p:txBody>
      </p:sp>
      <p:sp>
        <p:nvSpPr>
          <p:cNvPr id="23" name="Text 21"/>
          <p:cNvSpPr txBox="1"/>
          <p:nvPr/>
        </p:nvSpPr>
        <p:spPr>
          <a:xfrm>
            <a:off x="3803904" y="2487168"/>
            <a:ext cx="1965960" cy="182880"/>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Data changes</a:t>
            </a:r>
            <a:endParaRPr lang="en-US" sz="1000" dirty="0"/>
          </a:p>
        </p:txBody>
      </p:sp>
      <p:sp>
        <p:nvSpPr>
          <p:cNvPr id="24" name="Shape 22"/>
          <p:cNvSpPr/>
          <p:nvPr/>
        </p:nvSpPr>
        <p:spPr>
          <a:xfrm>
            <a:off x="3374136" y="2770632"/>
            <a:ext cx="2359152" cy="1188720"/>
          </a:xfrm>
          <a:prstGeom prst="roundRect">
            <a:avLst>
              <a:gd name="adj" fmla="val 3846"/>
            </a:avLst>
          </a:prstGeom>
          <a:solidFill>
            <a:srgbClr val="13212E"/>
          </a:solidFill>
          <a:ln w="12700">
            <a:solidFill>
              <a:srgbClr val="13212E"/>
            </a:solidFill>
            <a:prstDash val="solid"/>
          </a:ln>
        </p:spPr>
        <p:txBody>
          <a:bodyPr/>
          <a:lstStyle/>
          <a:p>
            <a:endParaRPr lang="en-TH"/>
          </a:p>
        </p:txBody>
      </p:sp>
      <p:sp>
        <p:nvSpPr>
          <p:cNvPr id="25" name="Text 23"/>
          <p:cNvSpPr txBox="1"/>
          <p:nvPr/>
        </p:nvSpPr>
        <p:spPr>
          <a:xfrm>
            <a:off x="3483864" y="2834640"/>
            <a:ext cx="2221992" cy="1078992"/>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SELECT city, updated_at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staging.sellers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seller_id =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SELECT MIN(seller_id)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FROM raw.sellers);</a:t>
            </a:r>
            <a:endParaRPr lang="en-US" sz="850" dirty="0"/>
          </a:p>
        </p:txBody>
      </p:sp>
      <p:sp>
        <p:nvSpPr>
          <p:cNvPr id="26" name="Text 24"/>
          <p:cNvSpPr txBox="1"/>
          <p:nvPr/>
        </p:nvSpPr>
        <p:spPr>
          <a:xfrm>
            <a:off x="3374136" y="4041648"/>
            <a:ext cx="2359152" cy="182880"/>
          </a:xfrm>
          <a:prstGeom prst="rect">
            <a:avLst/>
          </a:prstGeom>
          <a:noFill/>
          <a:ln/>
        </p:spPr>
        <p:txBody>
          <a:bodyPr wrap="square" lIns="0" tIns="0" rIns="0" bIns="0" rtlCol="0" anchor="ctr"/>
          <a:lstStyle/>
          <a:p>
            <a:pPr marL="0" indent="0" algn="ctr">
              <a:buNone/>
            </a:pPr>
            <a:r>
              <a:rPr lang="en-US" sz="900" b="1" dirty="0">
                <a:solidFill>
                  <a:srgbClr val="5B6B77"/>
                </a:solidFill>
                <a:latin typeface="Calibri" pitchFamily="34" charset="0"/>
                <a:ea typeface="Calibri" pitchFamily="34" charset="-122"/>
                <a:cs typeface="Calibri" pitchFamily="34" charset="-120"/>
              </a:rPr>
              <a:t>Expected</a:t>
            </a:r>
            <a:endParaRPr lang="en-US" sz="900" dirty="0"/>
          </a:p>
        </p:txBody>
      </p:sp>
      <p:sp>
        <p:nvSpPr>
          <p:cNvPr id="27" name="Shape 25"/>
          <p:cNvSpPr/>
          <p:nvPr/>
        </p:nvSpPr>
        <p:spPr>
          <a:xfrm>
            <a:off x="3374136" y="4242816"/>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28" name="Text 26"/>
          <p:cNvSpPr txBox="1"/>
          <p:nvPr/>
        </p:nvSpPr>
        <p:spPr>
          <a:xfrm>
            <a:off x="3374136" y="4242816"/>
            <a:ext cx="2359152" cy="292608"/>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city = curitiba · new time</a:t>
            </a:r>
            <a:endParaRPr lang="en-US" sz="1050" dirty="0"/>
          </a:p>
        </p:txBody>
      </p:sp>
      <p:sp>
        <p:nvSpPr>
          <p:cNvPr id="29" name="Shape 27"/>
          <p:cNvSpPr/>
          <p:nvPr/>
        </p:nvSpPr>
        <p:spPr>
          <a:xfrm>
            <a:off x="6016752" y="2176272"/>
            <a:ext cx="2633472" cy="2487168"/>
          </a:xfrm>
          <a:prstGeom prst="roundRect">
            <a:avLst>
              <a:gd name="adj" fmla="val 2941"/>
            </a:avLst>
          </a:prstGeom>
          <a:solidFill>
            <a:srgbClr val="F1F5F7"/>
          </a:solidFill>
          <a:ln w="12700">
            <a:solidFill>
              <a:srgbClr val="F1F5F7"/>
            </a:solidFill>
            <a:prstDash val="solid"/>
          </a:ln>
        </p:spPr>
        <p:txBody>
          <a:bodyPr/>
          <a:lstStyle/>
          <a:p>
            <a:endParaRPr lang="en-TH"/>
          </a:p>
        </p:txBody>
      </p:sp>
      <p:sp>
        <p:nvSpPr>
          <p:cNvPr id="30" name="Shape 28"/>
          <p:cNvSpPr/>
          <p:nvPr/>
        </p:nvSpPr>
        <p:spPr>
          <a:xfrm>
            <a:off x="6181344" y="2304288"/>
            <a:ext cx="310896" cy="310896"/>
          </a:xfrm>
          <a:prstGeom prst="ellipse">
            <a:avLst/>
          </a:prstGeom>
          <a:solidFill>
            <a:srgbClr val="0E7C7B"/>
          </a:solidFill>
          <a:ln w="12700">
            <a:solidFill>
              <a:srgbClr val="0E7C7B"/>
            </a:solidFill>
            <a:prstDash val="solid"/>
          </a:ln>
        </p:spPr>
        <p:txBody>
          <a:bodyPr/>
          <a:lstStyle/>
          <a:p>
            <a:endParaRPr lang="en-TH"/>
          </a:p>
        </p:txBody>
      </p:sp>
      <p:sp>
        <p:nvSpPr>
          <p:cNvPr id="31" name="Text 29"/>
          <p:cNvSpPr txBox="1"/>
          <p:nvPr/>
        </p:nvSpPr>
        <p:spPr>
          <a:xfrm>
            <a:off x="6181344" y="23042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6583680" y="2276856"/>
            <a:ext cx="1965960" cy="219456"/>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After test 3</a:t>
            </a:r>
            <a:endParaRPr lang="en-US" sz="1300" dirty="0"/>
          </a:p>
        </p:txBody>
      </p:sp>
      <p:sp>
        <p:nvSpPr>
          <p:cNvPr id="33" name="Text 31"/>
          <p:cNvSpPr txBox="1"/>
          <p:nvPr/>
        </p:nvSpPr>
        <p:spPr>
          <a:xfrm>
            <a:off x="6583680" y="2487168"/>
            <a:ext cx="1965960" cy="182880"/>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New rows</a:t>
            </a:r>
            <a:endParaRPr lang="en-US" sz="1000" dirty="0"/>
          </a:p>
        </p:txBody>
      </p:sp>
      <p:sp>
        <p:nvSpPr>
          <p:cNvPr id="34" name="Shape 32"/>
          <p:cNvSpPr/>
          <p:nvPr/>
        </p:nvSpPr>
        <p:spPr>
          <a:xfrm>
            <a:off x="6153912" y="2770632"/>
            <a:ext cx="2359152" cy="1188720"/>
          </a:xfrm>
          <a:prstGeom prst="roundRect">
            <a:avLst>
              <a:gd name="adj" fmla="val 3846"/>
            </a:avLst>
          </a:prstGeom>
          <a:solidFill>
            <a:srgbClr val="13212E"/>
          </a:solidFill>
          <a:ln w="12700">
            <a:solidFill>
              <a:srgbClr val="13212E"/>
            </a:solidFill>
            <a:prstDash val="solid"/>
          </a:ln>
        </p:spPr>
        <p:txBody>
          <a:bodyPr/>
          <a:lstStyle/>
          <a:p>
            <a:endParaRPr lang="en-TH"/>
          </a:p>
        </p:txBody>
      </p:sp>
      <p:sp>
        <p:nvSpPr>
          <p:cNvPr id="35" name="Text 33"/>
          <p:cNvSpPr txBox="1"/>
          <p:nvPr/>
        </p:nvSpPr>
        <p:spPr>
          <a:xfrm>
            <a:off x="6263640" y="2834640"/>
            <a:ext cx="2221992" cy="1078992"/>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SELECT * FROM staging.sellers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seller_id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'demo_seller_01';</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SELECT COUNT(*)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staging.sellers;</a:t>
            </a:r>
            <a:endParaRPr lang="en-US" sz="850" dirty="0"/>
          </a:p>
        </p:txBody>
      </p:sp>
      <p:sp>
        <p:nvSpPr>
          <p:cNvPr id="36" name="Text 34"/>
          <p:cNvSpPr txBox="1"/>
          <p:nvPr/>
        </p:nvSpPr>
        <p:spPr>
          <a:xfrm>
            <a:off x="6153912" y="4041648"/>
            <a:ext cx="2359152" cy="182880"/>
          </a:xfrm>
          <a:prstGeom prst="rect">
            <a:avLst/>
          </a:prstGeom>
          <a:noFill/>
          <a:ln/>
        </p:spPr>
        <p:txBody>
          <a:bodyPr wrap="square" lIns="0" tIns="0" rIns="0" bIns="0" rtlCol="0" anchor="ctr"/>
          <a:lstStyle/>
          <a:p>
            <a:pPr marL="0" indent="0" algn="ctr">
              <a:buNone/>
            </a:pPr>
            <a:r>
              <a:rPr lang="en-US" sz="900" b="1" dirty="0">
                <a:solidFill>
                  <a:srgbClr val="5B6B77"/>
                </a:solidFill>
                <a:latin typeface="Calibri" pitchFamily="34" charset="0"/>
                <a:ea typeface="Calibri" pitchFamily="34" charset="-122"/>
                <a:cs typeface="Calibri" pitchFamily="34" charset="-120"/>
              </a:rPr>
              <a:t>Expected</a:t>
            </a:r>
            <a:endParaRPr lang="en-US" sz="900" dirty="0"/>
          </a:p>
        </p:txBody>
      </p:sp>
      <p:sp>
        <p:nvSpPr>
          <p:cNvPr id="37" name="Shape 35"/>
          <p:cNvSpPr/>
          <p:nvPr/>
        </p:nvSpPr>
        <p:spPr>
          <a:xfrm>
            <a:off x="6153912" y="4242816"/>
            <a:ext cx="2359152" cy="292608"/>
          </a:xfrm>
          <a:prstGeom prst="roundRect">
            <a:avLst>
              <a:gd name="adj" fmla="val 18750"/>
            </a:avLst>
          </a:prstGeom>
          <a:solidFill>
            <a:srgbClr val="D8EEEC"/>
          </a:solidFill>
          <a:ln w="12700">
            <a:solidFill>
              <a:srgbClr val="D8EEEC"/>
            </a:solidFill>
            <a:prstDash val="solid"/>
          </a:ln>
        </p:spPr>
        <p:txBody>
          <a:bodyPr/>
          <a:lstStyle/>
          <a:p>
            <a:endParaRPr lang="en-TH"/>
          </a:p>
        </p:txBody>
      </p:sp>
      <p:sp>
        <p:nvSpPr>
          <p:cNvPr id="38" name="Text 36"/>
          <p:cNvSpPr txBox="1"/>
          <p:nvPr/>
        </p:nvSpPr>
        <p:spPr>
          <a:xfrm>
            <a:off x="6153912" y="4242816"/>
            <a:ext cx="2359152" cy="292608"/>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1 row (santos, SP) · 3096</a:t>
            </a:r>
            <a:endParaRPr lang="en-US" sz="1050" dirty="0"/>
          </a:p>
        </p:txBody>
      </p:sp>
      <p:sp>
        <p:nvSpPr>
          <p:cNvPr id="39" name="Text 37"/>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WHY UPSERT</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Loads must be safe to re-run</a:t>
            </a:r>
            <a:endParaRPr lang="en-US" sz="2800" dirty="0"/>
          </a:p>
        </p:txBody>
      </p:sp>
      <p:sp>
        <p:nvSpPr>
          <p:cNvPr id="6" name="Shape 4"/>
          <p:cNvSpPr/>
          <p:nvPr/>
        </p:nvSpPr>
        <p:spPr>
          <a:xfrm>
            <a:off x="457200" y="1325880"/>
            <a:ext cx="4754880" cy="1463040"/>
          </a:xfrm>
          <a:prstGeom prst="roundRect">
            <a:avLst>
              <a:gd name="adj" fmla="val 5000"/>
            </a:avLst>
          </a:prstGeom>
          <a:solidFill>
            <a:srgbClr val="D8EEEC"/>
          </a:solidFill>
          <a:ln w="12700">
            <a:solidFill>
              <a:srgbClr val="D8EEEC"/>
            </a:solidFill>
            <a:prstDash val="solid"/>
          </a:ln>
        </p:spPr>
        <p:txBody>
          <a:bodyPr/>
          <a:lstStyle/>
          <a:p>
            <a:endParaRPr lang="en-TH"/>
          </a:p>
        </p:txBody>
      </p:sp>
      <p:sp>
        <p:nvSpPr>
          <p:cNvPr id="7" name="Text 5"/>
          <p:cNvSpPr txBox="1"/>
          <p:nvPr/>
        </p:nvSpPr>
        <p:spPr>
          <a:xfrm>
            <a:off x="685800" y="1463040"/>
            <a:ext cx="4297680" cy="1188720"/>
          </a:xfrm>
          <a:prstGeom prst="rect">
            <a:avLst/>
          </a:prstGeom>
          <a:noFill/>
          <a:ln/>
        </p:spPr>
        <p:txBody>
          <a:bodyPr wrap="square" lIns="0" tIns="0" rIns="0" bIns="0" rtlCol="0" anchor="ctr"/>
          <a:lstStyle/>
          <a:p>
            <a:pPr marL="0" indent="0">
              <a:buNone/>
            </a:pPr>
            <a:r>
              <a:rPr lang="en-US" sz="1600" i="1" dirty="0">
                <a:solidFill>
                  <a:srgbClr val="1F2933"/>
                </a:solidFill>
                <a:latin typeface="Cambria" pitchFamily="34" charset="0"/>
                <a:ea typeface="Cambria" pitchFamily="34" charset="-122"/>
                <a:cs typeface="Cambria" pitchFamily="34" charset="-120"/>
              </a:rPr>
              <a:t>An idempotent load gives the same result whether it runs once or five times. Pipelines fail and retry — duplicates must not appear.</a:t>
            </a:r>
            <a:endParaRPr lang="en-US" sz="1600" dirty="0"/>
          </a:p>
        </p:txBody>
      </p:sp>
      <p:sp>
        <p:nvSpPr>
          <p:cNvPr id="8" name="Text 6"/>
          <p:cNvSpPr txBox="1"/>
          <p:nvPr/>
        </p:nvSpPr>
        <p:spPr>
          <a:xfrm>
            <a:off x="457200" y="3063240"/>
            <a:ext cx="475488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Plain INSERT on a re-run</a:t>
            </a:r>
            <a:endParaRPr lang="en-US" sz="1600" dirty="0"/>
          </a:p>
        </p:txBody>
      </p:sp>
      <p:sp>
        <p:nvSpPr>
          <p:cNvPr id="9" name="Text 7"/>
          <p:cNvSpPr txBox="1"/>
          <p:nvPr/>
        </p:nvSpPr>
        <p:spPr>
          <a:xfrm>
            <a:off x="457200" y="3429000"/>
            <a:ext cx="4754880" cy="1234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Fails with duplicate key error, or</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Creates duplicate rows if there is no key</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UPSERT turns the re-run into a no-op or an update</a:t>
            </a:r>
            <a:endParaRPr lang="en-US" sz="1300" dirty="0"/>
          </a:p>
        </p:txBody>
      </p:sp>
      <p:sp>
        <p:nvSpPr>
          <p:cNvPr id="10" name="Shape 8"/>
          <p:cNvSpPr/>
          <p:nvPr/>
        </p:nvSpPr>
        <p:spPr>
          <a:xfrm>
            <a:off x="5669280" y="1371600"/>
            <a:ext cx="594360" cy="594360"/>
          </a:xfrm>
          <a:prstGeom prst="ellipse">
            <a:avLst/>
          </a:prstGeom>
          <a:solidFill>
            <a:srgbClr val="0E7C7B"/>
          </a:solidFill>
          <a:ln w="12700">
            <a:solidFill>
              <a:srgbClr val="0E7C7B"/>
            </a:solidFill>
            <a:prstDash val="solid"/>
          </a:ln>
        </p:spPr>
        <p:txBody>
          <a:bodyPr/>
          <a:lstStyle/>
          <a:p>
            <a:endParaRPr lang="en-TH"/>
          </a:p>
        </p:txBody>
      </p:sp>
      <p:pic>
        <p:nvPicPr>
          <p:cNvPr id="11" name="Image 0" descr="preencoded.png"/>
          <p:cNvPicPr>
            <a:picLocks noChangeAspect="1"/>
          </p:cNvPicPr>
          <p:nvPr/>
        </p:nvPicPr>
        <p:blipFill>
          <a:blip r:embed="rId3"/>
          <a:stretch>
            <a:fillRect/>
          </a:stretch>
        </p:blipFill>
        <p:spPr>
          <a:xfrm>
            <a:off x="5817870" y="1520190"/>
            <a:ext cx="297180" cy="297180"/>
          </a:xfrm>
          <a:prstGeom prst="rect">
            <a:avLst/>
          </a:prstGeom>
        </p:spPr>
      </p:pic>
      <p:sp>
        <p:nvSpPr>
          <p:cNvPr id="12" name="Text 9"/>
          <p:cNvSpPr txBox="1"/>
          <p:nvPr/>
        </p:nvSpPr>
        <p:spPr>
          <a:xfrm>
            <a:off x="6400800" y="1389888"/>
            <a:ext cx="2286000" cy="27432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Insert</a:t>
            </a:r>
            <a:endParaRPr lang="en-US" sz="1500" dirty="0"/>
          </a:p>
        </p:txBody>
      </p:sp>
      <p:sp>
        <p:nvSpPr>
          <p:cNvPr id="13" name="Text 10"/>
          <p:cNvSpPr txBox="1"/>
          <p:nvPr/>
        </p:nvSpPr>
        <p:spPr>
          <a:xfrm>
            <a:off x="6400800" y="1673352"/>
            <a:ext cx="2286000" cy="548640"/>
          </a:xfrm>
          <a:prstGeom prst="rect">
            <a:avLst/>
          </a:prstGeom>
          <a:noFill/>
          <a:ln/>
        </p:spPr>
        <p:txBody>
          <a:bodyPr wrap="square" lIns="0" tIns="0" rIns="0" bIns="0" rtlCol="0" anchor="t"/>
          <a:lstStyle/>
          <a:p>
            <a:pPr marL="0" indent="0">
              <a:buNone/>
            </a:pPr>
            <a:r>
              <a:rPr lang="en-US" sz="1200" dirty="0">
                <a:solidFill>
                  <a:srgbClr val="5B6B77"/>
                </a:solidFill>
                <a:latin typeface="Calibri" pitchFamily="34" charset="0"/>
                <a:ea typeface="Calibri" pitchFamily="34" charset="-122"/>
                <a:cs typeface="Calibri" pitchFamily="34" charset="-120"/>
              </a:rPr>
              <a:t>Key not in table → add the row</a:t>
            </a:r>
            <a:endParaRPr lang="en-US" sz="1200" dirty="0"/>
          </a:p>
        </p:txBody>
      </p:sp>
      <p:sp>
        <p:nvSpPr>
          <p:cNvPr id="14" name="Shape 11"/>
          <p:cNvSpPr/>
          <p:nvPr/>
        </p:nvSpPr>
        <p:spPr>
          <a:xfrm>
            <a:off x="5669280" y="2423160"/>
            <a:ext cx="594360" cy="594360"/>
          </a:xfrm>
          <a:prstGeom prst="ellipse">
            <a:avLst/>
          </a:prstGeom>
          <a:solidFill>
            <a:srgbClr val="0E7C7B"/>
          </a:solidFill>
          <a:ln w="12700">
            <a:solidFill>
              <a:srgbClr val="0E7C7B"/>
            </a:solidFill>
            <a:prstDash val="solid"/>
          </a:ln>
        </p:spPr>
        <p:txBody>
          <a:bodyPr/>
          <a:lstStyle/>
          <a:p>
            <a:endParaRPr lang="en-TH"/>
          </a:p>
        </p:txBody>
      </p:sp>
      <p:pic>
        <p:nvPicPr>
          <p:cNvPr id="15" name="Image 1" descr="preencoded.png"/>
          <p:cNvPicPr>
            <a:picLocks noChangeAspect="1"/>
          </p:cNvPicPr>
          <p:nvPr/>
        </p:nvPicPr>
        <p:blipFill>
          <a:blip r:embed="rId4"/>
          <a:stretch>
            <a:fillRect/>
          </a:stretch>
        </p:blipFill>
        <p:spPr>
          <a:xfrm>
            <a:off x="5817870" y="2571750"/>
            <a:ext cx="297180" cy="297180"/>
          </a:xfrm>
          <a:prstGeom prst="rect">
            <a:avLst/>
          </a:prstGeom>
        </p:spPr>
      </p:pic>
      <p:sp>
        <p:nvSpPr>
          <p:cNvPr id="16" name="Text 12"/>
          <p:cNvSpPr txBox="1"/>
          <p:nvPr/>
        </p:nvSpPr>
        <p:spPr>
          <a:xfrm>
            <a:off x="6400800" y="2441448"/>
            <a:ext cx="2286000" cy="27432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Update</a:t>
            </a:r>
            <a:endParaRPr lang="en-US" sz="1500" dirty="0"/>
          </a:p>
        </p:txBody>
      </p:sp>
      <p:sp>
        <p:nvSpPr>
          <p:cNvPr id="17" name="Text 13"/>
          <p:cNvSpPr txBox="1"/>
          <p:nvPr/>
        </p:nvSpPr>
        <p:spPr>
          <a:xfrm>
            <a:off x="6400800" y="2724912"/>
            <a:ext cx="2286000" cy="548640"/>
          </a:xfrm>
          <a:prstGeom prst="rect">
            <a:avLst/>
          </a:prstGeom>
          <a:noFill/>
          <a:ln/>
        </p:spPr>
        <p:txBody>
          <a:bodyPr wrap="square" lIns="0" tIns="0" rIns="0" bIns="0" rtlCol="0" anchor="t"/>
          <a:lstStyle/>
          <a:p>
            <a:pPr marL="0" indent="0">
              <a:buNone/>
            </a:pPr>
            <a:r>
              <a:rPr lang="en-US" sz="1200" dirty="0">
                <a:solidFill>
                  <a:srgbClr val="5B6B77"/>
                </a:solidFill>
                <a:latin typeface="Calibri" pitchFamily="34" charset="0"/>
                <a:ea typeface="Calibri" pitchFamily="34" charset="-122"/>
                <a:cs typeface="Calibri" pitchFamily="34" charset="-120"/>
              </a:rPr>
              <a:t>Key exists → overwrite chosen columns</a:t>
            </a:r>
            <a:endParaRPr lang="en-US" sz="1200" dirty="0"/>
          </a:p>
        </p:txBody>
      </p:sp>
      <p:sp>
        <p:nvSpPr>
          <p:cNvPr id="18" name="Shape 14"/>
          <p:cNvSpPr/>
          <p:nvPr/>
        </p:nvSpPr>
        <p:spPr>
          <a:xfrm>
            <a:off x="5669280" y="3474720"/>
            <a:ext cx="594360" cy="594360"/>
          </a:xfrm>
          <a:prstGeom prst="ellipse">
            <a:avLst/>
          </a:prstGeom>
          <a:solidFill>
            <a:srgbClr val="0E7C7B"/>
          </a:solidFill>
          <a:ln w="12700">
            <a:solidFill>
              <a:srgbClr val="0E7C7B"/>
            </a:solidFill>
            <a:prstDash val="solid"/>
          </a:ln>
        </p:spPr>
        <p:txBody>
          <a:bodyPr/>
          <a:lstStyle/>
          <a:p>
            <a:endParaRPr lang="en-TH"/>
          </a:p>
        </p:txBody>
      </p:sp>
      <p:pic>
        <p:nvPicPr>
          <p:cNvPr id="19" name="Image 2" descr="preencoded.png"/>
          <p:cNvPicPr>
            <a:picLocks noChangeAspect="1"/>
          </p:cNvPicPr>
          <p:nvPr/>
        </p:nvPicPr>
        <p:blipFill>
          <a:blip r:embed="rId5"/>
          <a:stretch>
            <a:fillRect/>
          </a:stretch>
        </p:blipFill>
        <p:spPr>
          <a:xfrm>
            <a:off x="5817870" y="3623310"/>
            <a:ext cx="297180" cy="297180"/>
          </a:xfrm>
          <a:prstGeom prst="rect">
            <a:avLst/>
          </a:prstGeom>
        </p:spPr>
      </p:pic>
      <p:sp>
        <p:nvSpPr>
          <p:cNvPr id="20" name="Text 15"/>
          <p:cNvSpPr txBox="1"/>
          <p:nvPr/>
        </p:nvSpPr>
        <p:spPr>
          <a:xfrm>
            <a:off x="6400800" y="3493008"/>
            <a:ext cx="2286000" cy="27432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Do nothing</a:t>
            </a:r>
            <a:endParaRPr lang="en-US" sz="1500" dirty="0"/>
          </a:p>
        </p:txBody>
      </p:sp>
      <p:sp>
        <p:nvSpPr>
          <p:cNvPr id="21" name="Text 16"/>
          <p:cNvSpPr txBox="1"/>
          <p:nvPr/>
        </p:nvSpPr>
        <p:spPr>
          <a:xfrm>
            <a:off x="6400800" y="3776472"/>
            <a:ext cx="2286000" cy="548640"/>
          </a:xfrm>
          <a:prstGeom prst="rect">
            <a:avLst/>
          </a:prstGeom>
          <a:noFill/>
          <a:ln/>
        </p:spPr>
        <p:txBody>
          <a:bodyPr wrap="square" lIns="0" tIns="0" rIns="0" bIns="0" rtlCol="0" anchor="t"/>
          <a:lstStyle/>
          <a:p>
            <a:pPr marL="0" indent="0">
              <a:buNone/>
            </a:pPr>
            <a:r>
              <a:rPr lang="en-US" sz="1200" dirty="0">
                <a:solidFill>
                  <a:srgbClr val="5B6B77"/>
                </a:solidFill>
                <a:latin typeface="Calibri" pitchFamily="34" charset="0"/>
                <a:ea typeface="Calibri" pitchFamily="34" charset="-122"/>
                <a:cs typeface="Calibri" pitchFamily="34" charset="-120"/>
              </a:rPr>
              <a:t>Key exists → skip the row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UPSERT</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INSERT … ON CONFLICT</a:t>
            </a:r>
            <a:endParaRPr lang="en-US" sz="2800" dirty="0"/>
          </a:p>
        </p:txBody>
      </p:sp>
      <p:sp>
        <p:nvSpPr>
          <p:cNvPr id="6" name="Shape 4"/>
          <p:cNvSpPr/>
          <p:nvPr/>
        </p:nvSpPr>
        <p:spPr>
          <a:xfrm>
            <a:off x="457200" y="1234440"/>
            <a:ext cx="5486400" cy="3291840"/>
          </a:xfrm>
          <a:prstGeom prst="roundRect">
            <a:avLst>
              <a:gd name="adj" fmla="val 2222"/>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640080" y="1371600"/>
            <a:ext cx="5120640" cy="3017520"/>
          </a:xfrm>
          <a:prstGeom prst="rect">
            <a:avLst/>
          </a:prstGeom>
          <a:noFill/>
          <a:ln/>
        </p:spPr>
        <p:txBody>
          <a:bodyPr wrap="square" lIns="0" tIns="0" rIns="0" bIns="0" rtlCol="0" anchor="t"/>
          <a:lstStyle/>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CREATE TABLE staging.sellers (</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seller_id   TEXT PRIMARY KEY,   -- conflict target</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city        TEXT,</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state       TEXT,</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updated_at  TIMESTAMP DEFAULT now()</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INSERT INTO staging.sellers (seller_id, city, 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VALUES ('s1', 'campinas', 'SP')</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ON CONFLICT (seller_id) DO UPDATE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SET city       = EXCLUDED.city,</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state      = EXCLUDED.state,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updated_at = now();</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spcAft>
                <a:spcPts val="200"/>
              </a:spcAft>
              <a:buNone/>
            </a:pPr>
            <a:r>
              <a:rPr lang="en-US" sz="1000" dirty="0">
                <a:solidFill>
                  <a:srgbClr val="8FA3B1"/>
                </a:solidFill>
                <a:latin typeface="Courier New" pitchFamily="34" charset="0"/>
                <a:ea typeface="Courier New" pitchFamily="34" charset="-122"/>
                <a:cs typeface="Courier New" pitchFamily="34" charset="-120"/>
              </a:rPr>
              <a:t>-- or: ON CONFLICT (seller_id) DO NOTHING;</a:t>
            </a:r>
            <a:endParaRPr lang="en-US" sz="1000" dirty="0"/>
          </a:p>
        </p:txBody>
      </p:sp>
      <p:sp>
        <p:nvSpPr>
          <p:cNvPr id="8" name="Shape 6"/>
          <p:cNvSpPr/>
          <p:nvPr/>
        </p:nvSpPr>
        <p:spPr>
          <a:xfrm>
            <a:off x="6217920" y="1234440"/>
            <a:ext cx="2468880" cy="3291840"/>
          </a:xfrm>
          <a:prstGeom prst="roundRect">
            <a:avLst>
              <a:gd name="adj" fmla="val 2963"/>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6446520" y="1417320"/>
            <a:ext cx="2011680"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Key rules</a:t>
            </a:r>
            <a:endParaRPr lang="en-US" sz="1500" dirty="0"/>
          </a:p>
        </p:txBody>
      </p:sp>
      <p:sp>
        <p:nvSpPr>
          <p:cNvPr id="10" name="Text 8"/>
          <p:cNvSpPr txBox="1"/>
          <p:nvPr/>
        </p:nvSpPr>
        <p:spPr>
          <a:xfrm>
            <a:off x="6446520" y="1828800"/>
            <a:ext cx="2011680" cy="2560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The conflict columns need a PRIMARY KEY or UNIQUE constraint</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EXCLUDED = the row you tried to insert</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Run it twice: still one row per seller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UPSERT</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Only update rows that really changed</a:t>
            </a:r>
            <a:endParaRPr lang="en-US" sz="2800" dirty="0"/>
          </a:p>
        </p:txBody>
      </p:sp>
      <p:sp>
        <p:nvSpPr>
          <p:cNvPr id="6" name="Shape 4"/>
          <p:cNvSpPr/>
          <p:nvPr/>
        </p:nvSpPr>
        <p:spPr>
          <a:xfrm>
            <a:off x="457200" y="1234440"/>
            <a:ext cx="5486400" cy="3291840"/>
          </a:xfrm>
          <a:prstGeom prst="roundRect">
            <a:avLst>
              <a:gd name="adj" fmla="val 2222"/>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640080" y="1371600"/>
            <a:ext cx="5120640" cy="3017520"/>
          </a:xfrm>
          <a:prstGeom prst="rect">
            <a:avLst/>
          </a:prstGeom>
          <a:noFill/>
          <a:ln/>
        </p:spPr>
        <p:txBody>
          <a:bodyPr wrap="square" lIns="0" tIns="0" rIns="0" bIns="0" rtlCol="0" anchor="t"/>
          <a:lstStyle/>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INSERT INTO staging.sellers (seller_id, city, 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SELECT seller_id, seller_city, seller_state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FROM raw.sellers</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ON CONFLICT (seller_id) DO UPDATE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SET city       = EXCLUDED.city,</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state      = EXCLUDED.state,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updated_at = now()</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WHERE (staging.sellers.city, staging.sellers.state)</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IS DISTINCT FROM</a:t>
            </a:r>
            <a:endParaRPr lang="en-US" sz="1000" dirty="0"/>
          </a:p>
          <a:p>
            <a:pPr marL="0" indent="0">
              <a:spcAft>
                <a:spcPts val="200"/>
              </a:spcAft>
              <a:buNone/>
            </a:pPr>
            <a:r>
              <a:rPr lang="en-US" sz="1000" dirty="0">
                <a:solidFill>
                  <a:srgbClr val="E6EEF2"/>
                </a:solidFill>
                <a:latin typeface="Courier New" pitchFamily="34" charset="0"/>
                <a:ea typeface="Courier New" pitchFamily="34" charset="-122"/>
                <a:cs typeface="Courier New" pitchFamily="34" charset="-120"/>
              </a:rPr>
              <a:t>      (EXCLUDED.city, EXCLUDED.state);</a:t>
            </a:r>
            <a:endParaRPr lang="en-US" sz="1000" dirty="0"/>
          </a:p>
        </p:txBody>
      </p:sp>
      <p:sp>
        <p:nvSpPr>
          <p:cNvPr id="8" name="Shape 6"/>
          <p:cNvSpPr/>
          <p:nvPr/>
        </p:nvSpPr>
        <p:spPr>
          <a:xfrm>
            <a:off x="6217920" y="1234440"/>
            <a:ext cx="2468880" cy="3291840"/>
          </a:xfrm>
          <a:prstGeom prst="roundRect">
            <a:avLst>
              <a:gd name="adj" fmla="val 2963"/>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6446520" y="1417320"/>
            <a:ext cx="2011680"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Why the WHERE</a:t>
            </a:r>
            <a:endParaRPr lang="en-US" sz="1500" dirty="0"/>
          </a:p>
        </p:txBody>
      </p:sp>
      <p:sp>
        <p:nvSpPr>
          <p:cNvPr id="10" name="Text 8"/>
          <p:cNvSpPr txBox="1"/>
          <p:nvPr/>
        </p:nvSpPr>
        <p:spPr>
          <a:xfrm>
            <a:off x="6446520" y="1828800"/>
            <a:ext cx="2011680" cy="1600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Unchanged rows are skipped</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updated_at stays meaningful</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IS DISTINCT FROM treats NULL → value as a change (Week 3 Day 2)</a:t>
            </a:r>
            <a:endParaRPr lang="en-US" sz="1300" dirty="0"/>
          </a:p>
        </p:txBody>
      </p:sp>
      <p:sp>
        <p:nvSpPr>
          <p:cNvPr id="11" name="Text 9"/>
          <p:cNvSpPr txBox="1"/>
          <p:nvPr/>
        </p:nvSpPr>
        <p:spPr>
          <a:xfrm>
            <a:off x="6446520" y="3520440"/>
            <a:ext cx="2011680" cy="868680"/>
          </a:xfrm>
          <a:prstGeom prst="rect">
            <a:avLst/>
          </a:prstGeom>
          <a:noFill/>
          <a:ln/>
        </p:spPr>
        <p:txBody>
          <a:bodyPr wrap="square" lIns="0" tIns="0" rIns="0" bIns="0" rtlCol="0" anchor="b"/>
          <a:lstStyle/>
          <a:p>
            <a:pPr marL="0" indent="0">
              <a:buNone/>
            </a:pPr>
            <a:r>
              <a:rPr lang="en-US" sz="1250" b="1" dirty="0">
                <a:solidFill>
                  <a:srgbClr val="B5651D"/>
                </a:solidFill>
                <a:latin typeface="Calibri" pitchFamily="34" charset="0"/>
                <a:ea typeface="Calibri" pitchFamily="34" charset="-122"/>
                <a:cs typeface="Calibri" pitchFamily="34" charset="-120"/>
              </a:rPr>
              <a:t>psql prints INSERT 0 n — n = rows inserted or updated.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45720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UPSERT</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Reading the UPSERT step by step</a:t>
            </a:r>
            <a:endParaRPr lang="en-US" sz="2800" dirty="0"/>
          </a:p>
        </p:txBody>
      </p:sp>
      <p:sp>
        <p:nvSpPr>
          <p:cNvPr id="4" name="Shape 2"/>
          <p:cNvSpPr/>
          <p:nvPr/>
        </p:nvSpPr>
        <p:spPr>
          <a:xfrm>
            <a:off x="457200" y="1143000"/>
            <a:ext cx="4343400" cy="2148840"/>
          </a:xfrm>
          <a:prstGeom prst="roundRect">
            <a:avLst>
              <a:gd name="adj" fmla="val 2128"/>
            </a:avLst>
          </a:prstGeom>
          <a:solidFill>
            <a:srgbClr val="13212E"/>
          </a:solidFill>
          <a:ln w="12700">
            <a:solidFill>
              <a:srgbClr val="13212E"/>
            </a:solidFill>
            <a:prstDash val="solid"/>
          </a:ln>
        </p:spPr>
        <p:txBody>
          <a:bodyPr/>
          <a:lstStyle/>
          <a:p>
            <a:endParaRPr lang="en-TH"/>
          </a:p>
        </p:txBody>
      </p:sp>
      <p:sp>
        <p:nvSpPr>
          <p:cNvPr id="5" name="Text 3"/>
          <p:cNvSpPr txBox="1"/>
          <p:nvPr/>
        </p:nvSpPr>
        <p:spPr>
          <a:xfrm>
            <a:off x="868680" y="128016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INSERT INTO staging.sellers (seller_id, city, state)</a:t>
            </a:r>
            <a:endParaRPr lang="en-US" sz="850" dirty="0"/>
          </a:p>
        </p:txBody>
      </p:sp>
      <p:sp>
        <p:nvSpPr>
          <p:cNvPr id="6" name="Text 4"/>
          <p:cNvSpPr txBox="1"/>
          <p:nvPr/>
        </p:nvSpPr>
        <p:spPr>
          <a:xfrm>
            <a:off x="868680" y="146304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SELECT seller_id, seller_city, seller_state</a:t>
            </a:r>
            <a:endParaRPr lang="en-US" sz="850" dirty="0"/>
          </a:p>
        </p:txBody>
      </p:sp>
      <p:sp>
        <p:nvSpPr>
          <p:cNvPr id="7" name="Text 5"/>
          <p:cNvSpPr txBox="1"/>
          <p:nvPr/>
        </p:nvSpPr>
        <p:spPr>
          <a:xfrm>
            <a:off x="868680" y="164592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FROM raw.sellers</a:t>
            </a:r>
            <a:endParaRPr lang="en-US" sz="850" dirty="0"/>
          </a:p>
        </p:txBody>
      </p:sp>
      <p:sp>
        <p:nvSpPr>
          <p:cNvPr id="8" name="Text 6"/>
          <p:cNvSpPr txBox="1"/>
          <p:nvPr/>
        </p:nvSpPr>
        <p:spPr>
          <a:xfrm>
            <a:off x="868680" y="182880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ON CONFLICT (seller_id) DO UPDATE</a:t>
            </a:r>
            <a:endParaRPr lang="en-US" sz="850" dirty="0"/>
          </a:p>
        </p:txBody>
      </p:sp>
      <p:sp>
        <p:nvSpPr>
          <p:cNvPr id="9" name="Text 7"/>
          <p:cNvSpPr txBox="1"/>
          <p:nvPr/>
        </p:nvSpPr>
        <p:spPr>
          <a:xfrm>
            <a:off x="868680" y="201168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SET city       = EXCLUDED.city,</a:t>
            </a:r>
            <a:endParaRPr lang="en-US" sz="850" dirty="0"/>
          </a:p>
        </p:txBody>
      </p:sp>
      <p:sp>
        <p:nvSpPr>
          <p:cNvPr id="10" name="Text 8"/>
          <p:cNvSpPr txBox="1"/>
          <p:nvPr/>
        </p:nvSpPr>
        <p:spPr>
          <a:xfrm>
            <a:off x="868680" y="219456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    state      = EXCLUDED.state,</a:t>
            </a:r>
            <a:endParaRPr lang="en-US" sz="850" dirty="0"/>
          </a:p>
        </p:txBody>
      </p:sp>
      <p:sp>
        <p:nvSpPr>
          <p:cNvPr id="11" name="Text 9"/>
          <p:cNvSpPr txBox="1"/>
          <p:nvPr/>
        </p:nvSpPr>
        <p:spPr>
          <a:xfrm>
            <a:off x="868680" y="237744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    updated_at = now()</a:t>
            </a:r>
            <a:endParaRPr lang="en-US" sz="850" dirty="0"/>
          </a:p>
        </p:txBody>
      </p:sp>
      <p:sp>
        <p:nvSpPr>
          <p:cNvPr id="12" name="Text 10"/>
          <p:cNvSpPr txBox="1"/>
          <p:nvPr/>
        </p:nvSpPr>
        <p:spPr>
          <a:xfrm>
            <a:off x="868680" y="256032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WHERE (staging.sellers.city, staging.sellers.state)</a:t>
            </a:r>
            <a:endParaRPr lang="en-US" sz="850" dirty="0"/>
          </a:p>
        </p:txBody>
      </p:sp>
      <p:sp>
        <p:nvSpPr>
          <p:cNvPr id="13" name="Text 11"/>
          <p:cNvSpPr txBox="1"/>
          <p:nvPr/>
        </p:nvSpPr>
        <p:spPr>
          <a:xfrm>
            <a:off x="868680" y="274320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      IS DISTINCT FROM</a:t>
            </a:r>
            <a:endParaRPr lang="en-US" sz="850" dirty="0"/>
          </a:p>
        </p:txBody>
      </p:sp>
      <p:sp>
        <p:nvSpPr>
          <p:cNvPr id="14" name="Text 12"/>
          <p:cNvSpPr txBox="1"/>
          <p:nvPr/>
        </p:nvSpPr>
        <p:spPr>
          <a:xfrm>
            <a:off x="868680" y="2926080"/>
            <a:ext cx="3886200" cy="182880"/>
          </a:xfrm>
          <a:prstGeom prst="rect">
            <a:avLst/>
          </a:prstGeom>
          <a:noFill/>
          <a:ln/>
        </p:spPr>
        <p:txBody>
          <a:bodyPr wrap="square" lIns="0" tIns="0" rIns="0" bIns="0" rtlCol="0" anchor="ctr"/>
          <a:lstStyle/>
          <a:p>
            <a:pPr marL="0" indent="0">
              <a:buNone/>
            </a:pPr>
            <a:r>
              <a:rPr lang="en-US" sz="850" dirty="0">
                <a:solidFill>
                  <a:srgbClr val="E6EEF2"/>
                </a:solidFill>
                <a:latin typeface="Courier New" pitchFamily="34" charset="0"/>
                <a:ea typeface="Courier New" pitchFamily="34" charset="-122"/>
                <a:cs typeface="Courier New" pitchFamily="34" charset="-120"/>
              </a:rPr>
              <a:t>      (EXCLUDED.city, EXCLUDED.state);</a:t>
            </a:r>
            <a:endParaRPr lang="en-US" sz="850" dirty="0"/>
          </a:p>
        </p:txBody>
      </p:sp>
      <p:sp>
        <p:nvSpPr>
          <p:cNvPr id="15" name="Shape 13"/>
          <p:cNvSpPr/>
          <p:nvPr/>
        </p:nvSpPr>
        <p:spPr>
          <a:xfrm>
            <a:off x="603504" y="1289304"/>
            <a:ext cx="164592" cy="164592"/>
          </a:xfrm>
          <a:prstGeom prst="ellipse">
            <a:avLst/>
          </a:prstGeom>
          <a:solidFill>
            <a:srgbClr val="F4A259"/>
          </a:solidFill>
          <a:ln w="12700">
            <a:solidFill>
              <a:srgbClr val="F4A259"/>
            </a:solidFill>
            <a:prstDash val="solid"/>
          </a:ln>
        </p:spPr>
        <p:txBody>
          <a:bodyPr/>
          <a:lstStyle/>
          <a:p>
            <a:endParaRPr lang="en-TH"/>
          </a:p>
        </p:txBody>
      </p:sp>
      <p:sp>
        <p:nvSpPr>
          <p:cNvPr id="16" name="Text 14"/>
          <p:cNvSpPr txBox="1"/>
          <p:nvPr/>
        </p:nvSpPr>
        <p:spPr>
          <a:xfrm>
            <a:off x="603504" y="1289304"/>
            <a:ext cx="164592" cy="164592"/>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1</a:t>
            </a:r>
            <a:endParaRPr lang="en-US" sz="900" dirty="0"/>
          </a:p>
        </p:txBody>
      </p:sp>
      <p:sp>
        <p:nvSpPr>
          <p:cNvPr id="17" name="Shape 15"/>
          <p:cNvSpPr/>
          <p:nvPr/>
        </p:nvSpPr>
        <p:spPr>
          <a:xfrm>
            <a:off x="603504" y="1472184"/>
            <a:ext cx="164592" cy="164592"/>
          </a:xfrm>
          <a:prstGeom prst="ellipse">
            <a:avLst/>
          </a:prstGeom>
          <a:solidFill>
            <a:srgbClr val="F4A259"/>
          </a:solidFill>
          <a:ln w="12700">
            <a:solidFill>
              <a:srgbClr val="F4A259"/>
            </a:solidFill>
            <a:prstDash val="solid"/>
          </a:ln>
        </p:spPr>
        <p:txBody>
          <a:bodyPr/>
          <a:lstStyle/>
          <a:p>
            <a:endParaRPr lang="en-TH"/>
          </a:p>
        </p:txBody>
      </p:sp>
      <p:sp>
        <p:nvSpPr>
          <p:cNvPr id="18" name="Text 16"/>
          <p:cNvSpPr txBox="1"/>
          <p:nvPr/>
        </p:nvSpPr>
        <p:spPr>
          <a:xfrm>
            <a:off x="603504" y="1472184"/>
            <a:ext cx="164592" cy="164592"/>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2</a:t>
            </a:r>
            <a:endParaRPr lang="en-US" sz="900" dirty="0"/>
          </a:p>
        </p:txBody>
      </p:sp>
      <p:sp>
        <p:nvSpPr>
          <p:cNvPr id="19" name="Shape 17"/>
          <p:cNvSpPr/>
          <p:nvPr/>
        </p:nvSpPr>
        <p:spPr>
          <a:xfrm>
            <a:off x="603504" y="1837944"/>
            <a:ext cx="164592" cy="164592"/>
          </a:xfrm>
          <a:prstGeom prst="ellipse">
            <a:avLst/>
          </a:prstGeom>
          <a:solidFill>
            <a:srgbClr val="F4A259"/>
          </a:solidFill>
          <a:ln w="12700">
            <a:solidFill>
              <a:srgbClr val="F4A259"/>
            </a:solidFill>
            <a:prstDash val="solid"/>
          </a:ln>
        </p:spPr>
        <p:txBody>
          <a:bodyPr/>
          <a:lstStyle/>
          <a:p>
            <a:endParaRPr lang="en-TH"/>
          </a:p>
        </p:txBody>
      </p:sp>
      <p:sp>
        <p:nvSpPr>
          <p:cNvPr id="20" name="Text 18"/>
          <p:cNvSpPr txBox="1"/>
          <p:nvPr/>
        </p:nvSpPr>
        <p:spPr>
          <a:xfrm>
            <a:off x="603504" y="1837944"/>
            <a:ext cx="164592" cy="164592"/>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3</a:t>
            </a:r>
            <a:endParaRPr lang="en-US" sz="900" dirty="0"/>
          </a:p>
        </p:txBody>
      </p:sp>
      <p:sp>
        <p:nvSpPr>
          <p:cNvPr id="21" name="Shape 19"/>
          <p:cNvSpPr/>
          <p:nvPr/>
        </p:nvSpPr>
        <p:spPr>
          <a:xfrm>
            <a:off x="603504" y="2020824"/>
            <a:ext cx="164592" cy="164592"/>
          </a:xfrm>
          <a:prstGeom prst="ellipse">
            <a:avLst/>
          </a:prstGeom>
          <a:solidFill>
            <a:srgbClr val="F4A259"/>
          </a:solidFill>
          <a:ln w="12700">
            <a:solidFill>
              <a:srgbClr val="F4A259"/>
            </a:solidFill>
            <a:prstDash val="solid"/>
          </a:ln>
        </p:spPr>
        <p:txBody>
          <a:bodyPr/>
          <a:lstStyle/>
          <a:p>
            <a:endParaRPr lang="en-TH"/>
          </a:p>
        </p:txBody>
      </p:sp>
      <p:sp>
        <p:nvSpPr>
          <p:cNvPr id="22" name="Text 20"/>
          <p:cNvSpPr txBox="1"/>
          <p:nvPr/>
        </p:nvSpPr>
        <p:spPr>
          <a:xfrm>
            <a:off x="603504" y="2020824"/>
            <a:ext cx="164592" cy="164592"/>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4</a:t>
            </a:r>
            <a:endParaRPr lang="en-US" sz="900" dirty="0"/>
          </a:p>
        </p:txBody>
      </p:sp>
      <p:sp>
        <p:nvSpPr>
          <p:cNvPr id="23" name="Shape 21"/>
          <p:cNvSpPr/>
          <p:nvPr/>
        </p:nvSpPr>
        <p:spPr>
          <a:xfrm>
            <a:off x="603504" y="2569464"/>
            <a:ext cx="164592" cy="164592"/>
          </a:xfrm>
          <a:prstGeom prst="ellipse">
            <a:avLst/>
          </a:prstGeom>
          <a:solidFill>
            <a:srgbClr val="F4A259"/>
          </a:solidFill>
          <a:ln w="12700">
            <a:solidFill>
              <a:srgbClr val="F4A259"/>
            </a:solidFill>
            <a:prstDash val="solid"/>
          </a:ln>
        </p:spPr>
        <p:txBody>
          <a:bodyPr/>
          <a:lstStyle/>
          <a:p>
            <a:endParaRPr lang="en-TH"/>
          </a:p>
        </p:txBody>
      </p:sp>
      <p:sp>
        <p:nvSpPr>
          <p:cNvPr id="24" name="Text 22"/>
          <p:cNvSpPr txBox="1"/>
          <p:nvPr/>
        </p:nvSpPr>
        <p:spPr>
          <a:xfrm>
            <a:off x="603504" y="2569464"/>
            <a:ext cx="164592" cy="164592"/>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5</a:t>
            </a:r>
            <a:endParaRPr lang="en-US" sz="900" dirty="0"/>
          </a:p>
        </p:txBody>
      </p:sp>
      <p:sp>
        <p:nvSpPr>
          <p:cNvPr id="25" name="Shape 23"/>
          <p:cNvSpPr/>
          <p:nvPr/>
        </p:nvSpPr>
        <p:spPr>
          <a:xfrm>
            <a:off x="457200" y="3447288"/>
            <a:ext cx="182880" cy="182880"/>
          </a:xfrm>
          <a:prstGeom prst="ellipse">
            <a:avLst/>
          </a:prstGeom>
          <a:solidFill>
            <a:srgbClr val="F4A259"/>
          </a:solidFill>
          <a:ln w="12700">
            <a:solidFill>
              <a:srgbClr val="F4A259"/>
            </a:solidFill>
            <a:prstDash val="solid"/>
          </a:ln>
        </p:spPr>
        <p:txBody>
          <a:bodyPr/>
          <a:lstStyle/>
          <a:p>
            <a:endParaRPr lang="en-TH"/>
          </a:p>
        </p:txBody>
      </p:sp>
      <p:sp>
        <p:nvSpPr>
          <p:cNvPr id="26" name="Text 24"/>
          <p:cNvSpPr txBox="1"/>
          <p:nvPr/>
        </p:nvSpPr>
        <p:spPr>
          <a:xfrm>
            <a:off x="457200" y="3447288"/>
            <a:ext cx="182880" cy="182880"/>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1</a:t>
            </a:r>
            <a:endParaRPr lang="en-US" sz="900" dirty="0"/>
          </a:p>
        </p:txBody>
      </p:sp>
      <p:sp>
        <p:nvSpPr>
          <p:cNvPr id="27" name="Text 25"/>
          <p:cNvSpPr txBox="1"/>
          <p:nvPr/>
        </p:nvSpPr>
        <p:spPr>
          <a:xfrm>
            <a:off x="731520" y="3429000"/>
            <a:ext cx="4069080" cy="22860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Target  </a:t>
            </a:r>
            <a:r>
              <a:rPr lang="en-US" sz="1100" dirty="0">
                <a:solidFill>
                  <a:srgbClr val="5B6B77"/>
                </a:solidFill>
                <a:latin typeface="Calibri" pitchFamily="34" charset="0"/>
                <a:ea typeface="Calibri" pitchFamily="34" charset="-122"/>
                <a:cs typeface="Calibri" pitchFamily="34" charset="-120"/>
              </a:rPr>
              <a:t>the table we write into</a:t>
            </a:r>
            <a:endParaRPr lang="en-US" sz="1100" dirty="0"/>
          </a:p>
        </p:txBody>
      </p:sp>
      <p:sp>
        <p:nvSpPr>
          <p:cNvPr id="28" name="Shape 26"/>
          <p:cNvSpPr/>
          <p:nvPr/>
        </p:nvSpPr>
        <p:spPr>
          <a:xfrm>
            <a:off x="457200" y="3694176"/>
            <a:ext cx="182880" cy="182880"/>
          </a:xfrm>
          <a:prstGeom prst="ellipse">
            <a:avLst/>
          </a:prstGeom>
          <a:solidFill>
            <a:srgbClr val="F4A259"/>
          </a:solidFill>
          <a:ln w="12700">
            <a:solidFill>
              <a:srgbClr val="F4A259"/>
            </a:solidFill>
            <a:prstDash val="solid"/>
          </a:ln>
        </p:spPr>
        <p:txBody>
          <a:bodyPr/>
          <a:lstStyle/>
          <a:p>
            <a:endParaRPr lang="en-TH"/>
          </a:p>
        </p:txBody>
      </p:sp>
      <p:sp>
        <p:nvSpPr>
          <p:cNvPr id="29" name="Text 27"/>
          <p:cNvSpPr txBox="1"/>
          <p:nvPr/>
        </p:nvSpPr>
        <p:spPr>
          <a:xfrm>
            <a:off x="457200" y="3694176"/>
            <a:ext cx="182880" cy="182880"/>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2</a:t>
            </a:r>
            <a:endParaRPr lang="en-US" sz="900" dirty="0"/>
          </a:p>
        </p:txBody>
      </p:sp>
      <p:sp>
        <p:nvSpPr>
          <p:cNvPr id="30" name="Text 28"/>
          <p:cNvSpPr txBox="1"/>
          <p:nvPr/>
        </p:nvSpPr>
        <p:spPr>
          <a:xfrm>
            <a:off x="731520" y="3675888"/>
            <a:ext cx="4069080" cy="22860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Source  </a:t>
            </a:r>
            <a:r>
              <a:rPr lang="en-US" sz="1100" dirty="0">
                <a:solidFill>
                  <a:srgbClr val="5B6B77"/>
                </a:solidFill>
                <a:latin typeface="Calibri" pitchFamily="34" charset="0"/>
                <a:ea typeface="Calibri" pitchFamily="34" charset="-122"/>
                <a:cs typeface="Calibri" pitchFamily="34" charset="-120"/>
              </a:rPr>
              <a:t>rows come from raw.sellers</a:t>
            </a:r>
            <a:endParaRPr lang="en-US" sz="1100" dirty="0"/>
          </a:p>
        </p:txBody>
      </p:sp>
      <p:sp>
        <p:nvSpPr>
          <p:cNvPr id="31" name="Shape 29"/>
          <p:cNvSpPr/>
          <p:nvPr/>
        </p:nvSpPr>
        <p:spPr>
          <a:xfrm>
            <a:off x="457200" y="3941064"/>
            <a:ext cx="182880" cy="182880"/>
          </a:xfrm>
          <a:prstGeom prst="ellipse">
            <a:avLst/>
          </a:prstGeom>
          <a:solidFill>
            <a:srgbClr val="F4A259"/>
          </a:solidFill>
          <a:ln w="12700">
            <a:solidFill>
              <a:srgbClr val="F4A259"/>
            </a:solidFill>
            <a:prstDash val="solid"/>
          </a:ln>
        </p:spPr>
        <p:txBody>
          <a:bodyPr/>
          <a:lstStyle/>
          <a:p>
            <a:endParaRPr lang="en-TH"/>
          </a:p>
        </p:txBody>
      </p:sp>
      <p:sp>
        <p:nvSpPr>
          <p:cNvPr id="32" name="Text 30"/>
          <p:cNvSpPr txBox="1"/>
          <p:nvPr/>
        </p:nvSpPr>
        <p:spPr>
          <a:xfrm>
            <a:off x="457200" y="3941064"/>
            <a:ext cx="182880" cy="182880"/>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3</a:t>
            </a:r>
            <a:endParaRPr lang="en-US" sz="900" dirty="0"/>
          </a:p>
        </p:txBody>
      </p:sp>
      <p:sp>
        <p:nvSpPr>
          <p:cNvPr id="33" name="Text 31"/>
          <p:cNvSpPr txBox="1"/>
          <p:nvPr/>
        </p:nvSpPr>
        <p:spPr>
          <a:xfrm>
            <a:off x="731520" y="3922776"/>
            <a:ext cx="4069080" cy="22860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Key check  </a:t>
            </a:r>
            <a:r>
              <a:rPr lang="en-US" sz="1100" dirty="0">
                <a:solidFill>
                  <a:srgbClr val="5B6B77"/>
                </a:solidFill>
                <a:latin typeface="Calibri" pitchFamily="34" charset="0"/>
                <a:ea typeface="Calibri" pitchFamily="34" charset="-122"/>
                <a:cs typeface="Calibri" pitchFamily="34" charset="-120"/>
              </a:rPr>
              <a:t>seller_id new → INSERT · exists → go to 4</a:t>
            </a:r>
            <a:endParaRPr lang="en-US" sz="1100" dirty="0"/>
          </a:p>
        </p:txBody>
      </p:sp>
      <p:sp>
        <p:nvSpPr>
          <p:cNvPr id="34" name="Shape 32"/>
          <p:cNvSpPr/>
          <p:nvPr/>
        </p:nvSpPr>
        <p:spPr>
          <a:xfrm>
            <a:off x="457200" y="4187952"/>
            <a:ext cx="182880" cy="182880"/>
          </a:xfrm>
          <a:prstGeom prst="ellipse">
            <a:avLst/>
          </a:prstGeom>
          <a:solidFill>
            <a:srgbClr val="F4A259"/>
          </a:solidFill>
          <a:ln w="12700">
            <a:solidFill>
              <a:srgbClr val="F4A259"/>
            </a:solidFill>
            <a:prstDash val="solid"/>
          </a:ln>
        </p:spPr>
        <p:txBody>
          <a:bodyPr/>
          <a:lstStyle/>
          <a:p>
            <a:endParaRPr lang="en-TH"/>
          </a:p>
        </p:txBody>
      </p:sp>
      <p:sp>
        <p:nvSpPr>
          <p:cNvPr id="35" name="Text 33"/>
          <p:cNvSpPr txBox="1"/>
          <p:nvPr/>
        </p:nvSpPr>
        <p:spPr>
          <a:xfrm>
            <a:off x="457200" y="4187952"/>
            <a:ext cx="182880" cy="182880"/>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4</a:t>
            </a:r>
            <a:endParaRPr lang="en-US" sz="900" dirty="0"/>
          </a:p>
        </p:txBody>
      </p:sp>
      <p:sp>
        <p:nvSpPr>
          <p:cNvPr id="36" name="Text 34"/>
          <p:cNvSpPr txBox="1"/>
          <p:nvPr/>
        </p:nvSpPr>
        <p:spPr>
          <a:xfrm>
            <a:off x="731520" y="4169664"/>
            <a:ext cx="4069080" cy="22860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Update  </a:t>
            </a:r>
            <a:r>
              <a:rPr lang="en-US" sz="1100" dirty="0">
                <a:solidFill>
                  <a:srgbClr val="5B6B77"/>
                </a:solidFill>
                <a:latin typeface="Calibri" pitchFamily="34" charset="0"/>
                <a:ea typeface="Calibri" pitchFamily="34" charset="-122"/>
                <a:cs typeface="Calibri" pitchFamily="34" charset="-120"/>
              </a:rPr>
              <a:t>EXCLUDED = the new row from raw</a:t>
            </a:r>
            <a:endParaRPr lang="en-US" sz="1100" dirty="0"/>
          </a:p>
        </p:txBody>
      </p:sp>
      <p:sp>
        <p:nvSpPr>
          <p:cNvPr id="37" name="Shape 35"/>
          <p:cNvSpPr/>
          <p:nvPr/>
        </p:nvSpPr>
        <p:spPr>
          <a:xfrm>
            <a:off x="457200" y="4434840"/>
            <a:ext cx="182880" cy="182880"/>
          </a:xfrm>
          <a:prstGeom prst="ellipse">
            <a:avLst/>
          </a:prstGeom>
          <a:solidFill>
            <a:srgbClr val="F4A259"/>
          </a:solidFill>
          <a:ln w="12700">
            <a:solidFill>
              <a:srgbClr val="F4A259"/>
            </a:solidFill>
            <a:prstDash val="solid"/>
          </a:ln>
        </p:spPr>
        <p:txBody>
          <a:bodyPr/>
          <a:lstStyle/>
          <a:p>
            <a:endParaRPr lang="en-TH"/>
          </a:p>
        </p:txBody>
      </p:sp>
      <p:sp>
        <p:nvSpPr>
          <p:cNvPr id="38" name="Text 36"/>
          <p:cNvSpPr txBox="1"/>
          <p:nvPr/>
        </p:nvSpPr>
        <p:spPr>
          <a:xfrm>
            <a:off x="457200" y="4434840"/>
            <a:ext cx="182880" cy="182880"/>
          </a:xfrm>
          <a:prstGeom prst="rect">
            <a:avLst/>
          </a:prstGeom>
          <a:noFill/>
          <a:ln/>
        </p:spPr>
        <p:txBody>
          <a:bodyPr wrap="square" lIns="0" tIns="0" rIns="0" bIns="0" rtlCol="0" anchor="ctr"/>
          <a:lstStyle/>
          <a:p>
            <a:pPr marL="0" indent="0" algn="ctr">
              <a:buNone/>
            </a:pPr>
            <a:r>
              <a:rPr lang="en-US" sz="900" b="1" dirty="0">
                <a:solidFill>
                  <a:srgbClr val="13212E"/>
                </a:solidFill>
                <a:latin typeface="Calibri" pitchFamily="34" charset="0"/>
                <a:ea typeface="Calibri" pitchFamily="34" charset="-122"/>
                <a:cs typeface="Calibri" pitchFamily="34" charset="-120"/>
              </a:rPr>
              <a:t>5</a:t>
            </a:r>
            <a:endParaRPr lang="en-US" sz="900" dirty="0"/>
          </a:p>
        </p:txBody>
      </p:sp>
      <p:sp>
        <p:nvSpPr>
          <p:cNvPr id="39" name="Text 37"/>
          <p:cNvSpPr txBox="1"/>
          <p:nvPr/>
        </p:nvSpPr>
        <p:spPr>
          <a:xfrm>
            <a:off x="731520" y="4416552"/>
            <a:ext cx="4069080" cy="22860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Only if changed  </a:t>
            </a:r>
            <a:r>
              <a:rPr lang="en-US" sz="1100" dirty="0">
                <a:solidFill>
                  <a:srgbClr val="5B6B77"/>
                </a:solidFill>
                <a:latin typeface="Calibri" pitchFamily="34" charset="0"/>
                <a:ea typeface="Calibri" pitchFamily="34" charset="-122"/>
                <a:cs typeface="Calibri" pitchFamily="34" charset="-120"/>
              </a:rPr>
              <a:t>IS DISTINCT FROM also handles NULLs</a:t>
            </a:r>
            <a:endParaRPr lang="en-US" sz="1100" dirty="0"/>
          </a:p>
        </p:txBody>
      </p:sp>
      <p:sp>
        <p:nvSpPr>
          <p:cNvPr id="40" name="Shape 38"/>
          <p:cNvSpPr/>
          <p:nvPr/>
        </p:nvSpPr>
        <p:spPr>
          <a:xfrm>
            <a:off x="5029200" y="1143000"/>
            <a:ext cx="3657600" cy="3493008"/>
          </a:xfrm>
          <a:prstGeom prst="roundRect">
            <a:avLst>
              <a:gd name="adj" fmla="val 2094"/>
            </a:avLst>
          </a:prstGeom>
          <a:solidFill>
            <a:srgbClr val="D8EEEC"/>
          </a:solidFill>
          <a:ln w="12700">
            <a:solidFill>
              <a:srgbClr val="D8EEEC"/>
            </a:solidFill>
            <a:prstDash val="solid"/>
          </a:ln>
        </p:spPr>
        <p:txBody>
          <a:bodyPr/>
          <a:lstStyle/>
          <a:p>
            <a:endParaRPr lang="en-TH"/>
          </a:p>
        </p:txBody>
      </p:sp>
      <p:sp>
        <p:nvSpPr>
          <p:cNvPr id="41" name="Text 39"/>
          <p:cNvSpPr txBox="1"/>
          <p:nvPr/>
        </p:nvSpPr>
        <p:spPr>
          <a:xfrm>
            <a:off x="5212080" y="1252728"/>
            <a:ext cx="3291840" cy="274320"/>
          </a:xfrm>
          <a:prstGeom prst="rect">
            <a:avLst/>
          </a:prstGeom>
          <a:noFill/>
          <a:ln/>
        </p:spPr>
        <p:txBody>
          <a:bodyPr wrap="square" lIns="0" tIns="0" rIns="0" bIns="0"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Example: three sellers from raw</a:t>
            </a:r>
            <a:endParaRPr lang="en-US" sz="1300" dirty="0"/>
          </a:p>
        </p:txBody>
      </p:sp>
      <p:graphicFrame>
        <p:nvGraphicFramePr>
          <p:cNvPr id="42" name="Table 0"/>
          <p:cNvGraphicFramePr>
            <a:graphicFrameLocks noGrp="1"/>
          </p:cNvGraphicFramePr>
          <p:nvPr/>
        </p:nvGraphicFramePr>
        <p:xfrm>
          <a:off x="5212080" y="1645920"/>
          <a:ext cx="3291840" cy="1243584"/>
        </p:xfrm>
        <a:graphic>
          <a:graphicData uri="http://schemas.openxmlformats.org/drawingml/2006/table">
            <a:tbl>
              <a:tblPr/>
              <a:tblGrid>
                <a:gridCol w="502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108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seller</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1321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 staging?</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1321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old → new city</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1321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13212E"/>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s1</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campinas → campinas</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b="1" dirty="0">
                          <a:solidFill>
                            <a:srgbClr val="5B6B77"/>
                          </a:solidFill>
                          <a:latin typeface="Calibri" pitchFamily="34" charset="0"/>
                          <a:ea typeface="Calibri" pitchFamily="34" charset="-122"/>
                          <a:cs typeface="Calibri" pitchFamily="34" charset="-120"/>
                        </a:rPr>
                        <a:t>skip</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s2</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curitiba → londrina</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b="1" dirty="0">
                          <a:solidFill>
                            <a:srgbClr val="0E7C7B"/>
                          </a:solidFill>
                          <a:latin typeface="Calibri" pitchFamily="34" charset="0"/>
                          <a:ea typeface="Calibri" pitchFamily="34" charset="-122"/>
                          <a:cs typeface="Calibri" pitchFamily="34" charset="-120"/>
                        </a:rPr>
                        <a:t>UPDATE</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s3</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 → recife</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tc>
                  <a:txBody>
                    <a:bodyPr/>
                    <a:lstStyle/>
                    <a:p>
                      <a:pPr marL="0" indent="0">
                        <a:buNone/>
                      </a:pPr>
                      <a:r>
                        <a:rPr lang="en-US" sz="1000" b="1" dirty="0">
                          <a:solidFill>
                            <a:srgbClr val="0E7C7B"/>
                          </a:solidFill>
                          <a:latin typeface="Calibri" pitchFamily="34" charset="0"/>
                          <a:ea typeface="Calibri" pitchFamily="34" charset="-122"/>
                          <a:cs typeface="Calibri" pitchFamily="34" charset="-120"/>
                        </a:rPr>
                        <a:t>INSERT</a:t>
                      </a:r>
                      <a:endParaRPr lang="en-US" sz="1000" dirty="0">
                        <a:latin typeface="Calibri" charset="0"/>
                        <a:ea typeface="Calibri" charset="0"/>
                        <a:cs typeface="Calibri" charset="0"/>
                      </a:endParaRPr>
                    </a:p>
                  </a:txBody>
                  <a:tcPr marL="54864" marR="54864" marT="0" marB="0" anchor="ctr">
                    <a:lnL w="6350" cap="flat" cmpd="sng" algn="ctr">
                      <a:solidFill>
                        <a:srgbClr val="C9DCDA"/>
                      </a:solidFill>
                      <a:prstDash val="solid"/>
                      <a:round/>
                      <a:headEnd type="none" w="med" len="med"/>
                      <a:tailEnd type="none" w="med" len="med"/>
                    </a:lnL>
                    <a:lnR w="6350" cap="flat" cmpd="sng" algn="ctr">
                      <a:solidFill>
                        <a:srgbClr val="C9DCDA"/>
                      </a:solidFill>
                      <a:prstDash val="solid"/>
                      <a:round/>
                      <a:headEnd type="none" w="med" len="med"/>
                      <a:tailEnd type="none" w="med" len="med"/>
                    </a:lnR>
                    <a:lnT w="6350" cap="flat" cmpd="sng" algn="ctr">
                      <a:solidFill>
                        <a:srgbClr val="C9DCDA"/>
                      </a:solidFill>
                      <a:prstDash val="solid"/>
                      <a:round/>
                      <a:headEnd type="none" w="med" len="med"/>
                      <a:tailEnd type="none" w="med" len="med"/>
                    </a:lnT>
                    <a:lnB w="6350" cap="flat" cmpd="sng" algn="ctr">
                      <a:solidFill>
                        <a:srgbClr val="C9DC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3" name="Text 40"/>
          <p:cNvSpPr txBox="1"/>
          <p:nvPr/>
        </p:nvSpPr>
        <p:spPr>
          <a:xfrm>
            <a:off x="5212080" y="3063240"/>
            <a:ext cx="1097280" cy="292608"/>
          </a:xfrm>
          <a:prstGeom prst="rect">
            <a:avLst/>
          </a:prstGeom>
          <a:noFill/>
          <a:ln/>
        </p:spPr>
        <p:txBody>
          <a:bodyPr wrap="square" lIns="0" tIns="0" rIns="0" bIns="0" rtlCol="0" anchor="ctr"/>
          <a:lstStyle/>
          <a:p>
            <a:pPr marL="0" indent="0">
              <a:buNone/>
            </a:pPr>
            <a:r>
              <a:rPr lang="en-US" sz="1100" dirty="0">
                <a:solidFill>
                  <a:srgbClr val="5B6B77"/>
                </a:solidFill>
                <a:latin typeface="Calibri" pitchFamily="34" charset="0"/>
                <a:ea typeface="Calibri" pitchFamily="34" charset="-122"/>
                <a:cs typeface="Calibri" pitchFamily="34" charset="-120"/>
              </a:rPr>
              <a:t>psql prints</a:t>
            </a:r>
            <a:endParaRPr lang="en-US" sz="1100" dirty="0"/>
          </a:p>
        </p:txBody>
      </p:sp>
      <p:sp>
        <p:nvSpPr>
          <p:cNvPr id="44" name="Shape 41"/>
          <p:cNvSpPr/>
          <p:nvPr/>
        </p:nvSpPr>
        <p:spPr>
          <a:xfrm>
            <a:off x="6172200" y="3063240"/>
            <a:ext cx="1463040" cy="292608"/>
          </a:xfrm>
          <a:prstGeom prst="roundRect">
            <a:avLst>
              <a:gd name="adj" fmla="val 18750"/>
            </a:avLst>
          </a:prstGeom>
          <a:solidFill>
            <a:srgbClr val="0E7C7B"/>
          </a:solidFill>
          <a:ln w="12700">
            <a:solidFill>
              <a:srgbClr val="0E7C7B"/>
            </a:solidFill>
            <a:prstDash val="solid"/>
          </a:ln>
        </p:spPr>
        <p:txBody>
          <a:bodyPr/>
          <a:lstStyle/>
          <a:p>
            <a:endParaRPr lang="en-TH"/>
          </a:p>
        </p:txBody>
      </p:sp>
      <p:sp>
        <p:nvSpPr>
          <p:cNvPr id="45" name="Text 42"/>
          <p:cNvSpPr txBox="1"/>
          <p:nvPr/>
        </p:nvSpPr>
        <p:spPr>
          <a:xfrm>
            <a:off x="6172200" y="3063240"/>
            <a:ext cx="14630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INSERT 0 2</a:t>
            </a:r>
            <a:endParaRPr lang="en-US" sz="1200" dirty="0"/>
          </a:p>
        </p:txBody>
      </p:sp>
      <p:sp>
        <p:nvSpPr>
          <p:cNvPr id="46" name="Text 43"/>
          <p:cNvSpPr txBox="1"/>
          <p:nvPr/>
        </p:nvSpPr>
        <p:spPr>
          <a:xfrm>
            <a:off x="5212080" y="3429000"/>
            <a:ext cx="3291840" cy="228600"/>
          </a:xfrm>
          <a:prstGeom prst="rect">
            <a:avLst/>
          </a:prstGeom>
          <a:noFill/>
          <a:ln/>
        </p:spPr>
        <p:txBody>
          <a:bodyPr wrap="square" lIns="0" tIns="0" rIns="0" bIns="0" rtlCol="0" anchor="ctr"/>
          <a:lstStyle/>
          <a:p>
            <a:pPr marL="0" indent="0">
              <a:buNone/>
            </a:pPr>
            <a:r>
              <a:rPr lang="en-US" sz="1050" dirty="0">
                <a:solidFill>
                  <a:srgbClr val="5B6B77"/>
                </a:solidFill>
                <a:latin typeface="Calibri" pitchFamily="34" charset="0"/>
                <a:ea typeface="Calibri" pitchFamily="34" charset="-122"/>
                <a:cs typeface="Calibri" pitchFamily="34" charset="-120"/>
              </a:rPr>
              <a:t>1 insert + 1 update. s1 is not counted.</a:t>
            </a:r>
            <a:endParaRPr lang="en-US" sz="1050" dirty="0"/>
          </a:p>
        </p:txBody>
      </p:sp>
      <p:sp>
        <p:nvSpPr>
          <p:cNvPr id="47" name="Shape 44"/>
          <p:cNvSpPr/>
          <p:nvPr/>
        </p:nvSpPr>
        <p:spPr>
          <a:xfrm>
            <a:off x="5212080" y="3794760"/>
            <a:ext cx="3291840" cy="658368"/>
          </a:xfrm>
          <a:prstGeom prst="roundRect">
            <a:avLst>
              <a:gd name="adj" fmla="val 8333"/>
            </a:avLst>
          </a:prstGeom>
          <a:solidFill>
            <a:srgbClr val="FFFFFF"/>
          </a:solidFill>
          <a:ln w="12700">
            <a:solidFill>
              <a:srgbClr val="FFFFFF"/>
            </a:solidFill>
            <a:prstDash val="solid"/>
          </a:ln>
        </p:spPr>
        <p:txBody>
          <a:bodyPr/>
          <a:lstStyle/>
          <a:p>
            <a:endParaRPr lang="en-TH"/>
          </a:p>
        </p:txBody>
      </p:sp>
      <p:sp>
        <p:nvSpPr>
          <p:cNvPr id="48" name="Text 45"/>
          <p:cNvSpPr txBox="1"/>
          <p:nvPr/>
        </p:nvSpPr>
        <p:spPr>
          <a:xfrm>
            <a:off x="5349240" y="3840480"/>
            <a:ext cx="3063240"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Run it again, nothing changed</a:t>
            </a:r>
            <a:endParaRPr lang="en-US" sz="1100" dirty="0"/>
          </a:p>
          <a:p>
            <a:pPr marL="0" indent="0">
              <a:buNone/>
            </a:pPr>
            <a:r>
              <a:rPr lang="en-US" sz="1100" b="1" dirty="0">
                <a:solidFill>
                  <a:srgbClr val="0E7C7B"/>
                </a:solidFill>
                <a:latin typeface="Courier New" pitchFamily="34" charset="0"/>
                <a:ea typeface="Courier New" pitchFamily="34" charset="-122"/>
                <a:cs typeface="Courier New" pitchFamily="34" charset="-120"/>
              </a:rPr>
              <a:t>→ INSERT 0 0: idempotent</a:t>
            </a:r>
            <a:endParaRPr lang="en-US" sz="1100" dirty="0"/>
          </a:p>
        </p:txBody>
      </p:sp>
      <p:sp>
        <p:nvSpPr>
          <p:cNvPr id="49" name="Text 46"/>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3212E"/>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8FA3B1"/>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8FA3B1"/>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1188720"/>
            <a:ext cx="2743200" cy="1188720"/>
          </a:xfrm>
          <a:prstGeom prst="rect">
            <a:avLst/>
          </a:prstGeom>
          <a:noFill/>
          <a:ln/>
        </p:spPr>
        <p:txBody>
          <a:bodyPr wrap="square" lIns="0" tIns="0" rIns="0" bIns="0" rtlCol="0" anchor="t"/>
          <a:lstStyle/>
          <a:p>
            <a:pPr marL="0" indent="0">
              <a:buNone/>
            </a:pPr>
            <a:r>
              <a:rPr lang="en-US" sz="8800" b="1" dirty="0">
                <a:solidFill>
                  <a:srgbClr val="F4A259"/>
                </a:solidFill>
                <a:latin typeface="Cambria" pitchFamily="34" charset="0"/>
                <a:ea typeface="Cambria" pitchFamily="34" charset="-122"/>
                <a:cs typeface="Cambria" pitchFamily="34" charset="-120"/>
              </a:rPr>
              <a:t>04</a:t>
            </a:r>
            <a:endParaRPr lang="en-US" sz="8800" dirty="0"/>
          </a:p>
        </p:txBody>
      </p:sp>
      <p:sp>
        <p:nvSpPr>
          <p:cNvPr id="5" name="Text 3"/>
          <p:cNvSpPr txBox="1"/>
          <p:nvPr/>
        </p:nvSpPr>
        <p:spPr>
          <a:xfrm>
            <a:off x="457200" y="251460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Deliverable workshop</a:t>
            </a:r>
            <a:endParaRPr lang="en-US" sz="3600" dirty="0"/>
          </a:p>
        </p:txBody>
      </p:sp>
      <p:sp>
        <p:nvSpPr>
          <p:cNvPr id="6" name="Text 4"/>
          <p:cNvSpPr txBox="1"/>
          <p:nvPr/>
        </p:nvSpPr>
        <p:spPr>
          <a:xfrm>
            <a:off x="457200" y="3246120"/>
            <a:ext cx="7315200" cy="548640"/>
          </a:xfrm>
          <a:prstGeom prst="rect">
            <a:avLst/>
          </a:prstGeom>
          <a:noFill/>
          <a:ln/>
        </p:spPr>
        <p:txBody>
          <a:bodyPr wrap="square" lIns="0" tIns="0" rIns="0" bIns="0" rtlCol="0" anchor="t"/>
          <a:lstStyle/>
          <a:p>
            <a:pPr marL="0" indent="0">
              <a:buNone/>
            </a:pPr>
            <a:r>
              <a:rPr lang="en-US" sz="1600" dirty="0">
                <a:solidFill>
                  <a:srgbClr val="B8C7D1"/>
                </a:solidFill>
                <a:latin typeface="Calibri" pitchFamily="34" charset="0"/>
                <a:ea typeface="Calibri" pitchFamily="34" charset="-122"/>
                <a:cs typeface="Calibri" pitchFamily="34" charset="-120"/>
              </a:rPr>
              <a:t>Finish, review and commit your 8–10 analytical queries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DELIVERABLE</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Suggested query set</a:t>
            </a:r>
            <a:endParaRPr lang="en-US" sz="2800" dirty="0"/>
          </a:p>
        </p:txBody>
      </p:sp>
      <p:sp>
        <p:nvSpPr>
          <p:cNvPr id="6" name="Shape 4"/>
          <p:cNvSpPr/>
          <p:nvPr/>
        </p:nvSpPr>
        <p:spPr>
          <a:xfrm>
            <a:off x="1097280" y="1234440"/>
            <a:ext cx="3749040" cy="347472"/>
          </a:xfrm>
          <a:prstGeom prst="roundRect">
            <a:avLst>
              <a:gd name="adj" fmla="val 21053"/>
            </a:avLst>
          </a:prstGeom>
          <a:solidFill>
            <a:srgbClr val="1F2933"/>
          </a:solidFill>
          <a:ln w="12700">
            <a:solidFill>
              <a:srgbClr val="1F2933"/>
            </a:solidFill>
            <a:prstDash val="solid"/>
          </a:ln>
        </p:spPr>
        <p:txBody>
          <a:bodyPr/>
          <a:lstStyle/>
          <a:p>
            <a:endParaRPr lang="en-TH"/>
          </a:p>
        </p:txBody>
      </p:sp>
      <p:sp>
        <p:nvSpPr>
          <p:cNvPr id="7" name="Text 5"/>
          <p:cNvSpPr txBox="1"/>
          <p:nvPr/>
        </p:nvSpPr>
        <p:spPr>
          <a:xfrm>
            <a:off x="1097280" y="1234440"/>
            <a:ext cx="374904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File</a:t>
            </a:r>
            <a:endParaRPr lang="en-US" sz="1250" dirty="0"/>
          </a:p>
        </p:txBody>
      </p:sp>
      <p:sp>
        <p:nvSpPr>
          <p:cNvPr id="8" name="Shape 6"/>
          <p:cNvSpPr/>
          <p:nvPr/>
        </p:nvSpPr>
        <p:spPr>
          <a:xfrm>
            <a:off x="4937760" y="1234440"/>
            <a:ext cx="3749040" cy="347472"/>
          </a:xfrm>
          <a:prstGeom prst="roundRect">
            <a:avLst>
              <a:gd name="adj" fmla="val 21053"/>
            </a:avLst>
          </a:prstGeom>
          <a:solidFill>
            <a:srgbClr val="1F2933"/>
          </a:solidFill>
          <a:ln w="12700">
            <a:solidFill>
              <a:srgbClr val="1F2933"/>
            </a:solidFill>
            <a:prstDash val="solid"/>
          </a:ln>
        </p:spPr>
        <p:txBody>
          <a:bodyPr/>
          <a:lstStyle/>
          <a:p>
            <a:endParaRPr lang="en-TH"/>
          </a:p>
        </p:txBody>
      </p:sp>
      <p:sp>
        <p:nvSpPr>
          <p:cNvPr id="9" name="Text 7"/>
          <p:cNvSpPr txBox="1"/>
          <p:nvPr/>
        </p:nvSpPr>
        <p:spPr>
          <a:xfrm>
            <a:off x="4937760" y="1234440"/>
            <a:ext cx="374904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Skill shown</a:t>
            </a:r>
            <a:endParaRPr lang="en-US" sz="1250" dirty="0"/>
          </a:p>
        </p:txBody>
      </p:sp>
      <p:sp>
        <p:nvSpPr>
          <p:cNvPr id="10" name="Text 8"/>
          <p:cNvSpPr txBox="1"/>
          <p:nvPr/>
        </p:nvSpPr>
        <p:spPr>
          <a:xfrm>
            <a:off x="457200" y="1673352"/>
            <a:ext cx="548640" cy="3785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01–02</a:t>
            </a:r>
            <a:endParaRPr lang="en-US" sz="1200" dirty="0"/>
          </a:p>
        </p:txBody>
      </p:sp>
      <p:sp>
        <p:nvSpPr>
          <p:cNvPr id="11" name="Shape 9"/>
          <p:cNvSpPr/>
          <p:nvPr/>
        </p:nvSpPr>
        <p:spPr>
          <a:xfrm>
            <a:off x="1097280" y="1673352"/>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12" name="Text 10"/>
          <p:cNvSpPr txBox="1"/>
          <p:nvPr/>
        </p:nvSpPr>
        <p:spPr>
          <a:xfrm>
            <a:off x="1170432" y="1673352"/>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order_status_summary · revenue_by_state</a:t>
            </a:r>
            <a:endParaRPr lang="en-US" sz="1050" dirty="0"/>
          </a:p>
        </p:txBody>
      </p:sp>
      <p:sp>
        <p:nvSpPr>
          <p:cNvPr id="13" name="Shape 11"/>
          <p:cNvSpPr/>
          <p:nvPr/>
        </p:nvSpPr>
        <p:spPr>
          <a:xfrm>
            <a:off x="4937760" y="1673352"/>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14" name="Text 12"/>
          <p:cNvSpPr txBox="1"/>
          <p:nvPr/>
        </p:nvSpPr>
        <p:spPr>
          <a:xfrm>
            <a:off x="5010912" y="1673352"/>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GROUP BY, joins</a:t>
            </a:r>
            <a:endParaRPr lang="en-US" sz="1050" dirty="0"/>
          </a:p>
        </p:txBody>
      </p:sp>
      <p:sp>
        <p:nvSpPr>
          <p:cNvPr id="15" name="Text 13"/>
          <p:cNvSpPr txBox="1"/>
          <p:nvPr/>
        </p:nvSpPr>
        <p:spPr>
          <a:xfrm>
            <a:off x="457200" y="2143354"/>
            <a:ext cx="548640" cy="3785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03–04</a:t>
            </a:r>
            <a:endParaRPr lang="en-US" sz="1200" dirty="0"/>
          </a:p>
        </p:txBody>
      </p:sp>
      <p:sp>
        <p:nvSpPr>
          <p:cNvPr id="16" name="Shape 14"/>
          <p:cNvSpPr/>
          <p:nvPr/>
        </p:nvSpPr>
        <p:spPr>
          <a:xfrm>
            <a:off x="1097280" y="2143354"/>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17" name="Text 15"/>
          <p:cNvSpPr txBox="1"/>
          <p:nvPr/>
        </p:nvSpPr>
        <p:spPr>
          <a:xfrm>
            <a:off x="1170432" y="2143354"/>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top_categories · monthly_revenue</a:t>
            </a:r>
            <a:endParaRPr lang="en-US" sz="1050" dirty="0"/>
          </a:p>
        </p:txBody>
      </p:sp>
      <p:sp>
        <p:nvSpPr>
          <p:cNvPr id="18" name="Shape 16"/>
          <p:cNvSpPr/>
          <p:nvPr/>
        </p:nvSpPr>
        <p:spPr>
          <a:xfrm>
            <a:off x="4937760" y="2143354"/>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19" name="Text 17"/>
          <p:cNvSpPr txBox="1"/>
          <p:nvPr/>
        </p:nvSpPr>
        <p:spPr>
          <a:xfrm>
            <a:off x="5010912" y="2143354"/>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Fan-out-safe joins, DATE_TRUNC</a:t>
            </a:r>
            <a:endParaRPr lang="en-US" sz="1050" dirty="0"/>
          </a:p>
        </p:txBody>
      </p:sp>
      <p:sp>
        <p:nvSpPr>
          <p:cNvPr id="20" name="Text 18"/>
          <p:cNvSpPr txBox="1"/>
          <p:nvPr/>
        </p:nvSpPr>
        <p:spPr>
          <a:xfrm>
            <a:off x="457200" y="2613355"/>
            <a:ext cx="548640" cy="3785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05–06</a:t>
            </a:r>
            <a:endParaRPr lang="en-US" sz="1200" dirty="0"/>
          </a:p>
        </p:txBody>
      </p:sp>
      <p:sp>
        <p:nvSpPr>
          <p:cNvPr id="21" name="Shape 19"/>
          <p:cNvSpPr/>
          <p:nvPr/>
        </p:nvSpPr>
        <p:spPr>
          <a:xfrm>
            <a:off x="1097280" y="2613355"/>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22" name="Text 20"/>
          <p:cNvSpPr txBox="1"/>
          <p:nvPr/>
        </p:nvSpPr>
        <p:spPr>
          <a:xfrm>
            <a:off x="1170432" y="2613355"/>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category_reviews · delivery_performance</a:t>
            </a:r>
            <a:endParaRPr lang="en-US" sz="1050" dirty="0"/>
          </a:p>
        </p:txBody>
      </p:sp>
      <p:sp>
        <p:nvSpPr>
          <p:cNvPr id="23" name="Shape 21"/>
          <p:cNvSpPr/>
          <p:nvPr/>
        </p:nvSpPr>
        <p:spPr>
          <a:xfrm>
            <a:off x="4937760" y="2613355"/>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24" name="Text 22"/>
          <p:cNvSpPr txBox="1"/>
          <p:nvPr/>
        </p:nvSpPr>
        <p:spPr>
          <a:xfrm>
            <a:off x="5010912" y="2613355"/>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CTEs, NULLs, date math</a:t>
            </a:r>
            <a:endParaRPr lang="en-US" sz="1050" dirty="0"/>
          </a:p>
        </p:txBody>
      </p:sp>
      <p:sp>
        <p:nvSpPr>
          <p:cNvPr id="25" name="Text 23"/>
          <p:cNvSpPr txBox="1"/>
          <p:nvPr/>
        </p:nvSpPr>
        <p:spPr>
          <a:xfrm>
            <a:off x="457200" y="3083357"/>
            <a:ext cx="548640" cy="3785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07–08</a:t>
            </a:r>
            <a:endParaRPr lang="en-US" sz="1200" dirty="0"/>
          </a:p>
        </p:txBody>
      </p:sp>
      <p:sp>
        <p:nvSpPr>
          <p:cNvPr id="26" name="Shape 24"/>
          <p:cNvSpPr/>
          <p:nvPr/>
        </p:nvSpPr>
        <p:spPr>
          <a:xfrm>
            <a:off x="1097280" y="3083357"/>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27" name="Text 25"/>
          <p:cNvSpPr txBox="1"/>
          <p:nvPr/>
        </p:nvSpPr>
        <p:spPr>
          <a:xfrm>
            <a:off x="1170432" y="3083357"/>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top_products_per_category · mom_revenue_growth</a:t>
            </a:r>
            <a:endParaRPr lang="en-US" sz="1050" dirty="0"/>
          </a:p>
        </p:txBody>
      </p:sp>
      <p:sp>
        <p:nvSpPr>
          <p:cNvPr id="28" name="Shape 26"/>
          <p:cNvSpPr/>
          <p:nvPr/>
        </p:nvSpPr>
        <p:spPr>
          <a:xfrm>
            <a:off x="4937760" y="3083357"/>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29" name="Text 27"/>
          <p:cNvSpPr txBox="1"/>
          <p:nvPr/>
        </p:nvSpPr>
        <p:spPr>
          <a:xfrm>
            <a:off x="5010912" y="3083357"/>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RANK, LAG</a:t>
            </a:r>
            <a:endParaRPr lang="en-US" sz="1050" dirty="0"/>
          </a:p>
        </p:txBody>
      </p:sp>
      <p:sp>
        <p:nvSpPr>
          <p:cNvPr id="30" name="Text 28"/>
          <p:cNvSpPr txBox="1"/>
          <p:nvPr/>
        </p:nvSpPr>
        <p:spPr>
          <a:xfrm>
            <a:off x="457200" y="3553358"/>
            <a:ext cx="548640" cy="378562"/>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09–10</a:t>
            </a:r>
            <a:endParaRPr lang="en-US" sz="1200" dirty="0"/>
          </a:p>
        </p:txBody>
      </p:sp>
      <p:sp>
        <p:nvSpPr>
          <p:cNvPr id="31" name="Shape 29"/>
          <p:cNvSpPr/>
          <p:nvPr/>
        </p:nvSpPr>
        <p:spPr>
          <a:xfrm>
            <a:off x="1097280" y="3553358"/>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32" name="Text 30"/>
          <p:cNvSpPr txBox="1"/>
          <p:nvPr/>
        </p:nvSpPr>
        <p:spPr>
          <a:xfrm>
            <a:off x="1170432" y="3553358"/>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repeat_customers · seller_running_revenue (or load_sellers)</a:t>
            </a:r>
            <a:endParaRPr lang="en-US" sz="1050" dirty="0"/>
          </a:p>
        </p:txBody>
      </p:sp>
      <p:sp>
        <p:nvSpPr>
          <p:cNvPr id="33" name="Shape 31"/>
          <p:cNvSpPr/>
          <p:nvPr/>
        </p:nvSpPr>
        <p:spPr>
          <a:xfrm>
            <a:off x="4937760" y="3553358"/>
            <a:ext cx="3749040" cy="378562"/>
          </a:xfrm>
          <a:prstGeom prst="roundRect">
            <a:avLst>
              <a:gd name="adj" fmla="val 19324"/>
            </a:avLst>
          </a:prstGeom>
          <a:solidFill>
            <a:srgbClr val="F1F5F7"/>
          </a:solidFill>
          <a:ln w="12700">
            <a:solidFill>
              <a:srgbClr val="F1F5F7"/>
            </a:solidFill>
            <a:prstDash val="solid"/>
          </a:ln>
        </p:spPr>
        <p:txBody>
          <a:bodyPr/>
          <a:lstStyle/>
          <a:p>
            <a:endParaRPr lang="en-TH"/>
          </a:p>
        </p:txBody>
      </p:sp>
      <p:sp>
        <p:nvSpPr>
          <p:cNvPr id="34" name="Text 32"/>
          <p:cNvSpPr txBox="1"/>
          <p:nvPr/>
        </p:nvSpPr>
        <p:spPr>
          <a:xfrm>
            <a:off x="5010912" y="3553358"/>
            <a:ext cx="3602736" cy="378562"/>
          </a:xfrm>
          <a:prstGeom prst="rect">
            <a:avLst/>
          </a:prstGeom>
          <a:noFill/>
          <a:ln/>
        </p:spPr>
        <p:txBody>
          <a:bodyPr wrap="square" lIns="0" tIns="0" rIns="0" bIns="0"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ROW_NUMBER, SUM OVER, UPSERT</a:t>
            </a:r>
            <a:endParaRPr lang="en-US" sz="1050" dirty="0"/>
          </a:p>
        </p:txBody>
      </p:sp>
      <p:sp>
        <p:nvSpPr>
          <p:cNvPr id="35" name="Shape 33"/>
          <p:cNvSpPr/>
          <p:nvPr/>
        </p:nvSpPr>
        <p:spPr>
          <a:xfrm>
            <a:off x="457200" y="4069080"/>
            <a:ext cx="8229600" cy="548640"/>
          </a:xfrm>
          <a:prstGeom prst="roundRect">
            <a:avLst>
              <a:gd name="adj" fmla="val 13333"/>
            </a:avLst>
          </a:prstGeom>
          <a:solidFill>
            <a:srgbClr val="FDEBD8"/>
          </a:solidFill>
          <a:ln w="12700">
            <a:solidFill>
              <a:srgbClr val="FDEBD8"/>
            </a:solidFill>
            <a:prstDash val="solid"/>
          </a:ln>
        </p:spPr>
        <p:txBody>
          <a:bodyPr/>
          <a:lstStyle/>
          <a:p>
            <a:endParaRPr lang="en-TH"/>
          </a:p>
        </p:txBody>
      </p:sp>
      <p:sp>
        <p:nvSpPr>
          <p:cNvPr id="36" name="Text 34"/>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Minimum 8 files. Your own questions are welcome — keep the spread: joins, CTEs, dates/NULLs and at least two window functions.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5B6B77"/>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0E7C7B"/>
                </a:solidFill>
                <a:latin typeface="Calibri" pitchFamily="34" charset="0"/>
                <a:ea typeface="Calibri" pitchFamily="34" charset="-122"/>
                <a:cs typeface="Calibri" pitchFamily="34" charset="-120"/>
              </a:rPr>
              <a:t>DELIVERABLE</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F2933"/>
                </a:solidFill>
                <a:latin typeface="Cambria" pitchFamily="34" charset="0"/>
                <a:ea typeface="Cambria" pitchFamily="34" charset="-122"/>
                <a:cs typeface="Cambria" pitchFamily="34" charset="-120"/>
              </a:rPr>
              <a:t>Repo layout and a file header for every query</a:t>
            </a:r>
            <a:endParaRPr lang="en-US" sz="2800" dirty="0"/>
          </a:p>
        </p:txBody>
      </p:sp>
      <p:sp>
        <p:nvSpPr>
          <p:cNvPr id="6" name="Shape 4"/>
          <p:cNvSpPr/>
          <p:nvPr/>
        </p:nvSpPr>
        <p:spPr>
          <a:xfrm>
            <a:off x="457200" y="1234440"/>
            <a:ext cx="5120640" cy="3291840"/>
          </a:xfrm>
          <a:prstGeom prst="roundRect">
            <a:avLst>
              <a:gd name="adj" fmla="val 2222"/>
            </a:avLst>
          </a:prstGeom>
          <a:solidFill>
            <a:srgbClr val="13212E"/>
          </a:solidFill>
          <a:ln w="12700">
            <a:solidFill>
              <a:srgbClr val="13212E"/>
            </a:solidFill>
            <a:prstDash val="solid"/>
          </a:ln>
        </p:spPr>
        <p:txBody>
          <a:bodyPr/>
          <a:lstStyle/>
          <a:p>
            <a:endParaRPr lang="en-TH"/>
          </a:p>
        </p:txBody>
      </p:sp>
      <p:sp>
        <p:nvSpPr>
          <p:cNvPr id="7" name="Text 5"/>
          <p:cNvSpPr txBox="1"/>
          <p:nvPr/>
        </p:nvSpPr>
        <p:spPr>
          <a:xfrm>
            <a:off x="640080" y="1371600"/>
            <a:ext cx="4754880" cy="3017520"/>
          </a:xfrm>
          <a:prstGeom prst="rect">
            <a:avLst/>
          </a:prstGeom>
          <a:noFill/>
          <a:ln/>
        </p:spPr>
        <p:txBody>
          <a:bodyPr wrap="square" lIns="0" tIns="0" rIns="0" bIns="0" rtlCol="0" anchor="t"/>
          <a:lstStyle/>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olist-capstone/</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README.md</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sql/</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 00_create_raw_tables.sql</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 01_order_status_summary.sql</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 ...</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 10_seller_running_revenue.sql</a:t>
            </a:r>
            <a:endParaRPr lang="en-US" sz="950" dirty="0"/>
          </a:p>
          <a:p>
            <a:pPr marL="0" indent="0">
              <a:spcAft>
                <a:spcPts val="200"/>
              </a:spcAft>
              <a:buNone/>
            </a:pPr>
            <a:r>
              <a:rPr lang="en-US" sz="950" dirty="0">
                <a:solidFill>
                  <a:srgbClr val="E6EEF2"/>
                </a:solidFill>
                <a:latin typeface="Courier New" pitchFamily="34" charset="0"/>
                <a:ea typeface="Courier New" pitchFamily="34" charset="-122"/>
                <a:cs typeface="Courier New" pitchFamily="34" charset="-120"/>
              </a:rPr>
              <a:t> </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-- 07_top_products_per_category.sql</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Question: top 3 products by items sold</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in each category</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Grain:    one row per category + product</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Tables:   raw.order_items, raw.products</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Notes:    RANK keeps ties (may return &gt;3)</a:t>
            </a:r>
            <a:endParaRPr lang="en-US" sz="950" dirty="0"/>
          </a:p>
          <a:p>
            <a:pPr marL="0" indent="0">
              <a:spcAft>
                <a:spcPts val="200"/>
              </a:spcAft>
              <a:buNone/>
            </a:pPr>
            <a:r>
              <a:rPr lang="en-US" sz="950" dirty="0">
                <a:solidFill>
                  <a:srgbClr val="8FA3B1"/>
                </a:solidFill>
                <a:latin typeface="Courier New" pitchFamily="34" charset="0"/>
                <a:ea typeface="Courier New" pitchFamily="34" charset="-122"/>
                <a:cs typeface="Courier New" pitchFamily="34" charset="-120"/>
              </a:rPr>
              <a:t>-- ==========================================</a:t>
            </a:r>
            <a:endParaRPr lang="en-US" sz="950" dirty="0"/>
          </a:p>
        </p:txBody>
      </p:sp>
      <p:sp>
        <p:nvSpPr>
          <p:cNvPr id="8" name="Shape 6"/>
          <p:cNvSpPr/>
          <p:nvPr/>
        </p:nvSpPr>
        <p:spPr>
          <a:xfrm>
            <a:off x="5852160" y="1234440"/>
            <a:ext cx="2834640" cy="3291840"/>
          </a:xfrm>
          <a:prstGeom prst="roundRect">
            <a:avLst>
              <a:gd name="adj" fmla="val 2581"/>
            </a:avLst>
          </a:prstGeom>
          <a:solidFill>
            <a:srgbClr val="D8EEEC"/>
          </a:solidFill>
          <a:ln w="12700">
            <a:solidFill>
              <a:srgbClr val="D8EEEC"/>
            </a:solidFill>
            <a:prstDash val="solid"/>
          </a:ln>
        </p:spPr>
        <p:txBody>
          <a:bodyPr/>
          <a:lstStyle/>
          <a:p>
            <a:endParaRPr lang="en-TH"/>
          </a:p>
        </p:txBody>
      </p:sp>
      <p:sp>
        <p:nvSpPr>
          <p:cNvPr id="9" name="Text 7"/>
          <p:cNvSpPr txBox="1"/>
          <p:nvPr/>
        </p:nvSpPr>
        <p:spPr>
          <a:xfrm>
            <a:off x="6080760" y="1417320"/>
            <a:ext cx="2377440" cy="320040"/>
          </a:xfrm>
          <a:prstGeom prst="rect">
            <a:avLst/>
          </a:prstGeom>
          <a:noFill/>
          <a:ln/>
        </p:spPr>
        <p:txBody>
          <a:bodyPr wrap="square" lIns="0" tIns="0" rIns="0" bIns="0" rtlCol="0" anchor="t"/>
          <a:lstStyle/>
          <a:p>
            <a:pPr marL="0" indent="0">
              <a:buNone/>
            </a:pPr>
            <a:r>
              <a:rPr lang="en-US" sz="1500" b="1" dirty="0">
                <a:solidFill>
                  <a:srgbClr val="0E7C7B"/>
                </a:solidFill>
                <a:latin typeface="Calibri" pitchFamily="34" charset="0"/>
                <a:ea typeface="Calibri" pitchFamily="34" charset="-122"/>
                <a:cs typeface="Calibri" pitchFamily="34" charset="-120"/>
              </a:rPr>
              <a:t>Definition of done</a:t>
            </a:r>
            <a:endParaRPr lang="en-US" sz="1500" dirty="0"/>
          </a:p>
        </p:txBody>
      </p:sp>
      <p:sp>
        <p:nvSpPr>
          <p:cNvPr id="10" name="Text 8"/>
          <p:cNvSpPr txBox="1"/>
          <p:nvPr/>
        </p:nvSpPr>
        <p:spPr>
          <a:xfrm>
            <a:off x="6080760" y="1828800"/>
            <a:ext cx="2377440" cy="2560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Runs top to bottom without errors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Header: question, grain, tables, notes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Formatted: one clause per line, aliases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Committed with a clear message and pushed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STEP 0 + TASK 1</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Check raw, then create the target</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000" dirty="0">
                <a:solidFill>
                  <a:srgbClr val="8A9BA8"/>
                </a:solidFill>
                <a:latin typeface="Courier New" pitchFamily="34" charset="0"/>
                <a:ea typeface="Courier New" pitchFamily="34" charset="-122"/>
                <a:cs typeface="Courier New" pitchFamily="34" charset="-120"/>
              </a:rPr>
              <a:t>-- Step 0 · check the starting point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COUNT(*)                  AS total_rows,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COUNT(DISTINCT seller_id) AS distinct_sellers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FROM raw.sellers;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CREATE SCHEMA IF NOT EXISTS staging;   -- skips if it exists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Task 1 · the target table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DROP TABLE IF EXISTS staging.sellers;  -- start clean</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CREATE TABLE staging.sellers (</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seller_id   TEXT PRIMARY KEY,        -- conflict target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city        TEXT,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state       TEXT,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updated_at  TIMESTAMP DEFAULT now()</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\d staging.sellers</a:t>
            </a:r>
            <a:endParaRPr lang="en-US" sz="100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3095 | 3095</a:t>
            </a:r>
            <a:endParaRPr lang="en-US" sz="950" dirty="0"/>
          </a:p>
        </p:txBody>
      </p:sp>
      <p:sp>
        <p:nvSpPr>
          <p:cNvPr id="11" name="Shape 9"/>
          <p:cNvSpPr/>
          <p:nvPr/>
        </p:nvSpPr>
        <p:spPr>
          <a:xfrm>
            <a:off x="6291072" y="1847088"/>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CREATE TABLE</a:t>
            </a:r>
            <a:endParaRPr lang="en-US" sz="950" dirty="0"/>
          </a:p>
        </p:txBody>
      </p:sp>
      <p:sp>
        <p:nvSpPr>
          <p:cNvPr id="13" name="Shape 11"/>
          <p:cNvSpPr/>
          <p:nvPr/>
        </p:nvSpPr>
        <p:spPr>
          <a:xfrm>
            <a:off x="6291072" y="2157984"/>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4" name="Text 12"/>
          <p:cNvSpPr txBox="1"/>
          <p:nvPr/>
        </p:nvSpPr>
        <p:spPr>
          <a:xfrm>
            <a:off x="6355080" y="2157984"/>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"sellers_pkey" PRIMARY KEY (seller_id)</a:t>
            </a:r>
            <a:endParaRPr lang="en-US" sz="950" dirty="0"/>
          </a:p>
        </p:txBody>
      </p:sp>
      <p:sp>
        <p:nvSpPr>
          <p:cNvPr id="15" name="Text 13"/>
          <p:cNvSpPr txBox="1"/>
          <p:nvPr/>
        </p:nvSpPr>
        <p:spPr>
          <a:xfrm>
            <a:off x="6291072" y="2688336"/>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6" name="Shape 14"/>
          <p:cNvSpPr/>
          <p:nvPr/>
        </p:nvSpPr>
        <p:spPr>
          <a:xfrm>
            <a:off x="6291072" y="2907792"/>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7" name="Text 15"/>
          <p:cNvSpPr txBox="1"/>
          <p:nvPr/>
        </p:nvSpPr>
        <p:spPr>
          <a:xfrm>
            <a:off x="6291072" y="2907792"/>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Task 1: done</a:t>
            </a:r>
            <a:endParaRPr lang="en-US" sz="1000" dirty="0"/>
          </a:p>
        </p:txBody>
      </p:sp>
      <p:sp>
        <p:nvSpPr>
          <p:cNvPr id="18" name="Text 16"/>
          <p:cNvSpPr txBox="1"/>
          <p:nvPr/>
        </p:nvSpPr>
        <p:spPr>
          <a:xfrm>
            <a:off x="6291072" y="3310128"/>
            <a:ext cx="2240280" cy="126187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6190 rows? raw was loaded twice: TRUNCATE raw.sellers; then \copy again</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No PK = ON CONFLICT cannot work</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TASK 2</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First UPSERT: raw → staging</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150" dirty="0">
                <a:solidFill>
                  <a:srgbClr val="E6EEF2"/>
                </a:solidFill>
                <a:latin typeface="Courier New" pitchFamily="34" charset="0"/>
                <a:ea typeface="Courier New" pitchFamily="34" charset="-122"/>
                <a:cs typeface="Courier New" pitchFamily="34" charset="-120"/>
              </a:rPr>
              <a:t>INSERT INTO staging.sellers (seller_id, city, state)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SELECT seller_id, seller_city, seller_state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FROM raw.sellers</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ON CONFLICT (seller_id) DO UPDATE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SET city       = EXCLUDED.city,</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state      = EXCLUDED.state,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updated_at = now()</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WHERE (staging.sellers.city, staging.sellers.state)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IS DISTINCT FROM</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(EXCLUDED.city, EXCLUDED.state);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SELECT COUNT(*) FROM staging.sellers;</a:t>
            </a:r>
            <a:endParaRPr lang="en-US" sz="115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INSERT 0 3095</a:t>
            </a:r>
            <a:endParaRPr lang="en-US" sz="950" dirty="0"/>
          </a:p>
        </p:txBody>
      </p:sp>
      <p:sp>
        <p:nvSpPr>
          <p:cNvPr id="11" name="Shape 9"/>
          <p:cNvSpPr/>
          <p:nvPr/>
        </p:nvSpPr>
        <p:spPr>
          <a:xfrm>
            <a:off x="6291072" y="1847088"/>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count = 3095</a:t>
            </a:r>
            <a:endParaRPr lang="en-US" sz="950" dirty="0"/>
          </a:p>
        </p:txBody>
      </p:sp>
      <p:sp>
        <p:nvSpPr>
          <p:cNvPr id="13" name="Text 11"/>
          <p:cNvSpPr txBox="1"/>
          <p:nvPr/>
        </p:nvSpPr>
        <p:spPr>
          <a:xfrm>
            <a:off x="6291072" y="2231136"/>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4" name="Shape 12"/>
          <p:cNvSpPr/>
          <p:nvPr/>
        </p:nvSpPr>
        <p:spPr>
          <a:xfrm>
            <a:off x="6291072" y="2450592"/>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5" name="Text 13"/>
          <p:cNvSpPr txBox="1"/>
          <p:nvPr/>
        </p:nvSpPr>
        <p:spPr>
          <a:xfrm>
            <a:off x="6291072" y="2450592"/>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Task 2: INSERT 0 3095</a:t>
            </a:r>
            <a:endParaRPr lang="en-US" sz="1000" dirty="0"/>
          </a:p>
        </p:txBody>
      </p:sp>
      <p:sp>
        <p:nvSpPr>
          <p:cNvPr id="16" name="Text 14"/>
          <p:cNvSpPr txBox="1"/>
          <p:nvPr/>
        </p:nvSpPr>
        <p:spPr>
          <a:xfrm>
            <a:off x="6291072" y="2852928"/>
            <a:ext cx="2240280" cy="171907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Every seller is new, so all 3095 rows are inserted</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EXCLUDED = the new row coming from raw</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TASK 3</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Run the same UPSERT again</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000" dirty="0">
                <a:solidFill>
                  <a:srgbClr val="8A9BA8"/>
                </a:solidFill>
                <a:latin typeface="Courier New" pitchFamily="34" charset="0"/>
                <a:ea typeface="Courier New" pitchFamily="34" charset="-122"/>
                <a:cs typeface="Courier New" pitchFamily="34" charset="-120"/>
              </a:rPr>
              <a:t>-- run exactly the same statement as Task 2</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INSERT INTO staging.sellers (seller_id, city, 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seller_id, seller_city, seller_state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FROM raw.sellers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ON CONFLICT (seller_id) DO UPDATE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SET city = EXCLUDED.city, state = EXCLUDED.state,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updated_at = now()</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WHERE (staging.sellers.city, staging.sellers.state)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IS DISTINCT FROM (EXCLUDED.city, EXCLUDED.state);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COUNT(*) FROM staging.sellers;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DISCUSS 1 · without the WHERE line</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second run → INSERT 0 3095 (all rows re-written)</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DISCUSS 2 · ON CONFLICT (seller_id) DO NOTHING</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second run → INSERT 0 0, but changes are never applied</a:t>
            </a:r>
            <a:endParaRPr lang="en-US" sz="100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INSERT 0 0</a:t>
            </a:r>
            <a:endParaRPr lang="en-US" sz="950" dirty="0"/>
          </a:p>
        </p:txBody>
      </p:sp>
      <p:sp>
        <p:nvSpPr>
          <p:cNvPr id="11" name="Shape 9"/>
          <p:cNvSpPr/>
          <p:nvPr/>
        </p:nvSpPr>
        <p:spPr>
          <a:xfrm>
            <a:off x="6291072" y="1847088"/>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count = 3095 (idempotent)</a:t>
            </a:r>
            <a:endParaRPr lang="en-US" sz="950" dirty="0"/>
          </a:p>
        </p:txBody>
      </p:sp>
      <p:sp>
        <p:nvSpPr>
          <p:cNvPr id="13" name="Text 11"/>
          <p:cNvSpPr txBox="1"/>
          <p:nvPr/>
        </p:nvSpPr>
        <p:spPr>
          <a:xfrm>
            <a:off x="6291072" y="2377440"/>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4" name="Shape 12"/>
          <p:cNvSpPr/>
          <p:nvPr/>
        </p:nvSpPr>
        <p:spPr>
          <a:xfrm>
            <a:off x="6291072" y="2596896"/>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5" name="Text 13"/>
          <p:cNvSpPr txBox="1"/>
          <p:nvPr/>
        </p:nvSpPr>
        <p:spPr>
          <a:xfrm>
            <a:off x="6291072" y="2596896"/>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Task 3: INSERT 0 0</a:t>
            </a:r>
            <a:endParaRPr lang="en-US" sz="1000" dirty="0"/>
          </a:p>
        </p:txBody>
      </p:sp>
      <p:sp>
        <p:nvSpPr>
          <p:cNvPr id="16" name="Text 14"/>
          <p:cNvSpPr txBox="1"/>
          <p:nvPr/>
        </p:nvSpPr>
        <p:spPr>
          <a:xfrm>
            <a:off x="6291072" y="2999232"/>
            <a:ext cx="2240280" cy="15727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Same table after every run</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No WHERE: still idempotent, just noisier</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DO NOTHING: safe, but never updates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TASK 4 (PART 1)</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New data arrives: a seller moves city</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050" dirty="0">
                <a:solidFill>
                  <a:srgbClr val="E6EEF2"/>
                </a:solidFill>
                <a:latin typeface="Courier New" pitchFamily="34" charset="0"/>
                <a:ea typeface="Courier New" pitchFamily="34" charset="-122"/>
                <a:cs typeface="Courier New" pitchFamily="34" charset="-120"/>
              </a:rPr>
              <a:t>BEGIN;                         -- we will undo everything later</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8A9BA8"/>
                </a:solidFill>
                <a:latin typeface="Courier New" pitchFamily="34" charset="0"/>
                <a:ea typeface="Courier New" pitchFamily="34" charset="-122"/>
                <a:cs typeface="Courier New" pitchFamily="34" charset="-120"/>
              </a:rPr>
              <a:t>-- 4a · data changes in the source</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UPDATE raw.sellers</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SET seller_city = 'curitiba'</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WHERE seller_id = (SELECT MIN(seller_id) FROM raw.sellers);</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8A9BA8"/>
                </a:solidFill>
                <a:latin typeface="Courier New" pitchFamily="34" charset="0"/>
                <a:ea typeface="Courier New" pitchFamily="34" charset="-122"/>
                <a:cs typeface="Courier New" pitchFamily="34" charset="-120"/>
              </a:rPr>
              <a:t>-- run the Task 2 UPSERT</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8A9BA8"/>
                </a:solidFill>
                <a:latin typeface="Courier New" pitchFamily="34" charset="0"/>
                <a:ea typeface="Courier New" pitchFamily="34" charset="-122"/>
                <a:cs typeface="Courier New" pitchFamily="34" charset="-120"/>
              </a:rPr>
              <a:t>-- check the changed row</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SELECT seller_id, city, state, updated_at</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FROM staging.sellers</a:t>
            </a:r>
            <a:endParaRPr lang="en-US" sz="1050" dirty="0"/>
          </a:p>
          <a:p>
            <a:pPr marL="0" indent="0">
              <a:buNone/>
            </a:pPr>
            <a:r>
              <a:rPr lang="en-US" sz="1050" dirty="0">
                <a:solidFill>
                  <a:srgbClr val="E6EEF2"/>
                </a:solidFill>
                <a:latin typeface="Courier New" pitchFamily="34" charset="0"/>
                <a:ea typeface="Courier New" pitchFamily="34" charset="-122"/>
                <a:cs typeface="Courier New" pitchFamily="34" charset="-120"/>
              </a:rPr>
              <a:t>WHERE seller_id = (SELECT MIN(seller_id) FROM raw.sellers);</a:t>
            </a:r>
            <a:endParaRPr lang="en-US" sz="105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BEGIN</a:t>
            </a:r>
            <a:endParaRPr lang="en-US" sz="950" dirty="0"/>
          </a:p>
        </p:txBody>
      </p:sp>
      <p:sp>
        <p:nvSpPr>
          <p:cNvPr id="11" name="Shape 9"/>
          <p:cNvSpPr/>
          <p:nvPr/>
        </p:nvSpPr>
        <p:spPr>
          <a:xfrm>
            <a:off x="6291072" y="1847088"/>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UPDATE 1</a:t>
            </a:r>
            <a:endParaRPr lang="en-US" sz="950" dirty="0"/>
          </a:p>
        </p:txBody>
      </p:sp>
      <p:sp>
        <p:nvSpPr>
          <p:cNvPr id="13" name="Shape 11"/>
          <p:cNvSpPr/>
          <p:nvPr/>
        </p:nvSpPr>
        <p:spPr>
          <a:xfrm>
            <a:off x="6291072" y="2157984"/>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4" name="Text 12"/>
          <p:cNvSpPr txBox="1"/>
          <p:nvPr/>
        </p:nvSpPr>
        <p:spPr>
          <a:xfrm>
            <a:off x="6355080" y="2157984"/>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UPSERT → INSERT 0 1</a:t>
            </a:r>
            <a:endParaRPr lang="en-US" sz="950" dirty="0"/>
          </a:p>
        </p:txBody>
      </p:sp>
      <p:sp>
        <p:nvSpPr>
          <p:cNvPr id="15" name="Shape 13"/>
          <p:cNvSpPr/>
          <p:nvPr/>
        </p:nvSpPr>
        <p:spPr>
          <a:xfrm>
            <a:off x="6291072" y="2468880"/>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6" name="Text 14"/>
          <p:cNvSpPr txBox="1"/>
          <p:nvPr/>
        </p:nvSpPr>
        <p:spPr>
          <a:xfrm>
            <a:off x="6355080" y="2468880"/>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city = curitiba, updated_at = time of BEGIN</a:t>
            </a:r>
            <a:endParaRPr lang="en-US" sz="950" dirty="0"/>
          </a:p>
        </p:txBody>
      </p:sp>
      <p:sp>
        <p:nvSpPr>
          <p:cNvPr id="17" name="Text 15"/>
          <p:cNvSpPr txBox="1"/>
          <p:nvPr/>
        </p:nvSpPr>
        <p:spPr>
          <a:xfrm>
            <a:off x="6291072" y="2999232"/>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8" name="Shape 16"/>
          <p:cNvSpPr/>
          <p:nvPr/>
        </p:nvSpPr>
        <p:spPr>
          <a:xfrm>
            <a:off x="6291072" y="3218688"/>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9" name="Text 17"/>
          <p:cNvSpPr txBox="1"/>
          <p:nvPr/>
        </p:nvSpPr>
        <p:spPr>
          <a:xfrm>
            <a:off x="6291072" y="3218688"/>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Task 4: INSERT 0 1</a:t>
            </a:r>
            <a:endParaRPr lang="en-US" sz="1000" dirty="0"/>
          </a:p>
        </p:txBody>
      </p:sp>
      <p:sp>
        <p:nvSpPr>
          <p:cNvPr id="20" name="Text 18"/>
          <p:cNvSpPr txBox="1"/>
          <p:nvPr/>
        </p:nvSpPr>
        <p:spPr>
          <a:xfrm>
            <a:off x="6291072" y="3621024"/>
            <a:ext cx="2240280" cy="950976"/>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1 row updated, 3094 skipped</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Inside a transaction, now() = transaction start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TASK 4 (PART 2)</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New row, full check, then ROLLBACK</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000" dirty="0">
                <a:solidFill>
                  <a:srgbClr val="8A9BA8"/>
                </a:solidFill>
                <a:latin typeface="Courier New" pitchFamily="34" charset="0"/>
                <a:ea typeface="Courier New" pitchFamily="34" charset="-122"/>
                <a:cs typeface="Courier New" pitchFamily="34" charset="-120"/>
              </a:rPr>
              <a:t>-- 4b · a brand-new seller arrives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INSERT INTO raw.sellers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(seller_id, seller_zip_code_prefix, seller_city, seller_state)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VALUES ('demo_seller_01', '01001', 'santos', 'SP');</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run the Task 2 UPSERT</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COUNT(*) FROM staging.sellers;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8A9BA8"/>
                </a:solidFill>
                <a:latin typeface="Courier New" pitchFamily="34" charset="0"/>
                <a:ea typeface="Courier New" pitchFamily="34" charset="-122"/>
                <a:cs typeface="Courier New" pitchFamily="34" charset="-120"/>
              </a:rPr>
              <a:t>-- one check for everything: does staging match raw?</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COUNT(*) AS rows_differ</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FROM raw.sellers r</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LEFT JOIN staging.sellers s USING (seller_id)</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WHERE (r.seller_city, r.seller_state)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IS DISTINCT FROM (s.city, s.state);</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ROLLBACK;</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SELECT (SELECT COUNT(*) FROM raw.sellers)     AS raw_rows,</a:t>
            </a:r>
            <a:endParaRPr lang="en-US" sz="1000" dirty="0"/>
          </a:p>
          <a:p>
            <a:pPr marL="0" indent="0">
              <a:buNone/>
            </a:pPr>
            <a:r>
              <a:rPr lang="en-US" sz="1000" dirty="0">
                <a:solidFill>
                  <a:srgbClr val="E6EEF2"/>
                </a:solidFill>
                <a:latin typeface="Courier New" pitchFamily="34" charset="0"/>
                <a:ea typeface="Courier New" pitchFamily="34" charset="-122"/>
                <a:cs typeface="Courier New" pitchFamily="34" charset="-120"/>
              </a:rPr>
              <a:t>       (SELECT COUNT(*) FROM staging.sellers) AS staging_rows;</a:t>
            </a:r>
            <a:endParaRPr lang="en-US" sz="100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INSERT 0 1 (raw)</a:t>
            </a:r>
            <a:endParaRPr lang="en-US" sz="950" dirty="0"/>
          </a:p>
        </p:txBody>
      </p:sp>
      <p:sp>
        <p:nvSpPr>
          <p:cNvPr id="11" name="Shape 9"/>
          <p:cNvSpPr/>
          <p:nvPr/>
        </p:nvSpPr>
        <p:spPr>
          <a:xfrm>
            <a:off x="6291072" y="1847088"/>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UPSERT → INSERT 0 1</a:t>
            </a:r>
            <a:endParaRPr lang="en-US" sz="950" dirty="0"/>
          </a:p>
        </p:txBody>
      </p:sp>
      <p:sp>
        <p:nvSpPr>
          <p:cNvPr id="13" name="Shape 11"/>
          <p:cNvSpPr/>
          <p:nvPr/>
        </p:nvSpPr>
        <p:spPr>
          <a:xfrm>
            <a:off x="6291072" y="2157984"/>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4" name="Text 12"/>
          <p:cNvSpPr txBox="1"/>
          <p:nvPr/>
        </p:nvSpPr>
        <p:spPr>
          <a:xfrm>
            <a:off x="6355080" y="2157984"/>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count = 3096</a:t>
            </a:r>
            <a:endParaRPr lang="en-US" sz="950" dirty="0"/>
          </a:p>
        </p:txBody>
      </p:sp>
      <p:sp>
        <p:nvSpPr>
          <p:cNvPr id="15" name="Shape 13"/>
          <p:cNvSpPr/>
          <p:nvPr/>
        </p:nvSpPr>
        <p:spPr>
          <a:xfrm>
            <a:off x="6291072" y="2468880"/>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6" name="Text 14"/>
          <p:cNvSpPr txBox="1"/>
          <p:nvPr/>
        </p:nvSpPr>
        <p:spPr>
          <a:xfrm>
            <a:off x="6355080" y="2468880"/>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rows_differ = 0</a:t>
            </a:r>
            <a:endParaRPr lang="en-US" sz="950" dirty="0"/>
          </a:p>
        </p:txBody>
      </p:sp>
      <p:sp>
        <p:nvSpPr>
          <p:cNvPr id="17" name="Shape 15"/>
          <p:cNvSpPr/>
          <p:nvPr/>
        </p:nvSpPr>
        <p:spPr>
          <a:xfrm>
            <a:off x="6291072" y="2779776"/>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8" name="Text 16"/>
          <p:cNvSpPr txBox="1"/>
          <p:nvPr/>
        </p:nvSpPr>
        <p:spPr>
          <a:xfrm>
            <a:off x="6355080" y="2779776"/>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ROLLBACK → 3095 | 3095</a:t>
            </a:r>
            <a:endParaRPr lang="en-US" sz="950" dirty="0"/>
          </a:p>
        </p:txBody>
      </p:sp>
      <p:sp>
        <p:nvSpPr>
          <p:cNvPr id="19" name="Text 17"/>
          <p:cNvSpPr txBox="1"/>
          <p:nvPr/>
        </p:nvSpPr>
        <p:spPr>
          <a:xfrm>
            <a:off x="6291072" y="3145536"/>
            <a:ext cx="2240280" cy="1426464"/>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Zip column INTEGER? use 1001</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ROLLBACK undoes raw and staging</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TASK 5</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Export with \copy</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1150" dirty="0">
                <a:solidFill>
                  <a:srgbClr val="8A9BA8"/>
                </a:solidFill>
                <a:latin typeface="Courier New" pitchFamily="34" charset="0"/>
                <a:ea typeface="Courier New" pitchFamily="34" charset="-122"/>
                <a:cs typeface="Courier New" pitchFamily="34" charset="-120"/>
              </a:rPr>
              <a:t>-- type it on ONE line, no ; at the end</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\copy (SELECT seller_id, city, state FROM staging.sellers</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WHERE state = 'SP' ORDER BY seller_id)</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TO 'sp_sellers.csv' WITH (FORMAT csv, HEADER true)</a:t>
            </a:r>
            <a:endParaRPr lang="en-US" sz="1150" dirty="0"/>
          </a:p>
          <a:p>
            <a:pPr marL="0" indent="0">
              <a:buNone/>
            </a:pPr>
            <a:r>
              <a:rPr lang="en-US" sz="1150" dirty="0">
                <a:solidFill>
                  <a:srgbClr val="E6EEF2"/>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A9BA8"/>
                </a:solidFill>
                <a:latin typeface="Courier New" pitchFamily="34" charset="0"/>
                <a:ea typeface="Courier New" pitchFamily="34" charset="-122"/>
                <a:cs typeface="Courier New" pitchFamily="34" charset="-120"/>
              </a:rPr>
              <a:t>-- the file goes to the folder where you started psql</a:t>
            </a:r>
            <a:endParaRPr lang="en-US" sz="1150" dirty="0"/>
          </a:p>
          <a:p>
            <a:pPr marL="0" indent="0">
              <a:buNone/>
            </a:pPr>
            <a:r>
              <a:rPr lang="en-US" sz="1150" dirty="0">
                <a:solidFill>
                  <a:srgbClr val="8A9BA8"/>
                </a:solidFill>
                <a:latin typeface="Courier New" pitchFamily="34" charset="0"/>
                <a:ea typeface="Courier New" pitchFamily="34" charset="-122"/>
                <a:cs typeface="Courier New" pitchFamily="34" charset="-120"/>
              </a:rPr>
              <a:t>-- Mac:     open .     (in Terminal, after \q)</a:t>
            </a:r>
            <a:endParaRPr lang="en-US" sz="1150" dirty="0"/>
          </a:p>
          <a:p>
            <a:pPr marL="0" indent="0">
              <a:buNone/>
            </a:pPr>
            <a:r>
              <a:rPr lang="en-US" sz="1150" dirty="0">
                <a:solidFill>
                  <a:srgbClr val="8A9BA8"/>
                </a:solidFill>
                <a:latin typeface="Courier New" pitchFamily="34" charset="0"/>
                <a:ea typeface="Courier New" pitchFamily="34" charset="-122"/>
                <a:cs typeface="Courier New" pitchFamily="34" charset="-120"/>
              </a:rPr>
              <a:t>-- Windows: dir sp_sellers.csv</a:t>
            </a:r>
            <a:endParaRPr lang="en-US" sz="115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COPY 1849</a:t>
            </a:r>
            <a:endParaRPr lang="en-US" sz="950" dirty="0"/>
          </a:p>
        </p:txBody>
      </p:sp>
      <p:sp>
        <p:nvSpPr>
          <p:cNvPr id="11" name="Shape 9"/>
          <p:cNvSpPr/>
          <p:nvPr/>
        </p:nvSpPr>
        <p:spPr>
          <a:xfrm>
            <a:off x="6291072" y="1847088"/>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847088"/>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sp_sellers.csv: 1 header line + 1849 rows</a:t>
            </a:r>
            <a:endParaRPr lang="en-US" sz="950" dirty="0"/>
          </a:p>
        </p:txBody>
      </p:sp>
      <p:sp>
        <p:nvSpPr>
          <p:cNvPr id="13" name="Text 11"/>
          <p:cNvSpPr txBox="1"/>
          <p:nvPr/>
        </p:nvSpPr>
        <p:spPr>
          <a:xfrm>
            <a:off x="6291072" y="2377440"/>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4" name="Shape 12"/>
          <p:cNvSpPr/>
          <p:nvPr/>
        </p:nvSpPr>
        <p:spPr>
          <a:xfrm>
            <a:off x="6291072" y="2596896"/>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5" name="Text 13"/>
          <p:cNvSpPr txBox="1"/>
          <p:nvPr/>
        </p:nvSpPr>
        <p:spPr>
          <a:xfrm>
            <a:off x="6291072" y="2596896"/>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Task 5: COPY 1849</a:t>
            </a:r>
            <a:endParaRPr lang="en-US" sz="1000" dirty="0"/>
          </a:p>
        </p:txBody>
      </p:sp>
      <p:sp>
        <p:nvSpPr>
          <p:cNvPr id="16" name="Text 14"/>
          <p:cNvSpPr txBox="1"/>
          <p:nvPr/>
        </p:nvSpPr>
        <p:spPr>
          <a:xfrm>
            <a:off x="6291072" y="2999232"/>
            <a:ext cx="2240280" cy="15727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Wrapped here only to fit the slide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\copy parse error = it was split over lines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EXTRA (PART 1)</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Reviews: the simple UPSERT fails</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DROP TABLE IF EXISTS staging.reviews;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CREATE TABLE staging.reviews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review_id    TEXT PRIMARY KEY,</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order_id     TEXT,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review_score INT,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answered_at  TIMESTAMP,</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updated_at   TIMESTAMP DEFAULT now()</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A9BA8"/>
                </a:solidFill>
                <a:latin typeface="Courier New" pitchFamily="34" charset="0"/>
                <a:ea typeface="Courier New" pitchFamily="34" charset="-122"/>
                <a:cs typeface="Courier New" pitchFamily="34" charset="-120"/>
              </a:rPr>
              <a:t>-- E1 · simple UPSERT (fails on purpose)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INSERT INTO staging.reviews (review_id, order_id, review_score, answered_at)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SELECT review_id, order_id, review_score, review_answer_timestamp</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raw.order_reviews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ON CONFLICT (review_id) DO UPDATE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SET order_id = EXCLUDED.order_id, review_score = EXCLUDED.review_score,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answered_at = EXCLUDED.answered_at;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A9BA8"/>
                </a:solidFill>
                <a:latin typeface="Courier New" pitchFamily="34" charset="0"/>
                <a:ea typeface="Courier New" pitchFamily="34" charset="-122"/>
                <a:cs typeface="Courier New" pitchFamily="34" charset="-120"/>
              </a:rPr>
              <a:t>-- E2 · why? count the duplicates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SELECT COUNT(*) AS total_rows, COUNT(DISTINCT review_id) AS distinct_reviews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raw.order_reviews;</a:t>
            </a:r>
            <a:endParaRPr lang="en-US" sz="85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ERROR: … cannot affect row a second time</a:t>
            </a:r>
            <a:endParaRPr lang="en-US" sz="950" dirty="0"/>
          </a:p>
        </p:txBody>
      </p:sp>
      <p:sp>
        <p:nvSpPr>
          <p:cNvPr id="11" name="Shape 9"/>
          <p:cNvSpPr/>
          <p:nvPr/>
        </p:nvSpPr>
        <p:spPr>
          <a:xfrm>
            <a:off x="6291072" y="1993392"/>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993392"/>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total_rows &gt; distinct_reviews</a:t>
            </a:r>
            <a:endParaRPr lang="en-US" sz="950" dirty="0"/>
          </a:p>
        </p:txBody>
      </p:sp>
      <p:sp>
        <p:nvSpPr>
          <p:cNvPr id="13" name="Text 11"/>
          <p:cNvSpPr txBox="1"/>
          <p:nvPr/>
        </p:nvSpPr>
        <p:spPr>
          <a:xfrm>
            <a:off x="6291072" y="2505456"/>
            <a:ext cx="2240280" cy="2066544"/>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Some review_id values appear more than once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One statement cannot update the same key twice</a:t>
            </a:r>
            <a:endParaRPr lang="my-MM" sz="1000" dirty="0">
              <a:solidFill>
                <a:srgbClr val="1F2933"/>
              </a:solidFill>
              <a:latin typeface="Calibri" pitchFamily="34" charset="0"/>
              <a:ea typeface="Calibri" pitchFamily="34" charset="-122"/>
              <a:cs typeface="Calibri" pitchFamily="34" charset="-120"/>
            </a:endParaRPr>
          </a:p>
          <a:p>
            <a:pPr marL="342900" indent="-342900">
              <a:spcAft>
                <a:spcPts val="400"/>
              </a:spcAft>
              <a:buSzPct val="100000"/>
              <a:buFontTx/>
              <a:buChar char="•"/>
            </a:pPr>
            <a:r>
              <a:rPr lang="en-US" sz="1000" dirty="0"/>
              <a:t>UPSERT </a:t>
            </a:r>
            <a:r>
              <a:rPr lang="my-MM" sz="1000" dirty="0"/>
              <a:t>မလုပ်ခင် </a:t>
            </a:r>
            <a:r>
              <a:rPr lang="en-US" sz="1000" dirty="0"/>
              <a:t>key </a:t>
            </a:r>
            <a:r>
              <a:rPr lang="my-MM" sz="1000" dirty="0"/>
              <a:t>က တကယ် </a:t>
            </a:r>
            <a:r>
              <a:rPr lang="en-US" sz="1000" dirty="0"/>
              <a:t>unique </a:t>
            </a:r>
            <a:r>
              <a:rPr lang="my-MM" sz="1000" dirty="0"/>
              <a:t>ဖြစ်လား အရင်စစ်ပါ။ </a:t>
            </a:r>
            <a:r>
              <a:rPr lang="en-US" sz="1000" dirty="0"/>
              <a:t>GROUP BY key HAVING COUNT(*) &gt; 1 </a:t>
            </a:r>
            <a:r>
              <a:rPr lang="my-MM" sz="1000" dirty="0"/>
              <a:t>က 0 </a:t>
            </a:r>
            <a:r>
              <a:rPr lang="en-US" sz="1000" dirty="0"/>
              <a:t>rows </a:t>
            </a:r>
            <a:r>
              <a:rPr lang="my-MM" sz="1000" dirty="0"/>
              <a:t>ပြန်ရမှ အဲဒီ </a:t>
            </a:r>
            <a:r>
              <a:rPr lang="en-US" sz="1000" dirty="0"/>
              <a:t>column </a:t>
            </a:r>
            <a:r>
              <a:rPr lang="my-MM" sz="1000" dirty="0"/>
              <a:t>ကို </a:t>
            </a:r>
            <a:r>
              <a:rPr lang="en-US" sz="1000" dirty="0"/>
              <a:t>key </a:t>
            </a:r>
            <a:r>
              <a:rPr lang="my-MM" sz="1000" dirty="0"/>
              <a:t>အဖြစ် သုံးလို့ရပါတယ်။ မဟုတ်ရင် </a:t>
            </a:r>
            <a:r>
              <a:rPr lang="en-US" sz="1000" dirty="0" err="1"/>
              <a:t>dedup</a:t>
            </a:r>
            <a:r>
              <a:rPr lang="en-US" sz="1000" dirty="0"/>
              <a:t> </a:t>
            </a:r>
            <a:r>
              <a:rPr lang="my-MM" sz="1000" dirty="0"/>
              <a:t>လုပ်ပါ။</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EXTRA (PART 2)</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Fix it: dedupe with ROW_NUMBER(), then UPSERT</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sp>
        <p:nvSpPr>
          <p:cNvPr id="5" name="Shape 3"/>
          <p:cNvSpPr/>
          <p:nvPr/>
        </p:nvSpPr>
        <p:spPr>
          <a:xfrm>
            <a:off x="457200" y="1143000"/>
            <a:ext cx="5486400" cy="3520440"/>
          </a:xfrm>
          <a:prstGeom prst="roundRect">
            <a:avLst>
              <a:gd name="adj" fmla="val 1299"/>
            </a:avLst>
          </a:prstGeom>
          <a:solidFill>
            <a:srgbClr val="13212E"/>
          </a:solidFill>
          <a:ln w="12700">
            <a:solidFill>
              <a:srgbClr val="13212E"/>
            </a:solidFill>
            <a:prstDash val="solid"/>
          </a:ln>
        </p:spPr>
        <p:txBody>
          <a:bodyPr/>
          <a:lstStyle/>
          <a:p>
            <a:endParaRPr lang="en-TH"/>
          </a:p>
        </p:txBody>
      </p:sp>
      <p:sp>
        <p:nvSpPr>
          <p:cNvPr id="6" name="Text 4"/>
          <p:cNvSpPr txBox="1"/>
          <p:nvPr/>
        </p:nvSpPr>
        <p:spPr>
          <a:xfrm>
            <a:off x="621792" y="1261872"/>
            <a:ext cx="5212080" cy="3291840"/>
          </a:xfrm>
          <a:prstGeom prst="rect">
            <a:avLst/>
          </a:prstGeom>
          <a:noFill/>
          <a:ln/>
        </p:spPr>
        <p:txBody>
          <a:bodyPr wrap="square" lIns="0" tIns="0" rIns="0" bIns="0" rtlCol="0" anchor="t"/>
          <a:lstStyle/>
          <a:p>
            <a:pPr marL="0" indent="0">
              <a:buNone/>
            </a:pPr>
            <a:r>
              <a:rPr lang="en-US" sz="850" dirty="0">
                <a:solidFill>
                  <a:srgbClr val="E6EEF2"/>
                </a:solidFill>
                <a:latin typeface="Courier New" pitchFamily="34" charset="0"/>
                <a:ea typeface="Courier New" pitchFamily="34" charset="-122"/>
                <a:cs typeface="Courier New" pitchFamily="34" charset="-120"/>
              </a:rPr>
              <a:t>WITH dedup AS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SELECT *,</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ROW_NUMBER() OVER (PARTITION BY review_id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ORDER BY review_answer_timestamp DESC,</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order_id) AS rn</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FROM raw.order_reviews</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INSERT INTO staging.reviews (review_id, order_id, review_score, answered_at)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SELECT review_id, order_id, review_score, review_answer_timestamp</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FROM dedup</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rn = 1</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ON CONFLICT (review_id) DO UPDATE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SET order_id     = EXCLUDED.order_id,</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review_score = EXCLUDED.review_score,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answered_at  = EXCLUDED.answered_at,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updated_at   = now()</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WHERE (staging.reviews.order_id, staging.reviews.review_score,</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staging.reviews.answered_at)</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IS DISTINCT FROM</a:t>
            </a:r>
            <a:endParaRPr lang="en-US" sz="850" dirty="0"/>
          </a:p>
          <a:p>
            <a:pPr marL="0" indent="0">
              <a:buNone/>
            </a:pPr>
            <a:r>
              <a:rPr lang="en-US" sz="850" dirty="0">
                <a:solidFill>
                  <a:srgbClr val="E6EEF2"/>
                </a:solidFill>
                <a:latin typeface="Courier New" pitchFamily="34" charset="0"/>
                <a:ea typeface="Courier New" pitchFamily="34" charset="-122"/>
                <a:cs typeface="Courier New" pitchFamily="34" charset="-120"/>
              </a:rPr>
              <a:t>      (EXCLUDED.order_id, EXCLUDED.review_score, EXCLUDED.answered_at);</a:t>
            </a:r>
            <a:endParaRPr lang="en-US" sz="850" dirty="0"/>
          </a:p>
        </p:txBody>
      </p:sp>
      <p:sp>
        <p:nvSpPr>
          <p:cNvPr id="7" name="Shape 5"/>
          <p:cNvSpPr/>
          <p:nvPr/>
        </p:nvSpPr>
        <p:spPr>
          <a:xfrm>
            <a:off x="6126480" y="1143000"/>
            <a:ext cx="2560320" cy="3520440"/>
          </a:xfrm>
          <a:prstGeom prst="roundRect">
            <a:avLst>
              <a:gd name="adj" fmla="val 2857"/>
            </a:avLst>
          </a:prstGeom>
          <a:solidFill>
            <a:srgbClr val="D8EEEC"/>
          </a:solidFill>
          <a:ln w="12700">
            <a:solidFill>
              <a:srgbClr val="D8EEEC"/>
            </a:solidFill>
            <a:prstDash val="solid"/>
          </a:ln>
        </p:spPr>
        <p:txBody>
          <a:bodyPr/>
          <a:lstStyle/>
          <a:p>
            <a:endParaRPr lang="en-TH"/>
          </a:p>
        </p:txBody>
      </p:sp>
      <p:sp>
        <p:nvSpPr>
          <p:cNvPr id="8" name="Text 6"/>
          <p:cNvSpPr txBox="1"/>
          <p:nvPr/>
        </p:nvSpPr>
        <p:spPr>
          <a:xfrm>
            <a:off x="6291072" y="1261872"/>
            <a:ext cx="2240280" cy="228600"/>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Expected</a:t>
            </a:r>
            <a:endParaRPr lang="en-US" sz="1200" dirty="0"/>
          </a:p>
        </p:txBody>
      </p:sp>
      <p:sp>
        <p:nvSpPr>
          <p:cNvPr id="9" name="Shape 7"/>
          <p:cNvSpPr/>
          <p:nvPr/>
        </p:nvSpPr>
        <p:spPr>
          <a:xfrm>
            <a:off x="6291072" y="1536192"/>
            <a:ext cx="2240280" cy="402336"/>
          </a:xfrm>
          <a:prstGeom prst="roundRect">
            <a:avLst>
              <a:gd name="adj" fmla="val 9091"/>
            </a:avLst>
          </a:prstGeom>
          <a:solidFill>
            <a:srgbClr val="FFFFFF"/>
          </a:solidFill>
          <a:ln w="12700">
            <a:solidFill>
              <a:srgbClr val="FFFFFF"/>
            </a:solidFill>
            <a:prstDash val="solid"/>
          </a:ln>
        </p:spPr>
        <p:txBody>
          <a:bodyPr/>
          <a:lstStyle/>
          <a:p>
            <a:endParaRPr lang="en-TH"/>
          </a:p>
        </p:txBody>
      </p:sp>
      <p:sp>
        <p:nvSpPr>
          <p:cNvPr id="10" name="Text 8"/>
          <p:cNvSpPr txBox="1"/>
          <p:nvPr/>
        </p:nvSpPr>
        <p:spPr>
          <a:xfrm>
            <a:off x="6355080" y="1536192"/>
            <a:ext cx="2121408" cy="402336"/>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INSERT 0 &lt;distinct_reviews&gt;</a:t>
            </a:r>
            <a:endParaRPr lang="en-US" sz="950" dirty="0"/>
          </a:p>
        </p:txBody>
      </p:sp>
      <p:sp>
        <p:nvSpPr>
          <p:cNvPr id="11" name="Shape 9"/>
          <p:cNvSpPr/>
          <p:nvPr/>
        </p:nvSpPr>
        <p:spPr>
          <a:xfrm>
            <a:off x="6291072" y="1993392"/>
            <a:ext cx="2240280" cy="256032"/>
          </a:xfrm>
          <a:prstGeom prst="roundRect">
            <a:avLst>
              <a:gd name="adj" fmla="val 14286"/>
            </a:avLst>
          </a:prstGeom>
          <a:solidFill>
            <a:srgbClr val="FFFFFF"/>
          </a:solidFill>
          <a:ln w="12700">
            <a:solidFill>
              <a:srgbClr val="FFFFFF"/>
            </a:solidFill>
            <a:prstDash val="solid"/>
          </a:ln>
        </p:spPr>
        <p:txBody>
          <a:bodyPr/>
          <a:lstStyle/>
          <a:p>
            <a:endParaRPr lang="en-TH"/>
          </a:p>
        </p:txBody>
      </p:sp>
      <p:sp>
        <p:nvSpPr>
          <p:cNvPr id="12" name="Text 10"/>
          <p:cNvSpPr txBox="1"/>
          <p:nvPr/>
        </p:nvSpPr>
        <p:spPr>
          <a:xfrm>
            <a:off x="6355080" y="1993392"/>
            <a:ext cx="2121408" cy="256032"/>
          </a:xfrm>
          <a:prstGeom prst="rect">
            <a:avLst/>
          </a:prstGeom>
          <a:noFill/>
          <a:ln/>
        </p:spPr>
        <p:txBody>
          <a:bodyPr wrap="square" lIns="0" tIns="0" rIns="0" bIns="0" rtlCol="0" anchor="ctr"/>
          <a:lstStyle/>
          <a:p>
            <a:pPr marL="0" indent="0">
              <a:buNone/>
            </a:pPr>
            <a:r>
              <a:rPr lang="en-US" sz="950" b="1" dirty="0">
                <a:solidFill>
                  <a:srgbClr val="1F2933"/>
                </a:solidFill>
                <a:latin typeface="Courier New" pitchFamily="34" charset="0"/>
                <a:ea typeface="Courier New" pitchFamily="34" charset="-122"/>
                <a:cs typeface="Courier New" pitchFamily="34" charset="-120"/>
              </a:rPr>
              <a:t>run again → INSERT 0 0</a:t>
            </a:r>
            <a:endParaRPr lang="en-US" sz="950" dirty="0"/>
          </a:p>
        </p:txBody>
      </p:sp>
      <p:sp>
        <p:nvSpPr>
          <p:cNvPr id="13" name="Text 11"/>
          <p:cNvSpPr txBox="1"/>
          <p:nvPr/>
        </p:nvSpPr>
        <p:spPr>
          <a:xfrm>
            <a:off x="6291072" y="2377440"/>
            <a:ext cx="2240280" cy="201168"/>
          </a:xfrm>
          <a:prstGeom prst="rect">
            <a:avLst/>
          </a:prstGeom>
          <a:noFill/>
          <a:ln/>
        </p:spPr>
        <p:txBody>
          <a:bodyPr wrap="square" lIns="0" tIns="0" rIns="0" bIns="0" rtlCol="0" anchor="ctr"/>
          <a:lstStyle/>
          <a:p>
            <a:pPr marL="0" indent="0">
              <a:buNone/>
            </a:pPr>
            <a:r>
              <a:rPr lang="en-US" sz="1000" b="1" dirty="0">
                <a:solidFill>
                  <a:srgbClr val="5B6B77"/>
                </a:solidFill>
                <a:latin typeface="Calibri" pitchFamily="34" charset="0"/>
                <a:ea typeface="Calibri" pitchFamily="34" charset="-122"/>
                <a:cs typeface="Calibri" pitchFamily="34" charset="-120"/>
              </a:rPr>
              <a:t>Post in Zoom chat</a:t>
            </a:r>
            <a:endParaRPr lang="en-US" sz="1000" dirty="0"/>
          </a:p>
        </p:txBody>
      </p:sp>
      <p:sp>
        <p:nvSpPr>
          <p:cNvPr id="14" name="Shape 12"/>
          <p:cNvSpPr/>
          <p:nvPr/>
        </p:nvSpPr>
        <p:spPr>
          <a:xfrm>
            <a:off x="6291072" y="2596896"/>
            <a:ext cx="2240280" cy="274320"/>
          </a:xfrm>
          <a:prstGeom prst="roundRect">
            <a:avLst>
              <a:gd name="adj" fmla="val 16667"/>
            </a:avLst>
          </a:prstGeom>
          <a:solidFill>
            <a:srgbClr val="0E7C7B"/>
          </a:solidFill>
          <a:ln w="12700">
            <a:solidFill>
              <a:srgbClr val="0E7C7B"/>
            </a:solidFill>
            <a:prstDash val="solid"/>
          </a:ln>
        </p:spPr>
        <p:txBody>
          <a:bodyPr/>
          <a:lstStyle/>
          <a:p>
            <a:endParaRPr lang="en-TH"/>
          </a:p>
        </p:txBody>
      </p:sp>
      <p:sp>
        <p:nvSpPr>
          <p:cNvPr id="15" name="Text 13"/>
          <p:cNvSpPr txBox="1"/>
          <p:nvPr/>
        </p:nvSpPr>
        <p:spPr>
          <a:xfrm>
            <a:off x="6291072" y="2596896"/>
            <a:ext cx="22402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Extra: INSERT 0 n</a:t>
            </a:r>
            <a:endParaRPr lang="en-US" sz="1000" dirty="0"/>
          </a:p>
        </p:txBody>
      </p:sp>
      <p:sp>
        <p:nvSpPr>
          <p:cNvPr id="16" name="Text 14"/>
          <p:cNvSpPr txBox="1"/>
          <p:nvPr/>
        </p:nvSpPr>
        <p:spPr>
          <a:xfrm>
            <a:off x="6291072" y="2999232"/>
            <a:ext cx="2240280" cy="15727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rn = 1 keeps the latest answer per review</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order_id is the tie-breaker (Day 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6400800" cy="228600"/>
          </a:xfrm>
          <a:prstGeom prst="rect">
            <a:avLst/>
          </a:prstGeom>
          <a:noFill/>
          <a:ln/>
        </p:spPr>
        <p:txBody>
          <a:bodyPr wrap="square" lIns="0" tIns="0" rIns="0" bIns="0" rtlCol="0" anchor="ctr"/>
          <a:lstStyle/>
          <a:p>
            <a:pPr marL="0" indent="0">
              <a:buNone/>
            </a:pPr>
            <a:r>
              <a:rPr lang="en-US" sz="900" b="1" kern="0" spc="300" dirty="0">
                <a:solidFill>
                  <a:srgbClr val="0E7C7B"/>
                </a:solidFill>
                <a:latin typeface="Calibri" pitchFamily="34" charset="0"/>
                <a:ea typeface="Calibri" pitchFamily="34" charset="-122"/>
                <a:cs typeface="Calibri" pitchFamily="34" charset="-120"/>
              </a:rPr>
              <a:t>LAB · TROUBLESHOOTING</a:t>
            </a:r>
            <a:endParaRPr lang="en-US" sz="9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marL="0" indent="0">
              <a:buNone/>
            </a:pPr>
            <a:r>
              <a:rPr lang="en-US" sz="2600" b="1" dirty="0">
                <a:solidFill>
                  <a:srgbClr val="1F2933"/>
                </a:solidFill>
                <a:latin typeface="Cambria" pitchFamily="34" charset="0"/>
                <a:ea typeface="Cambria" pitchFamily="34" charset="-122"/>
                <a:cs typeface="Cambria" pitchFamily="34" charset="-120"/>
              </a:rPr>
              <a:t>Common errors and fixes</a:t>
            </a:r>
            <a:endParaRPr lang="en-US" sz="2600" dirty="0"/>
          </a:p>
        </p:txBody>
      </p:sp>
      <p:sp>
        <p:nvSpPr>
          <p:cNvPr id="4" name="Text 2"/>
          <p:cNvSpPr txBox="1"/>
          <p:nvPr/>
        </p:nvSpPr>
        <p:spPr>
          <a:xfrm>
            <a:off x="457200" y="4800600"/>
            <a:ext cx="4572000" cy="18288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Data Engineering Fundamentals  ·  Week 4 · Day 2</a:t>
            </a:r>
            <a:endParaRPr lang="en-US" sz="900" dirty="0"/>
          </a:p>
        </p:txBody>
      </p:sp>
      <p:graphicFrame>
        <p:nvGraphicFramePr>
          <p:cNvPr id="11" name="Table 0"/>
          <p:cNvGraphicFramePr>
            <a:graphicFrameLocks noGrp="1"/>
          </p:cNvGraphicFramePr>
          <p:nvPr/>
        </p:nvGraphicFramePr>
        <p:xfrm>
          <a:off x="457200" y="1188720"/>
          <a:ext cx="8229600" cy="2043684"/>
        </p:xfrm>
        <a:graphic>
          <a:graphicData uri="http://schemas.openxmlformats.org/drawingml/2006/table">
            <a:tbl>
              <a:tblPr/>
              <a:tblGrid>
                <a:gridCol w="3657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Error message</a:t>
                      </a:r>
                      <a:endParaRPr lang="en-US" sz="105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13212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13212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13212E"/>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zsh: command not found: INSERT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SQL typed in the shell</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Run psql first; wait for olist_dw=#</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syntax error at or near "ONCONFLICT"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Missing space</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Write ON CONFLICT (two words)</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no unique or exclusion constraint matching the ON CONFLICT specification</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Target has no PRIMARY KEY</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Redo Task 1</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ON CONFLICT DO UPDATE command cannot affect row a second time</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Duplicate keys in the source</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Dedupe with ROW_NUMBER() (Extra E3)</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\copy: parse error</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\copy split over lines</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Type it on one line, no ;</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dirty="0">
                          <a:solidFill>
                            <a:srgbClr val="B4372F"/>
                          </a:solidFill>
                          <a:latin typeface="Courier New" pitchFamily="34" charset="0"/>
                          <a:ea typeface="Courier New" pitchFamily="34" charset="-122"/>
                          <a:cs typeface="Courier New" pitchFamily="34" charset="-120"/>
                        </a:rPr>
                        <a:t>password authentication failed for user "&lt;you&gt;"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psql used your computer name</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psql -U postgres -d olist_dw</a:t>
                      </a:r>
                      <a:endParaRPr lang="en-US" sz="1000" dirty="0">
                        <a:latin typeface="Calibri" charset="0"/>
                        <a:ea typeface="Calibri" charset="0"/>
                        <a:cs typeface="Calibri" charset="0"/>
                      </a:endParaRPr>
                    </a:p>
                  </a:txBody>
                  <a:tcPr marL="73152" marR="73152" marT="36576" marB="36576" anchor="ctr">
                    <a:lnL w="6350" cap="flat" cmpd="sng" algn="ctr">
                      <a:solidFill>
                        <a:srgbClr val="D8DEE7"/>
                      </a:solidFill>
                      <a:prstDash val="solid"/>
                      <a:round/>
                      <a:headEnd type="none" w="med" len="med"/>
                      <a:tailEnd type="none" w="med" len="med"/>
                    </a:lnL>
                    <a:lnR w="6350" cap="flat" cmpd="sng" algn="ctr">
                      <a:solidFill>
                        <a:srgbClr val="D8DEE7"/>
                      </a:solidFill>
                      <a:prstDash val="solid"/>
                      <a:round/>
                      <a:headEnd type="none" w="med" len="med"/>
                      <a:tailEnd type="none" w="med" len="med"/>
                    </a:lnR>
                    <a:lnT w="6350" cap="flat" cmpd="sng" algn="ctr">
                      <a:solidFill>
                        <a:srgbClr val="D8DEE7"/>
                      </a:solidFill>
                      <a:prstDash val="solid"/>
                      <a:round/>
                      <a:headEnd type="none" w="med" len="med"/>
                      <a:tailEnd type="none" w="med" len="med"/>
                    </a:lnT>
                    <a:lnB w="6350" cap="flat" cmpd="sng" algn="ctr">
                      <a:solidFill>
                        <a:srgbClr val="D8DEE7"/>
                      </a:solidFill>
                      <a:prstDash val="solid"/>
                      <a:round/>
                      <a:headEnd type="none" w="med" len="med"/>
                      <a:tailEnd type="none" w="med" len="med"/>
                    </a:lnB>
                    <a:solidFill>
                      <a:srgbClr val="F1F5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13212E"/>
        </a:solidFill>
        <a:effectLst/>
      </p:bgPr>
    </p:bg>
    <p:spTree>
      <p:nvGrpSpPr>
        <p:cNvPr id="1" name=""/>
        <p:cNvGrpSpPr/>
        <p:nvPr/>
      </p:nvGrpSpPr>
      <p:grpSpPr>
        <a:xfrm>
          <a:off x="0" y="0"/>
          <a:ext cx="0" cy="0"/>
          <a:chOff x="0" y="0"/>
          <a:chExt cx="0" cy="0"/>
        </a:xfrm>
      </p:grpSpPr>
      <p:sp>
        <p:nvSpPr>
          <p:cNvPr id="2" name="Text 0"/>
          <p:cNvSpPr txBox="1"/>
          <p:nvPr/>
        </p:nvSpPr>
        <p:spPr>
          <a:xfrm>
            <a:off x="457200" y="4800600"/>
            <a:ext cx="5486400" cy="201168"/>
          </a:xfrm>
          <a:prstGeom prst="rect">
            <a:avLst/>
          </a:prstGeom>
          <a:noFill/>
          <a:ln/>
        </p:spPr>
        <p:txBody>
          <a:bodyPr wrap="square" lIns="0" tIns="0" rIns="0" bIns="0" rtlCol="0" anchor="t"/>
          <a:lstStyle/>
          <a:p>
            <a:pPr marL="0" indent="0">
              <a:buNone/>
            </a:pPr>
            <a:r>
              <a:rPr lang="en-US" sz="900" dirty="0">
                <a:solidFill>
                  <a:srgbClr val="8FA3B1"/>
                </a:solidFill>
                <a:latin typeface="Calibri" pitchFamily="34" charset="0"/>
                <a:ea typeface="Calibri" pitchFamily="34" charset="-122"/>
                <a:cs typeface="Calibri" pitchFamily="34" charset="-120"/>
              </a:rPr>
              <a:t>Data Engineering Fundamentals  ·  Week 4 · Day 2</a:t>
            </a:r>
            <a:endParaRPr lang="en-US" sz="900" dirty="0"/>
          </a:p>
        </p:txBody>
      </p:sp>
      <p:sp>
        <p:nvSpPr>
          <p:cNvPr id="3" name="Text 1"/>
          <p:cNvSpPr txBox="1"/>
          <p:nvPr/>
        </p:nvSpPr>
        <p:spPr>
          <a:xfrm>
            <a:off x="8138160" y="4800600"/>
            <a:ext cx="548640" cy="201168"/>
          </a:xfrm>
          <a:prstGeom prst="rect">
            <a:avLst/>
          </a:prstGeom>
          <a:noFill/>
          <a:ln/>
        </p:spPr>
        <p:txBody>
          <a:bodyPr wrap="square" lIns="0" tIns="0" rIns="0" bIns="0" rtlCol="0" anchor="t"/>
          <a:lstStyle/>
          <a:p>
            <a:pPr marL="0" indent="0" algn="r">
              <a:buNone/>
            </a:pPr>
            <a:r>
              <a:rPr lang="en-US" sz="900" dirty="0">
                <a:solidFill>
                  <a:srgbClr val="8FA3B1"/>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200" dirty="0">
                <a:solidFill>
                  <a:srgbClr val="F4A259"/>
                </a:solidFill>
                <a:latin typeface="Calibri" pitchFamily="34" charset="0"/>
                <a:ea typeface="Calibri" pitchFamily="34" charset="-122"/>
                <a:cs typeface="Calibri" pitchFamily="34" charset="-120"/>
              </a:rPr>
              <a:t>MODULE 2 COMPLETE</a:t>
            </a:r>
            <a:endParaRPr lang="en-US" sz="1100" dirty="0"/>
          </a:p>
        </p:txBody>
      </p:sp>
      <p:sp>
        <p:nvSpPr>
          <p:cNvPr id="5" name="Text 3"/>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Wrap-up &amp; homework</a:t>
            </a:r>
            <a:endParaRPr lang="en-US" sz="2800" dirty="0"/>
          </a:p>
        </p:txBody>
      </p:sp>
      <p:sp>
        <p:nvSpPr>
          <p:cNvPr id="6" name="Shape 4"/>
          <p:cNvSpPr/>
          <p:nvPr/>
        </p:nvSpPr>
        <p:spPr>
          <a:xfrm>
            <a:off x="457200" y="1325880"/>
            <a:ext cx="2621280" cy="2377440"/>
          </a:xfrm>
          <a:prstGeom prst="roundRect">
            <a:avLst>
              <a:gd name="adj" fmla="val 3077"/>
            </a:avLst>
          </a:prstGeom>
          <a:solidFill>
            <a:srgbClr val="1D3142"/>
          </a:solidFill>
          <a:ln w="12700">
            <a:solidFill>
              <a:srgbClr val="1D3142"/>
            </a:solidFill>
            <a:prstDash val="solid"/>
          </a:ln>
        </p:spPr>
        <p:txBody>
          <a:bodyPr/>
          <a:lstStyle/>
          <a:p>
            <a:endParaRPr lang="en-TH"/>
          </a:p>
        </p:txBody>
      </p:sp>
      <p:sp>
        <p:nvSpPr>
          <p:cNvPr id="7" name="Shape 5"/>
          <p:cNvSpPr/>
          <p:nvPr/>
        </p:nvSpPr>
        <p:spPr>
          <a:xfrm>
            <a:off x="685800" y="1554480"/>
            <a:ext cx="594360" cy="594360"/>
          </a:xfrm>
          <a:prstGeom prst="ellipse">
            <a:avLst/>
          </a:prstGeom>
          <a:solidFill>
            <a:srgbClr val="F4A259"/>
          </a:solidFill>
          <a:ln w="12700">
            <a:solidFill>
              <a:srgbClr val="F4A259"/>
            </a:solidFill>
            <a:prstDash val="solid"/>
          </a:ln>
        </p:spPr>
        <p:txBody>
          <a:bodyPr/>
          <a:lstStyle/>
          <a:p>
            <a:endParaRPr lang="en-TH"/>
          </a:p>
        </p:txBody>
      </p:sp>
      <p:pic>
        <p:nvPicPr>
          <p:cNvPr id="8" name="Image 0" descr="preencoded.png"/>
          <p:cNvPicPr>
            <a:picLocks noChangeAspect="1"/>
          </p:cNvPicPr>
          <p:nvPr/>
        </p:nvPicPr>
        <p:blipFill>
          <a:blip r:embed="rId3"/>
          <a:stretch>
            <a:fillRect/>
          </a:stretch>
        </p:blipFill>
        <p:spPr>
          <a:xfrm>
            <a:off x="834390" y="1703070"/>
            <a:ext cx="297180" cy="297180"/>
          </a:xfrm>
          <a:prstGeom prst="rect">
            <a:avLst/>
          </a:prstGeom>
        </p:spPr>
      </p:pic>
      <p:sp>
        <p:nvSpPr>
          <p:cNvPr id="9" name="Text 6"/>
          <p:cNvSpPr txBox="1"/>
          <p:nvPr/>
        </p:nvSpPr>
        <p:spPr>
          <a:xfrm>
            <a:off x="685800" y="2331720"/>
            <a:ext cx="216408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Submit</a:t>
            </a:r>
            <a:endParaRPr lang="en-US" sz="1600" dirty="0"/>
          </a:p>
        </p:txBody>
      </p:sp>
      <p:sp>
        <p:nvSpPr>
          <p:cNvPr id="10" name="Text 7"/>
          <p:cNvSpPr txBox="1"/>
          <p:nvPr/>
        </p:nvSpPr>
        <p:spPr>
          <a:xfrm>
            <a:off x="685800" y="2697480"/>
            <a:ext cx="2164080" cy="914400"/>
          </a:xfrm>
          <a:prstGeom prst="rect">
            <a:avLst/>
          </a:prstGeom>
          <a:noFill/>
          <a:ln/>
        </p:spPr>
        <p:txBody>
          <a:bodyPr wrap="square" lIns="0" tIns="0" rIns="0" bIns="0" rtlCol="0" anchor="t"/>
          <a:lstStyle/>
          <a:p>
            <a:pPr marL="0" indent="0">
              <a:buNone/>
            </a:pPr>
            <a:r>
              <a:rPr lang="en-US" sz="1200" dirty="0">
                <a:solidFill>
                  <a:srgbClr val="B8C7D1"/>
                </a:solidFill>
                <a:latin typeface="Calibri" pitchFamily="34" charset="0"/>
                <a:ea typeface="Calibri" pitchFamily="34" charset="-122"/>
                <a:cs typeface="Calibri" pitchFamily="34" charset="-120"/>
              </a:rPr>
              <a:t>Share your GitHub repo link in Google Classroom all .sql files.</a:t>
            </a:r>
            <a:endParaRPr lang="en-US" sz="1200" dirty="0"/>
          </a:p>
        </p:txBody>
      </p:sp>
      <p:sp>
        <p:nvSpPr>
          <p:cNvPr id="11" name="Shape 8"/>
          <p:cNvSpPr/>
          <p:nvPr/>
        </p:nvSpPr>
        <p:spPr>
          <a:xfrm>
            <a:off x="3261360" y="1325880"/>
            <a:ext cx="2621280" cy="2377440"/>
          </a:xfrm>
          <a:prstGeom prst="roundRect">
            <a:avLst>
              <a:gd name="adj" fmla="val 3077"/>
            </a:avLst>
          </a:prstGeom>
          <a:solidFill>
            <a:srgbClr val="1D3142"/>
          </a:solidFill>
          <a:ln w="12700">
            <a:solidFill>
              <a:srgbClr val="1D3142"/>
            </a:solidFill>
            <a:prstDash val="solid"/>
          </a:ln>
        </p:spPr>
        <p:txBody>
          <a:bodyPr/>
          <a:lstStyle/>
          <a:p>
            <a:endParaRPr lang="en-TH"/>
          </a:p>
        </p:txBody>
      </p:sp>
      <p:sp>
        <p:nvSpPr>
          <p:cNvPr id="12" name="Shape 9"/>
          <p:cNvSpPr/>
          <p:nvPr/>
        </p:nvSpPr>
        <p:spPr>
          <a:xfrm>
            <a:off x="3489960" y="1554480"/>
            <a:ext cx="594360" cy="594360"/>
          </a:xfrm>
          <a:prstGeom prst="ellipse">
            <a:avLst/>
          </a:prstGeom>
          <a:solidFill>
            <a:srgbClr val="F4A259"/>
          </a:solidFill>
          <a:ln w="12700">
            <a:solidFill>
              <a:srgbClr val="F4A259"/>
            </a:solidFill>
            <a:prstDash val="solid"/>
          </a:ln>
        </p:spPr>
        <p:txBody>
          <a:bodyPr/>
          <a:lstStyle/>
          <a:p>
            <a:endParaRPr lang="en-TH"/>
          </a:p>
        </p:txBody>
      </p:sp>
      <p:pic>
        <p:nvPicPr>
          <p:cNvPr id="13" name="Image 1" descr="preencoded.png"/>
          <p:cNvPicPr>
            <a:picLocks noChangeAspect="1"/>
          </p:cNvPicPr>
          <p:nvPr/>
        </p:nvPicPr>
        <p:blipFill>
          <a:blip r:embed="rId4"/>
          <a:stretch>
            <a:fillRect/>
          </a:stretch>
        </p:blipFill>
        <p:spPr>
          <a:xfrm>
            <a:off x="3638550" y="1703070"/>
            <a:ext cx="297180" cy="297180"/>
          </a:xfrm>
          <a:prstGeom prst="rect">
            <a:avLst/>
          </a:prstGeom>
        </p:spPr>
      </p:pic>
      <p:sp>
        <p:nvSpPr>
          <p:cNvPr id="14" name="Text 10"/>
          <p:cNvSpPr txBox="1"/>
          <p:nvPr/>
        </p:nvSpPr>
        <p:spPr>
          <a:xfrm>
            <a:off x="3489960" y="2331720"/>
            <a:ext cx="216408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Prepare for Python</a:t>
            </a:r>
            <a:endParaRPr lang="en-US" sz="1600" dirty="0"/>
          </a:p>
        </p:txBody>
      </p:sp>
      <p:sp>
        <p:nvSpPr>
          <p:cNvPr id="15" name="Text 11"/>
          <p:cNvSpPr txBox="1"/>
          <p:nvPr/>
        </p:nvSpPr>
        <p:spPr>
          <a:xfrm>
            <a:off x="3489960" y="2697480"/>
            <a:ext cx="2164080" cy="914400"/>
          </a:xfrm>
          <a:prstGeom prst="rect">
            <a:avLst/>
          </a:prstGeom>
          <a:noFill/>
          <a:ln/>
        </p:spPr>
        <p:txBody>
          <a:bodyPr wrap="square" lIns="0" tIns="0" rIns="0" bIns="0" rtlCol="0" anchor="t"/>
          <a:lstStyle/>
          <a:p>
            <a:pPr marL="0" indent="0">
              <a:buNone/>
            </a:pPr>
            <a:r>
              <a:rPr lang="en-US" sz="1200" dirty="0">
                <a:solidFill>
                  <a:srgbClr val="B8C7D1"/>
                </a:solidFill>
                <a:latin typeface="Calibri" pitchFamily="34" charset="0"/>
                <a:ea typeface="Calibri" pitchFamily="34" charset="-122"/>
                <a:cs typeface="Calibri" pitchFamily="34" charset="-120"/>
              </a:rPr>
              <a:t>Check python --version, and pip install pandas psycopg[binary].</a:t>
            </a:r>
            <a:endParaRPr lang="en-US" sz="1200" dirty="0"/>
          </a:p>
        </p:txBody>
      </p:sp>
      <p:sp>
        <p:nvSpPr>
          <p:cNvPr id="16" name="Shape 12"/>
          <p:cNvSpPr/>
          <p:nvPr/>
        </p:nvSpPr>
        <p:spPr>
          <a:xfrm>
            <a:off x="6065520" y="1325880"/>
            <a:ext cx="2621280" cy="2377440"/>
          </a:xfrm>
          <a:prstGeom prst="roundRect">
            <a:avLst>
              <a:gd name="adj" fmla="val 3077"/>
            </a:avLst>
          </a:prstGeom>
          <a:solidFill>
            <a:srgbClr val="1D3142"/>
          </a:solidFill>
          <a:ln w="12700">
            <a:solidFill>
              <a:srgbClr val="1D3142"/>
            </a:solidFill>
            <a:prstDash val="solid"/>
          </a:ln>
        </p:spPr>
        <p:txBody>
          <a:bodyPr/>
          <a:lstStyle/>
          <a:p>
            <a:endParaRPr lang="en-TH"/>
          </a:p>
        </p:txBody>
      </p:sp>
      <p:sp>
        <p:nvSpPr>
          <p:cNvPr id="17" name="Shape 13"/>
          <p:cNvSpPr/>
          <p:nvPr/>
        </p:nvSpPr>
        <p:spPr>
          <a:xfrm>
            <a:off x="6294120" y="1554480"/>
            <a:ext cx="594360" cy="594360"/>
          </a:xfrm>
          <a:prstGeom prst="ellipse">
            <a:avLst/>
          </a:prstGeom>
          <a:solidFill>
            <a:srgbClr val="F4A259"/>
          </a:solidFill>
          <a:ln w="12700">
            <a:solidFill>
              <a:srgbClr val="F4A259"/>
            </a:solidFill>
            <a:prstDash val="solid"/>
          </a:ln>
        </p:spPr>
        <p:txBody>
          <a:bodyPr/>
          <a:lstStyle/>
          <a:p>
            <a:endParaRPr lang="en-TH"/>
          </a:p>
        </p:txBody>
      </p:sp>
      <p:pic>
        <p:nvPicPr>
          <p:cNvPr id="18" name="Image 2" descr="preencoded.png"/>
          <p:cNvPicPr>
            <a:picLocks noChangeAspect="1"/>
          </p:cNvPicPr>
          <p:nvPr/>
        </p:nvPicPr>
        <p:blipFill>
          <a:blip r:embed="rId5"/>
          <a:stretch>
            <a:fillRect/>
          </a:stretch>
        </p:blipFill>
        <p:spPr>
          <a:xfrm>
            <a:off x="6442710" y="1703070"/>
            <a:ext cx="297180" cy="297180"/>
          </a:xfrm>
          <a:prstGeom prst="rect">
            <a:avLst/>
          </a:prstGeom>
        </p:spPr>
      </p:pic>
      <p:sp>
        <p:nvSpPr>
          <p:cNvPr id="19" name="Text 14"/>
          <p:cNvSpPr txBox="1"/>
          <p:nvPr/>
        </p:nvSpPr>
        <p:spPr>
          <a:xfrm>
            <a:off x="6294120" y="2331720"/>
            <a:ext cx="216408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Practise windows</a:t>
            </a:r>
            <a:endParaRPr lang="en-US" sz="1600" dirty="0"/>
          </a:p>
        </p:txBody>
      </p:sp>
      <p:sp>
        <p:nvSpPr>
          <p:cNvPr id="20" name="Text 15"/>
          <p:cNvSpPr txBox="1"/>
          <p:nvPr/>
        </p:nvSpPr>
        <p:spPr>
          <a:xfrm>
            <a:off x="6294120" y="2697480"/>
            <a:ext cx="2164080" cy="914400"/>
          </a:xfrm>
          <a:prstGeom prst="rect">
            <a:avLst/>
          </a:prstGeom>
          <a:noFill/>
          <a:ln/>
        </p:spPr>
        <p:txBody>
          <a:bodyPr wrap="square" lIns="0" tIns="0" rIns="0" bIns="0" rtlCol="0" anchor="t"/>
          <a:lstStyle/>
          <a:p>
            <a:pPr marL="0" indent="0">
              <a:buNone/>
            </a:pPr>
            <a:r>
              <a:rPr lang="en-US" sz="1200" dirty="0">
                <a:solidFill>
                  <a:srgbClr val="B8C7D1"/>
                </a:solidFill>
                <a:latin typeface="Calibri" pitchFamily="34" charset="0"/>
                <a:ea typeface="Calibri" pitchFamily="34" charset="-122"/>
                <a:cs typeface="Calibri" pitchFamily="34" charset="-120"/>
              </a:rPr>
              <a:t>Re-write queries 07–08 from memory — they are interview favourites.</a:t>
            </a:r>
            <a:endParaRPr lang="en-US" sz="1200" dirty="0"/>
          </a:p>
        </p:txBody>
      </p:sp>
      <p:sp>
        <p:nvSpPr>
          <p:cNvPr id="21" name="Text 16"/>
          <p:cNvSpPr txBox="1"/>
          <p:nvPr/>
        </p:nvSpPr>
        <p:spPr>
          <a:xfrm>
            <a:off x="457200" y="4023360"/>
            <a:ext cx="8229600" cy="457200"/>
          </a:xfrm>
          <a:prstGeom prst="rect">
            <a:avLst/>
          </a:prstGeom>
          <a:noFill/>
          <a:ln/>
        </p:spPr>
        <p:txBody>
          <a:bodyPr wrap="square" lIns="0" tIns="0" rIns="0" bIns="0" rtlCol="0" anchor="t"/>
          <a:lstStyle/>
          <a:p>
            <a:pPr marL="0" indent="0">
              <a:buNone/>
            </a:pPr>
            <a:r>
              <a:rPr lang="en-US" sz="1400" i="1" dirty="0">
                <a:solidFill>
                  <a:srgbClr val="F4A259"/>
                </a:solidFill>
                <a:latin typeface="Calibri" pitchFamily="34" charset="0"/>
                <a:ea typeface="Calibri" pitchFamily="34" charset="-122"/>
                <a:cs typeface="Calibri" pitchFamily="34" charset="-120"/>
              </a:rPr>
              <a:t>Week 5 · Module 3: Python for data engineering — reading files and loading Postgres from code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TotalTime>
  <Words>7250</Words>
  <Application>Microsoft Macintosh PowerPoint</Application>
  <PresentationFormat>On-screen Show (16:9)</PresentationFormat>
  <Paragraphs>696</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Day 2 — UPSERT, COPY &amp; Deliverable</dc:title>
  <dc:subject>PptxGenJS Presentation</dc:subject>
  <dc:creator>Data Engineering Fundamentals</dc:creator>
  <cp:lastModifiedBy>Mee Mee Maung</cp:lastModifiedBy>
  <cp:revision>12</cp:revision>
  <dcterms:created xsi:type="dcterms:W3CDTF">2026-10-05T08:18:33Z</dcterms:created>
  <dcterms:modified xsi:type="dcterms:W3CDTF">2026-10-31T12:37:05Z</dcterms:modified>
</cp:coreProperties>
</file>